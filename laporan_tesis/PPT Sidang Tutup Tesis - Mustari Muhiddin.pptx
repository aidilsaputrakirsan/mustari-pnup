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/>
      <p:regular r:id="rId15"/>
    </p:embeddedFont>
    <p:embeddedFont>
      <p:font typeface="Plus Jakarta Sans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65811-28B5-4B7B-997C-5C8553040A5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6E40D-F046-4802-B8B3-9C5391531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47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6E40D-F046-4802-B8B3-9C5391531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12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6E40D-F046-4802-B8B3-9C5391531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32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715000"/>
            <a:ext cx="108204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4837" y="1347172"/>
            <a:ext cx="3038475" cy="285750"/>
          </a:xfrm>
          <a:prstGeom prst="roundRect">
            <a:avLst>
              <a:gd name="adj" fmla="val 50000"/>
            </a:avLst>
          </a:prstGeom>
          <a:solidFill>
            <a:srgbClr val="10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49826" y="4348317"/>
            <a:ext cx="10820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3400"/>
            <a:ext cx="3143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" y="1423372"/>
            <a:ext cx="104775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4837" y="1785322"/>
            <a:ext cx="10901362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sz="2850" b="1" i="0" u="none">
                <a:solidFill>
                  <a:srgbClr val="FFFFFF"/>
                </a:solidFill>
                <a:latin typeface="Plus Jakarta Sans"/>
              </a:rPr>
              <a:t>Optimisasi Performa Web SPA Menggunakan Hybrid Lazy Loading dan Code Splitting pada Vue.js dengan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837" y="2842597"/>
            <a:ext cx="8667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BD5E1"/>
                </a:solidFill>
                <a:latin typeface="Plus Jakarta Sans"/>
              </a:rPr>
              <a:t>Jawaban komprehensif atas catatan revisi Prof. Dr. Eng. Ir. Muhammad Niswar, S.T., M.InfoTech &amp; Dr. Eng. Ady Wahyudi Paundu, ST., MT.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475" y="557212"/>
            <a:ext cx="5810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Plus Jakarta Sans"/>
              </a:rPr>
              <a:t>SIDANG UJIAN TUTUP MAGISTER TEKNIK INFORMATIKA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162" y="1404322"/>
            <a:ext cx="3238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38BDF8"/>
                </a:solidFill>
                <a:latin typeface="Plus Jakarta Sans"/>
              </a:rPr>
              <a:t>Presentasi</a:t>
            </a:r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 </a:t>
            </a:r>
            <a:r>
              <a:rPr sz="1050" b="1" i="0" u="none" dirty="0" err="1">
                <a:solidFill>
                  <a:srgbClr val="38BDF8"/>
                </a:solidFill>
                <a:latin typeface="Plus Jakarta Sans"/>
              </a:rPr>
              <a:t>Jawaban</a:t>
            </a:r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 </a:t>
            </a:r>
            <a:r>
              <a:rPr sz="1050" b="1" i="0" u="none" dirty="0" err="1">
                <a:solidFill>
                  <a:srgbClr val="38BDF8"/>
                </a:solidFill>
                <a:latin typeface="Plus Jakarta Sans"/>
              </a:rPr>
              <a:t>Revisi</a:t>
            </a:r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 Dewan </a:t>
            </a:r>
            <a:r>
              <a:rPr sz="1050" b="1" i="0" u="none" dirty="0" err="1">
                <a:solidFill>
                  <a:srgbClr val="38BDF8"/>
                </a:solidFill>
                <a:latin typeface="Plus Jakarta Sans"/>
              </a:rPr>
              <a:t>Penguji</a:t>
            </a:r>
            <a:endParaRPr sz="1050"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4651433"/>
            <a:ext cx="172803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8FAFC"/>
                </a:solidFill>
                <a:latin typeface="Plus Jakarta Sans"/>
              </a:rPr>
              <a:t>Mustari Muhiddin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15060"/>
            <a:ext cx="171040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94A3B8"/>
                </a:solidFill>
                <a:latin typeface="Plus Jakarta Sans"/>
              </a:rPr>
              <a:t>NIM. D082241013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0760" y="4475980"/>
            <a:ext cx="192097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Pembimbing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Utama: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9122" y="4763585"/>
            <a:ext cx="322909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b="1" i="0" u="none" dirty="0">
                <a:solidFill>
                  <a:srgbClr val="38BDF8"/>
                </a:solidFill>
                <a:latin typeface="Plus Jakarta Sans"/>
              </a:rPr>
              <a:t>Dr. Eng. Ir. Zulkifli Tahir, S.T., M.Sc.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73EBCC-40B5-E7B8-05B6-B78ABB5D9A06}"/>
              </a:ext>
            </a:extLst>
          </p:cNvPr>
          <p:cNvSpPr txBox="1"/>
          <p:nvPr/>
        </p:nvSpPr>
        <p:spPr>
          <a:xfrm>
            <a:off x="701623" y="4390963"/>
            <a:ext cx="12359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en-US" b="0" i="0" u="none" dirty="0" err="1">
                <a:solidFill>
                  <a:srgbClr val="94A3B8"/>
                </a:solidFill>
                <a:latin typeface="Plus Jakarta Sans"/>
              </a:rPr>
              <a:t>Disusun</a:t>
            </a:r>
            <a:r>
              <a:rPr lang="en-US" b="0" i="0" u="none" dirty="0">
                <a:solidFill>
                  <a:srgbClr val="94A3B8"/>
                </a:solidFill>
                <a:latin typeface="Plus Jakarta Sans"/>
              </a:rPr>
              <a:t> Oleh</a:t>
            </a:r>
            <a:endParaRPr b="0" i="0" u="none" dirty="0">
              <a:solidFill>
                <a:srgbClr val="94A3B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95300" y="1519237"/>
            <a:ext cx="5372100" cy="2733675"/>
          </a:xfrm>
          <a:prstGeom prst="roundRect">
            <a:avLst>
              <a:gd name="adj" fmla="val 4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0" y="1609725"/>
            <a:ext cx="5372100" cy="255270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1525" y="2166937"/>
            <a:ext cx="481965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1525" y="3138487"/>
            <a:ext cx="481965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72225" y="2257425"/>
            <a:ext cx="481965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72225" y="3048000"/>
            <a:ext cx="4819650" cy="8382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1525" y="2166937"/>
            <a:ext cx="38100" cy="838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1525" y="3138487"/>
            <a:ext cx="38100" cy="838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72225" y="2257425"/>
            <a:ext cx="38100" cy="6572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2225" y="3048000"/>
            <a:ext cx="38100" cy="838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809750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1900237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3799" y="565963"/>
            <a:ext cx="330981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284C7"/>
                </a:solidFill>
                <a:latin typeface="Plus Jakarta Sans"/>
              </a:rPr>
              <a:t>REKAPITULASI MASUKAN PENGUJI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842962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Matriks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Tindak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Lanjut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Revisi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Ujian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Hasil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1795462"/>
            <a:ext cx="365972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Prof. Dr. Eng. Ir. M. </a:t>
            </a:r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Niswar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, </a:t>
            </a:r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M.InfoTech</a:t>
            </a:r>
            <a:endParaRPr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38925" y="1885950"/>
            <a:ext cx="367453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Dr. Eng. Ady Wahyudi </a:t>
            </a:r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Paundu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, ST., MT.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2300287"/>
            <a:ext cx="399109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475569"/>
                </a:solidFill>
                <a:latin typeface="Plus Jakarta Sans"/>
              </a:rPr>
              <a:t>Catatan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 1: Materi Lazy Loading &amp; Splitting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2509837"/>
            <a:ext cx="4867274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Jelaskan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mekanisme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kerja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lazy loading dan code splitting pada slide.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3271837"/>
            <a:ext cx="300159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475569"/>
                </a:solidFill>
                <a:latin typeface="Plus Jakarta Sans"/>
              </a:rPr>
              <a:t>Catatan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 2: </a:t>
            </a:r>
            <a:r>
              <a:rPr b="1" i="0" u="none" dirty="0" err="1">
                <a:solidFill>
                  <a:srgbClr val="475569"/>
                </a:solidFill>
                <a:latin typeface="Plus Jakarta Sans"/>
              </a:rPr>
              <a:t>Justifikasi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 Parameter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3481387"/>
            <a:ext cx="457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Jelaskan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kenapa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memakai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parameter FCP, LCP, TBT, dan bundle size.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2202585"/>
            <a:ext cx="26560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475569"/>
                </a:solidFill>
                <a:latin typeface="Plus Jakarta Sans"/>
              </a:rPr>
              <a:t>Catatan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 1: </a:t>
            </a:r>
            <a:r>
              <a:rPr b="1" i="0" u="none" dirty="0" err="1">
                <a:solidFill>
                  <a:srgbClr val="475569"/>
                </a:solidFill>
                <a:latin typeface="Plus Jakarta Sans"/>
              </a:rPr>
              <a:t>Kontribusi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475569"/>
                </a:solidFill>
                <a:latin typeface="Plus Jakarta Sans"/>
              </a:rPr>
              <a:t>Ilmiah</a:t>
            </a:r>
            <a:endParaRPr b="1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96050" y="2482338"/>
            <a:ext cx="4670638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Jelaskan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kebaruan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(novelty) dan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kontribusi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ilmiah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endParaRPr lang="en-US" b="0" i="0" u="none" dirty="0">
              <a:solidFill>
                <a:srgbClr val="0F172A"/>
              </a:solidFill>
              <a:latin typeface="Plus Jakarta Sans"/>
            </a:endParaRPr>
          </a:p>
          <a:p>
            <a:pPr algn="l"/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penelitian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tesis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725" y="3181350"/>
            <a:ext cx="316676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475569"/>
                </a:solidFill>
                <a:latin typeface="Plus Jakarta Sans"/>
              </a:rPr>
              <a:t>Catatan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 2: </a:t>
            </a:r>
            <a:r>
              <a:rPr b="1" i="0" u="none" dirty="0" err="1">
                <a:solidFill>
                  <a:srgbClr val="475569"/>
                </a:solidFill>
                <a:latin typeface="Plus Jakarta Sans"/>
              </a:rPr>
              <a:t>Contoh</a:t>
            </a:r>
            <a:r>
              <a:rPr b="1" i="0" u="none" dirty="0">
                <a:solidFill>
                  <a:srgbClr val="475569"/>
                </a:solidFill>
                <a:latin typeface="Plus Jakarta Sans"/>
              </a:rPr>
              <a:t> Kode &amp; </a:t>
            </a:r>
            <a:r>
              <a:rPr b="1" i="0" u="none" dirty="0" err="1">
                <a:solidFill>
                  <a:srgbClr val="475569"/>
                </a:solidFill>
                <a:latin typeface="Plus Jakarta Sans"/>
              </a:rPr>
              <a:t>Metrik</a:t>
            </a:r>
            <a:endParaRPr b="1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43675" y="3459738"/>
            <a:ext cx="457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Tambahkan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contoh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implementasi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nyata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serta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alasan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pemilihan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metrik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F172A"/>
                </a:solidFill>
                <a:latin typeface="Plus Jakarta Sans"/>
              </a:rPr>
              <a:t>evaluasi</a:t>
            </a:r>
            <a:r>
              <a:rPr b="0" i="0" u="none" dirty="0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8625" y="1543050"/>
            <a:ext cx="3505200" cy="2343150"/>
          </a:xfrm>
          <a:prstGeom prst="roundRect">
            <a:avLst>
              <a:gd name="adj" fmla="val 487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62425" y="1543050"/>
            <a:ext cx="3505200" cy="2343150"/>
          </a:xfrm>
          <a:prstGeom prst="roundRect">
            <a:avLst>
              <a:gd name="adj" fmla="val 4878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96225" y="1543050"/>
            <a:ext cx="3505200" cy="2343150"/>
          </a:xfrm>
          <a:prstGeom prst="roundRect">
            <a:avLst>
              <a:gd name="adj" fmla="val 4878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1819275"/>
            <a:ext cx="40005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0" y="1819275"/>
            <a:ext cx="40005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50" y="1819275"/>
            <a:ext cx="40005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933575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475" y="1933575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0" y="1933575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JAWABAN REVISI DR. ENG. ADY WAHYUDI PAUNDU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Kontribusi Ilmiah &amp; Kebaruan Penelitian (Novelty)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139" y="1918519"/>
            <a:ext cx="243489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14532D"/>
                </a:solidFill>
                <a:latin typeface="Plus Jakarta Sans"/>
              </a:rPr>
              <a:t>Diferensiasi</a:t>
            </a:r>
            <a:r>
              <a:rPr b="1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14532D"/>
                </a:solidFill>
                <a:latin typeface="Plus Jakarta Sans"/>
              </a:rPr>
              <a:t>Kompleksitas</a:t>
            </a:r>
            <a:endParaRPr b="1" i="0" u="none" dirty="0">
              <a:solidFill>
                <a:srgbClr val="14532D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225" y="2375114"/>
            <a:ext cx="3048000" cy="1388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Membuktikan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efektivitas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optimasi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dipengaruhi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arsitektur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sistem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: sangat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efektif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 di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aplikasi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kompleks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,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namun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tidak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signifikan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 pada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aplikasi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166534"/>
                </a:solidFill>
                <a:latin typeface="Plus Jakarta Sans"/>
              </a:rPr>
              <a:t>sederhana</a:t>
            </a:r>
            <a:r>
              <a:rPr b="0" i="0" u="none" dirty="0">
                <a:solidFill>
                  <a:srgbClr val="166534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3475" y="1918518"/>
            <a:ext cx="25066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75985"/>
                </a:solidFill>
                <a:latin typeface="Plus Jakarta Sans"/>
              </a:rPr>
              <a:t>Strategi </a:t>
            </a:r>
            <a:r>
              <a:rPr b="1" i="0" u="none" dirty="0" err="1">
                <a:solidFill>
                  <a:srgbClr val="075985"/>
                </a:solidFill>
                <a:latin typeface="Plus Jakarta Sans"/>
              </a:rPr>
              <a:t>Hibrida</a:t>
            </a:r>
            <a:r>
              <a:rPr b="1" i="0" u="none" dirty="0">
                <a:solidFill>
                  <a:srgbClr val="075985"/>
                </a:solidFill>
                <a:latin typeface="Plus Jakarta Sans"/>
              </a:rPr>
              <a:t> + Prefetch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2123" y="2351987"/>
            <a:ext cx="3048000" cy="1157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 err="1">
                <a:solidFill>
                  <a:srgbClr val="0369A1"/>
                </a:solidFill>
                <a:latin typeface="Plus Jakarta Sans"/>
              </a:rPr>
              <a:t>Menggabungkan</a:t>
            </a:r>
            <a:r>
              <a:rPr b="0" i="0" u="none" dirty="0">
                <a:solidFill>
                  <a:srgbClr val="0369A1"/>
                </a:solidFill>
                <a:latin typeface="Plus Jakarta Sans"/>
              </a:rPr>
              <a:t> Rollup </a:t>
            </a:r>
            <a:r>
              <a:rPr b="0" i="0" u="none" dirty="0" err="1">
                <a:solidFill>
                  <a:srgbClr val="0369A1"/>
                </a:solidFill>
                <a:latin typeface="Plus Jakarta Sans"/>
              </a:rPr>
              <a:t>manualChunks</a:t>
            </a:r>
            <a:r>
              <a:rPr b="0" i="0" u="none" dirty="0">
                <a:solidFill>
                  <a:srgbClr val="0369A1"/>
                </a:solidFill>
                <a:latin typeface="Plus Jakarta Sans"/>
              </a:rPr>
              <a:t>, dynamic import, dan Selective Prefetching via </a:t>
            </a:r>
            <a:r>
              <a:rPr b="0" i="0" u="none" dirty="0" err="1">
                <a:solidFill>
                  <a:srgbClr val="0369A1"/>
                </a:solidFill>
                <a:latin typeface="Plus Jakarta Sans"/>
              </a:rPr>
              <a:t>requestIdleCallback</a:t>
            </a:r>
            <a:r>
              <a:rPr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369A1"/>
                </a:solidFill>
                <a:latin typeface="Plus Jakarta Sans"/>
              </a:rPr>
              <a:t>untuk</a:t>
            </a:r>
            <a:r>
              <a:rPr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369A1"/>
                </a:solidFill>
                <a:latin typeface="Plus Jakarta Sans"/>
              </a:rPr>
              <a:t>mengeliminasi</a:t>
            </a:r>
            <a:r>
              <a:rPr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369A1"/>
                </a:solidFill>
                <a:latin typeface="Plus Jakarta Sans"/>
              </a:rPr>
              <a:t>jeda</a:t>
            </a:r>
            <a:r>
              <a:rPr b="0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0369A1"/>
                </a:solidFill>
                <a:latin typeface="Plus Jakarta Sans"/>
              </a:rPr>
              <a:t>navigasi</a:t>
            </a:r>
            <a:r>
              <a:rPr b="0" i="0" u="none" dirty="0">
                <a:solidFill>
                  <a:srgbClr val="0369A1"/>
                </a:solidFill>
                <a:latin typeface="Plus Jakarta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8374" y="1918517"/>
            <a:ext cx="257442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581C87"/>
                </a:solidFill>
                <a:latin typeface="Plus Jakarta Sans"/>
              </a:rPr>
              <a:t>Triangulasi</a:t>
            </a:r>
            <a:r>
              <a:rPr b="1" i="0" u="none" dirty="0">
                <a:solidFill>
                  <a:srgbClr val="581C87"/>
                </a:solidFill>
                <a:latin typeface="Plus Jakarta Sans"/>
              </a:rPr>
              <a:t> Dual-</a:t>
            </a:r>
            <a:r>
              <a:rPr b="1" i="0" u="none" dirty="0" err="1">
                <a:solidFill>
                  <a:srgbClr val="581C87"/>
                </a:solidFill>
                <a:latin typeface="Plus Jakarta Sans"/>
              </a:rPr>
              <a:t>Instrumen</a:t>
            </a:r>
            <a:endParaRPr b="1" i="0" u="none" dirty="0">
              <a:solidFill>
                <a:srgbClr val="581C87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86750" y="2375114"/>
            <a:ext cx="3048000" cy="1157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i="0" u="none" dirty="0" err="1">
                <a:solidFill>
                  <a:srgbClr val="6B21A8"/>
                </a:solidFill>
                <a:latin typeface="Plus Jakarta Sans"/>
              </a:rPr>
              <a:t>Menggabungkan</a:t>
            </a:r>
            <a:r>
              <a:rPr b="0" i="0" u="none" dirty="0">
                <a:solidFill>
                  <a:srgbClr val="6B21A8"/>
                </a:solidFill>
                <a:latin typeface="Plus Jakarta Sans"/>
              </a:rPr>
              <a:t> W3C </a:t>
            </a:r>
            <a:r>
              <a:rPr b="0" i="0" u="none" dirty="0" err="1">
                <a:solidFill>
                  <a:srgbClr val="6B21A8"/>
                </a:solidFill>
                <a:latin typeface="Plus Jakarta Sans"/>
              </a:rPr>
              <a:t>PerformanceObserver</a:t>
            </a:r>
            <a:r>
              <a:rPr b="0" i="0" u="none" dirty="0">
                <a:solidFill>
                  <a:srgbClr val="6B21A8"/>
                </a:solidFill>
                <a:latin typeface="Plus Jakarta Sans"/>
              </a:rPr>
              <a:t> real-browser </a:t>
            </a:r>
            <a:r>
              <a:rPr b="0" i="0" u="none" dirty="0" err="1">
                <a:solidFill>
                  <a:srgbClr val="6B21A8"/>
                </a:solidFill>
                <a:latin typeface="Plus Jakarta Sans"/>
              </a:rPr>
              <a:t>dengan</a:t>
            </a:r>
            <a:r>
              <a:rPr b="0" i="0" u="none" dirty="0">
                <a:solidFill>
                  <a:srgbClr val="6B21A8"/>
                </a:solidFill>
                <a:latin typeface="Plus Jakarta Sans"/>
              </a:rPr>
              <a:t> Google Lighthouse </a:t>
            </a:r>
            <a:r>
              <a:rPr b="0" i="0" u="none" dirty="0" err="1">
                <a:solidFill>
                  <a:srgbClr val="6B21A8"/>
                </a:solidFill>
                <a:latin typeface="Plus Jakarta Sans"/>
              </a:rPr>
              <a:t>standar</a:t>
            </a:r>
            <a:r>
              <a:rPr b="0" i="0" u="none" dirty="0">
                <a:solidFill>
                  <a:srgbClr val="6B21A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6B21A8"/>
                </a:solidFill>
                <a:latin typeface="Plus Jakarta Sans"/>
              </a:rPr>
              <a:t>industri</a:t>
            </a:r>
            <a:r>
              <a:rPr b="0" i="0" u="none" dirty="0">
                <a:solidFill>
                  <a:srgbClr val="6B21A8"/>
                </a:solidFill>
                <a:latin typeface="Plus Jakarta Sans"/>
              </a:rPr>
              <a:t> pada </a:t>
            </a:r>
            <a:r>
              <a:rPr b="0" i="0" u="none" dirty="0" err="1">
                <a:solidFill>
                  <a:srgbClr val="6B21A8"/>
                </a:solidFill>
                <a:latin typeface="Plus Jakarta Sans"/>
              </a:rPr>
              <a:t>kondisi</a:t>
            </a:r>
            <a:r>
              <a:rPr b="0" i="0" u="none" dirty="0">
                <a:solidFill>
                  <a:srgbClr val="6B21A8"/>
                </a:solidFill>
                <a:latin typeface="Plus Jakarta Sans"/>
              </a:rPr>
              <a:t> CPU throttled 4×.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7700" y="1695449"/>
            <a:ext cx="4849117" cy="904875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" y="2733674"/>
            <a:ext cx="4849117" cy="904875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7700" y="3771899"/>
            <a:ext cx="4849117" cy="904875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630166" y="2478918"/>
            <a:ext cx="6325859" cy="1630645"/>
          </a:xfrm>
          <a:prstGeom prst="roundRect">
            <a:avLst>
              <a:gd name="adj" fmla="val 568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7700" y="1695449"/>
            <a:ext cx="38100" cy="9048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7700" y="2733674"/>
            <a:ext cx="38100" cy="9048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7700" y="3771899"/>
            <a:ext cx="38100" cy="9048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JAWABAN PROF. M. NISWAR &amp; DR. ADY PAUNDU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Mekanisme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Kerja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Code Splitting pada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1617" y="2099037"/>
            <a:ext cx="399192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KONFIGURASI VITE.CONFIG.OPTIMIZED.JS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1617" y="2782490"/>
            <a:ext cx="5723632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i="0" u="none" dirty="0">
                <a:solidFill>
                  <a:srgbClr val="38BDF8"/>
                </a:solidFill>
                <a:latin typeface="JetBrains Mono"/>
              </a:rPr>
              <a:t>export default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 err="1">
                <a:solidFill>
                  <a:srgbClr val="F8FAFC"/>
                </a:solidFill>
                <a:latin typeface="JetBrains Mono"/>
              </a:rPr>
              <a:t>defineConfig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({ build: { </a:t>
            </a:r>
            <a:r>
              <a:rPr b="0" i="0" u="none" dirty="0" err="1">
                <a:solidFill>
                  <a:srgbClr val="F8FAFC"/>
                </a:solidFill>
                <a:latin typeface="JetBrains Mono"/>
              </a:rPr>
              <a:t>rollupOptions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: { output: { </a:t>
            </a:r>
            <a:r>
              <a:rPr b="0" i="0" u="none" dirty="0" err="1">
                <a:solidFill>
                  <a:srgbClr val="F59E0B"/>
                </a:solidFill>
                <a:latin typeface="JetBrains Mono"/>
              </a:rPr>
              <a:t>manualChunks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(id) { </a:t>
            </a:r>
            <a:r>
              <a:rPr b="0" i="0" u="none" dirty="0">
                <a:solidFill>
                  <a:srgbClr val="94A3B8"/>
                </a:solidFill>
                <a:latin typeface="JetBrains Mono"/>
              </a:rPr>
              <a:t>// </a:t>
            </a:r>
            <a:r>
              <a:rPr b="0" i="0" u="none" dirty="0" err="1">
                <a:solidFill>
                  <a:srgbClr val="94A3B8"/>
                </a:solidFill>
                <a:latin typeface="JetBrains Mono"/>
              </a:rPr>
              <a:t>Pisahkan</a:t>
            </a:r>
            <a:r>
              <a:rPr b="0" i="0" u="none" dirty="0">
                <a:solidFill>
                  <a:srgbClr val="94A3B8"/>
                </a:solidFill>
                <a:latin typeface="JetBrains Mono"/>
              </a:rPr>
              <a:t> Chart.js </a:t>
            </a:r>
            <a:r>
              <a:rPr b="0" i="0" u="none" dirty="0" err="1">
                <a:solidFill>
                  <a:srgbClr val="94A3B8"/>
                </a:solidFill>
                <a:latin typeface="JetBrains Mono"/>
              </a:rPr>
              <a:t>ke</a:t>
            </a:r>
            <a:r>
              <a:rPr b="0" i="0" u="none" dirty="0">
                <a:solidFill>
                  <a:srgbClr val="94A3B8"/>
                </a:solidFill>
                <a:latin typeface="JetBrains Mono"/>
              </a:rPr>
              <a:t> chunk </a:t>
            </a:r>
            <a:r>
              <a:rPr b="0" i="0" u="none" dirty="0" err="1">
                <a:solidFill>
                  <a:srgbClr val="94A3B8"/>
                </a:solidFill>
                <a:latin typeface="JetBrains Mono"/>
              </a:rPr>
              <a:t>tersendiri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>
                <a:solidFill>
                  <a:srgbClr val="38BDF8"/>
                </a:solidFill>
                <a:latin typeface="JetBrains Mono"/>
              </a:rPr>
              <a:t>if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(</a:t>
            </a:r>
            <a:r>
              <a:rPr b="0" i="0" u="none" dirty="0" err="1">
                <a:solidFill>
                  <a:srgbClr val="F8FAFC"/>
                </a:solidFill>
                <a:latin typeface="JetBrains Mono"/>
              </a:rPr>
              <a:t>id.includes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(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'chart.js'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)) { </a:t>
            </a:r>
            <a:r>
              <a:rPr b="0" i="0" u="none" dirty="0">
                <a:solidFill>
                  <a:srgbClr val="38BDF8"/>
                </a:solidFill>
                <a:latin typeface="JetBrains Mono"/>
              </a:rPr>
              <a:t>return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>
                <a:solidFill>
                  <a:srgbClr val="4ADE80"/>
                </a:solidFill>
                <a:latin typeface="JetBrains Mono"/>
              </a:rPr>
              <a:t>'vendor-chart'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; } </a:t>
            </a:r>
            <a:r>
              <a:rPr b="0" i="0" u="none" dirty="0">
                <a:solidFill>
                  <a:srgbClr val="94A3B8"/>
                </a:solidFill>
                <a:latin typeface="JetBrains Mono"/>
              </a:rPr>
              <a:t>// </a:t>
            </a:r>
            <a:r>
              <a:rPr b="0" i="0" u="none" dirty="0" err="1">
                <a:solidFill>
                  <a:srgbClr val="94A3B8"/>
                </a:solidFill>
                <a:latin typeface="JetBrains Mono"/>
              </a:rPr>
              <a:t>Pisahkan</a:t>
            </a:r>
            <a:r>
              <a:rPr b="0" i="0" u="none" dirty="0">
                <a:solidFill>
                  <a:srgbClr val="94A3B8"/>
                </a:solidFill>
                <a:latin typeface="JetBrains Mono"/>
              </a:rPr>
              <a:t> Framework Core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>
                <a:solidFill>
                  <a:srgbClr val="38BDF8"/>
                </a:solidFill>
                <a:latin typeface="JetBrains Mono"/>
              </a:rPr>
              <a:t>if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(</a:t>
            </a:r>
            <a:r>
              <a:rPr b="0" i="0" u="none" dirty="0" err="1">
                <a:solidFill>
                  <a:srgbClr val="F8FAFC"/>
                </a:solidFill>
                <a:latin typeface="JetBrains Mono"/>
              </a:rPr>
              <a:t>id.includes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(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</a:t>
            </a:r>
            <a:r>
              <a:rPr b="0" i="0" u="none" dirty="0" err="1">
                <a:solidFill>
                  <a:srgbClr val="A5F3FC"/>
                </a:solidFill>
                <a:latin typeface="JetBrains Mono"/>
              </a:rPr>
              <a:t>vue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) || </a:t>
            </a:r>
            <a:r>
              <a:rPr b="0" i="0" u="none" dirty="0" err="1">
                <a:solidFill>
                  <a:srgbClr val="F8FAFC"/>
                </a:solidFill>
                <a:latin typeface="JetBrains Mono"/>
              </a:rPr>
              <a:t>id.includes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(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</a:t>
            </a:r>
            <a:r>
              <a:rPr b="0" i="0" u="none" dirty="0" err="1">
                <a:solidFill>
                  <a:srgbClr val="A5F3FC"/>
                </a:solidFill>
                <a:latin typeface="JetBrains Mono"/>
              </a:rPr>
              <a:t>pinia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)) { </a:t>
            </a:r>
            <a:r>
              <a:rPr b="0" i="0" u="none" dirty="0">
                <a:solidFill>
                  <a:srgbClr val="38BDF8"/>
                </a:solidFill>
                <a:latin typeface="JetBrains Mono"/>
              </a:rPr>
              <a:t>return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>
                <a:solidFill>
                  <a:srgbClr val="4ADE80"/>
                </a:solidFill>
                <a:latin typeface="JetBrains Mono"/>
              </a:rPr>
              <a:t>'vendor-</a:t>
            </a:r>
            <a:r>
              <a:rPr b="0" i="0" u="none" dirty="0" err="1">
                <a:solidFill>
                  <a:srgbClr val="4ADE80"/>
                </a:solidFill>
                <a:latin typeface="JetBrains Mono"/>
              </a:rPr>
              <a:t>vue</a:t>
            </a:r>
            <a:r>
              <a:rPr b="0" i="0" u="none" dirty="0">
                <a:solidFill>
                  <a:srgbClr val="4ADE80"/>
                </a:solidFill>
                <a:latin typeface="JetBrains Mono"/>
              </a:rPr>
              <a:t>'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; } } } } } 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47849"/>
            <a:ext cx="271228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Sebelum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: Monolithic Bundle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85974"/>
            <a:ext cx="460146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Seluruh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modul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(Vue,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Pinia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, Chart.js, Views)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disatukan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menjadi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1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berkas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346 KB.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886074"/>
            <a:ext cx="180190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Analisis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 Rollup 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124199"/>
            <a:ext cx="460146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Vite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membedah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dependency graph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melalui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Rollup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untuk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mendeteksi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boundary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modul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845777"/>
            <a:ext cx="249850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Sesudah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: Granular Chunks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4" y="4109563"/>
            <a:ext cx="460146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Terpecah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menjadi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8 chunk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terpisah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dengan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pemuatan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paralel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dan caching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independen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1" y="2524125"/>
            <a:ext cx="5588049" cy="1716882"/>
          </a:xfrm>
          <a:prstGeom prst="roundRect">
            <a:avLst>
              <a:gd name="adj" fmla="val 492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02450" y="1516857"/>
            <a:ext cx="5079950" cy="1009650"/>
          </a:xfrm>
          <a:prstGeom prst="roundRect">
            <a:avLst>
              <a:gd name="adj" fmla="val 94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02450" y="2678907"/>
            <a:ext cx="5079950" cy="1009650"/>
          </a:xfrm>
          <a:prstGeom prst="roundRect">
            <a:avLst>
              <a:gd name="adj" fmla="val 94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02450" y="3840957"/>
            <a:ext cx="5079950" cy="1163662"/>
          </a:xfrm>
          <a:prstGeom prst="roundRect">
            <a:avLst>
              <a:gd name="adj" fmla="val 94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JAWABAN PROF. M. NISWAR &amp; DR. ADY PAUNDU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Mekanisme Kerja Route &amp; Component Lazy 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83281"/>
            <a:ext cx="351243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IMPLEMENTASI PADA VUE ROUTER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1" y="2676525"/>
            <a:ext cx="5302299" cy="1445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i="0" u="none" dirty="0">
                <a:solidFill>
                  <a:srgbClr val="94A3B8"/>
                </a:solidFill>
                <a:latin typeface="JetBrains Mono"/>
              </a:rPr>
              <a:t>// ❌ Eager Loading Baseline (</a:t>
            </a:r>
            <a:r>
              <a:rPr b="0" i="0" u="none" dirty="0" err="1">
                <a:solidFill>
                  <a:srgbClr val="94A3B8"/>
                </a:solidFill>
                <a:latin typeface="JetBrains Mono"/>
              </a:rPr>
              <a:t>Semua</a:t>
            </a:r>
            <a:r>
              <a:rPr b="0" i="0" u="none" dirty="0">
                <a:solidFill>
                  <a:srgbClr val="94A3B8"/>
                </a:solidFill>
                <a:latin typeface="JetBrains Mono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JetBrains Mono"/>
              </a:rPr>
              <a:t>dimuat</a:t>
            </a:r>
            <a:r>
              <a:rPr b="0" i="0" u="none" dirty="0">
                <a:solidFill>
                  <a:srgbClr val="94A3B8"/>
                </a:solidFill>
                <a:latin typeface="JetBrains Mono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JetBrains Mono"/>
              </a:rPr>
              <a:t>awal</a:t>
            </a:r>
            <a:r>
              <a:rPr b="0" i="0" u="none" dirty="0">
                <a:solidFill>
                  <a:srgbClr val="94A3B8"/>
                </a:solidFill>
                <a:latin typeface="JetBrains Mono"/>
              </a:rPr>
              <a:t>)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>
                <a:solidFill>
                  <a:srgbClr val="EF4444"/>
                </a:solidFill>
                <a:latin typeface="JetBrains Mono"/>
              </a:rPr>
              <a:t>import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Dashboard </a:t>
            </a:r>
            <a:r>
              <a:rPr b="0" i="0" u="none" dirty="0">
                <a:solidFill>
                  <a:srgbClr val="EF4444"/>
                </a:solidFill>
                <a:latin typeface="JetBrains Mono"/>
              </a:rPr>
              <a:t>from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'../views/</a:t>
            </a:r>
            <a:r>
              <a:rPr b="0" i="0" u="none" dirty="0" err="1">
                <a:solidFill>
                  <a:srgbClr val="A5F3FC"/>
                </a:solidFill>
                <a:latin typeface="JetBrains Mono"/>
              </a:rPr>
              <a:t>Dashboard.vue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>
                <a:solidFill>
                  <a:srgbClr val="EF4444"/>
                </a:solidFill>
                <a:latin typeface="JetBrains Mono"/>
              </a:rPr>
              <a:t>import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 err="1">
                <a:solidFill>
                  <a:srgbClr val="F8FAFC"/>
                </a:solidFill>
                <a:latin typeface="JetBrains Mono"/>
              </a:rPr>
              <a:t>JadwalDosen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>
                <a:solidFill>
                  <a:srgbClr val="EF4444"/>
                </a:solidFill>
                <a:latin typeface="JetBrains Mono"/>
              </a:rPr>
              <a:t>from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'../views/</a:t>
            </a:r>
            <a:r>
              <a:rPr b="0" i="0" u="none" dirty="0" err="1">
                <a:solidFill>
                  <a:srgbClr val="A5F3FC"/>
                </a:solidFill>
                <a:latin typeface="JetBrains Mono"/>
              </a:rPr>
              <a:t>JadwalDosen.vue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>
                <a:solidFill>
                  <a:srgbClr val="94A3B8"/>
                </a:solidFill>
                <a:latin typeface="JetBrains Mono"/>
              </a:rPr>
              <a:t>// Lazy Loading Optimized (On-Demand Import)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</a:t>
            </a:r>
            <a:r>
              <a:rPr b="0" i="0" u="none" dirty="0">
                <a:solidFill>
                  <a:srgbClr val="38BDF8"/>
                </a:solidFill>
                <a:latin typeface="JetBrains Mono"/>
              </a:rPr>
              <a:t>const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 routes = [ { path: 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'/'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, component: () =&gt; </a:t>
            </a:r>
            <a:r>
              <a:rPr b="0" i="0" u="none" dirty="0">
                <a:solidFill>
                  <a:srgbClr val="38BDF8"/>
                </a:solidFill>
                <a:latin typeface="JetBrains Mono"/>
              </a:rPr>
              <a:t>import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(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'../views/</a:t>
            </a:r>
            <a:r>
              <a:rPr b="0" i="0" u="none" dirty="0" err="1">
                <a:solidFill>
                  <a:srgbClr val="A5F3FC"/>
                </a:solidFill>
                <a:latin typeface="JetBrains Mono"/>
              </a:rPr>
              <a:t>Dashboard.vue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) }, { path: 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'/</a:t>
            </a:r>
            <a:r>
              <a:rPr b="0" i="0" u="none" dirty="0" err="1">
                <a:solidFill>
                  <a:srgbClr val="A5F3FC"/>
                </a:solidFill>
                <a:latin typeface="JetBrains Mono"/>
              </a:rPr>
              <a:t>jadwal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, component: () =&gt; </a:t>
            </a:r>
            <a:r>
              <a:rPr b="0" i="0" u="none" dirty="0">
                <a:solidFill>
                  <a:srgbClr val="38BDF8"/>
                </a:solidFill>
                <a:latin typeface="JetBrains Mono"/>
              </a:rPr>
              <a:t>import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(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'../views/</a:t>
            </a:r>
            <a:r>
              <a:rPr b="0" i="0" u="none" dirty="0" err="1">
                <a:solidFill>
                  <a:srgbClr val="A5F3FC"/>
                </a:solidFill>
                <a:latin typeface="JetBrains Mono"/>
              </a:rPr>
              <a:t>JadwalDosen.vue</a:t>
            </a:r>
            <a:r>
              <a:rPr b="0" i="0" u="none" dirty="0">
                <a:solidFill>
                  <a:srgbClr val="A5F3FC"/>
                </a:solidFill>
                <a:latin typeface="JetBrains Mono"/>
              </a:rPr>
              <a:t>'</a:t>
            </a:r>
            <a:r>
              <a:rPr b="0" i="0" u="none" dirty="0">
                <a:solidFill>
                  <a:srgbClr val="F8FAFC"/>
                </a:solidFill>
                <a:latin typeface="JetBrains Mono"/>
              </a:rPr>
              <a:t>) }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2950" y="1707357"/>
            <a:ext cx="245727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1. Dynamic Import Syntax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2950" y="1974057"/>
            <a:ext cx="4794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Fungsi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`() =&gt; import(...)`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mengembalikan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Promise dan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menjadi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dynamic split 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2950" y="2869407"/>
            <a:ext cx="291034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2. </a:t>
            </a:r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Reduksi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 Beban Parsing Awal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2950" y="3136107"/>
            <a:ext cx="4794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Browser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tidak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mengunduh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atau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mengevaluasi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kode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rute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yang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belum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dikunjungi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pengguna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2950" y="4031457"/>
            <a:ext cx="274786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3. Event Loop Tidak </a:t>
            </a:r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Terblokir</a:t>
            </a:r>
            <a:endParaRPr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92950" y="4298157"/>
            <a:ext cx="4794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Main thread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tetap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responsif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karena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parsing JavaScript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tidak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dieksekusi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secara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masif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2116" y="1752446"/>
            <a:ext cx="4923978" cy="2274093"/>
          </a:xfrm>
          <a:prstGeom prst="roundRect">
            <a:avLst>
              <a:gd name="adj" fmla="val 4188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52794" y="2126302"/>
            <a:ext cx="5782121" cy="1754981"/>
          </a:xfrm>
          <a:prstGeom prst="roundRect">
            <a:avLst>
              <a:gd name="adj" fmla="val 434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SOLUSI TAMBAHAN 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Selective Prefetching via requestIdleCallback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241" y="1990571"/>
            <a:ext cx="58376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Plus Jakarta Sans"/>
              </a:rPr>
              <a:t>Tantangan Lazy Loading Murni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241" y="2304896"/>
            <a:ext cx="4542978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C2410C"/>
                </a:solidFill>
                <a:latin typeface="Plus Jakarta Sans"/>
              </a:rPr>
              <a:t>Saat pengguna mengklik menu, muncul jeda jaringan karena file baru diunduh saat itu juga (latency spike).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241" y="2852583"/>
            <a:ext cx="58376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5803D"/>
                </a:solidFill>
                <a:latin typeface="Plus Jakarta Sans"/>
              </a:rPr>
              <a:t>Solusi: Prefetch Saat CPU 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241" y="3166908"/>
            <a:ext cx="4542978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166534"/>
                </a:solidFill>
                <a:latin typeface="Plus Jakarta Sans"/>
              </a:rPr>
              <a:t>Chunk rute yang diprediksi berikutnya diunduh saat browser berada di waktu senggang (idle), sehingga transisi instan tanpa menambah beban FCP.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2794" y="1897702"/>
            <a:ext cx="63917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IMPLEMENTASI DI ROUTER.AFTEREACH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3294" y="2278702"/>
            <a:ext cx="5496371" cy="1450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125" b="0" i="0" u="none">
                <a:solidFill>
                  <a:srgbClr val="F8FAFC"/>
                </a:solidFill>
                <a:latin typeface="JetBrains Mono"/>
              </a:rPr>
              <a:t>router.afterEach((to) =&gt; {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if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(to.name === </a:t>
            </a:r>
            <a:r>
              <a:rPr sz="1125" b="0" i="0" u="none">
                <a:solidFill>
                  <a:srgbClr val="A5F3FC"/>
                </a:solidFill>
                <a:latin typeface="JetBrains Mono"/>
              </a:rPr>
              <a:t>'Dashboard'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) {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const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prefetch = () =&gt; { </a:t>
            </a:r>
            <a:r>
              <a:rPr sz="1125" b="0" i="0" u="none">
                <a:solidFill>
                  <a:srgbClr val="94A3B8"/>
                </a:solidFill>
                <a:latin typeface="JetBrains Mono"/>
              </a:rPr>
              <a:t>// Prefetch chunk rute terprediksi berikutnya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import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(</a:t>
            </a:r>
            <a:r>
              <a:rPr sz="1125" b="0" i="0" u="none">
                <a:solidFill>
                  <a:srgbClr val="A5F3FC"/>
                </a:solidFill>
                <a:latin typeface="JetBrains Mono"/>
              </a:rPr>
              <a:t>'../views/DaftarJudulView.vue'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)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import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(</a:t>
            </a:r>
            <a:r>
              <a:rPr sz="1125" b="0" i="0" u="none">
                <a:solidFill>
                  <a:srgbClr val="A5F3FC"/>
                </a:solidFill>
                <a:latin typeface="JetBrains Mono"/>
              </a:rPr>
              <a:t>'../views/DetailBimbinganView.vue'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) }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if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(</a:t>
            </a:r>
            <a:r>
              <a:rPr sz="1125" b="0" i="0" u="none">
                <a:solidFill>
                  <a:srgbClr val="A5F3FC"/>
                </a:solidFill>
                <a:latin typeface="JetBrains Mono"/>
              </a:rPr>
              <a:t>'requestIdleCallback'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in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window) { requestIdleCallback(prefetch) } </a:t>
            </a:r>
            <a:r>
              <a:rPr sz="1125" b="0" i="0" u="none">
                <a:solidFill>
                  <a:srgbClr val="38BDF8"/>
                </a:solidFill>
                <a:latin typeface="JetBrains Mono"/>
              </a:rPr>
              <a:t>else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{ setTimeout(prefetch, 1000) } } })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95500"/>
            <a:ext cx="2600325" cy="1943100"/>
          </a:xfrm>
          <a:prstGeom prst="roundRect">
            <a:avLst>
              <a:gd name="adj" fmla="val 49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095500"/>
            <a:ext cx="2600325" cy="1943100"/>
          </a:xfrm>
          <a:prstGeom prst="roundRect">
            <a:avLst>
              <a:gd name="adj" fmla="val 49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095500"/>
            <a:ext cx="2600325" cy="1943100"/>
          </a:xfrm>
          <a:prstGeom prst="roundRect">
            <a:avLst>
              <a:gd name="adj" fmla="val 49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095500"/>
            <a:ext cx="2600325" cy="1943100"/>
          </a:xfrm>
          <a:prstGeom prst="roundRect">
            <a:avLst>
              <a:gd name="adj" fmla="val 49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2352675"/>
            <a:ext cx="238125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2352675"/>
            <a:ext cx="209550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2352675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1150" y="235267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JAWABAN PROF. M. NISWAR &amp; DR. ADY PAUNDU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Justifikasi Pemilihan Parameter Evaluasi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3121" y="2381250"/>
            <a:ext cx="103688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FCP (Paint)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755" y="2790051"/>
            <a:ext cx="201997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First </a:t>
            </a:r>
            <a:r>
              <a:rPr b="1" i="0" u="none" dirty="0" err="1">
                <a:solidFill>
                  <a:srgbClr val="64748B"/>
                </a:solidFill>
                <a:latin typeface="Plus Jakarta Sans"/>
              </a:rPr>
              <a:t>Contentful</a:t>
            </a:r>
            <a:r>
              <a:rPr b="1" i="0" u="none" dirty="0">
                <a:solidFill>
                  <a:srgbClr val="64748B"/>
                </a:solidFill>
                <a:latin typeface="Plus Jakarta Sans"/>
              </a:rPr>
              <a:t> Paint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49" y="3136563"/>
            <a:ext cx="2257425" cy="830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Mengukur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titik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awal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browser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mulai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menampilkan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elemen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visual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pertama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di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layar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2521" y="2400300"/>
            <a:ext cx="122328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LCP (Render)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4728" y="2790050"/>
            <a:ext cx="229171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Largest </a:t>
            </a:r>
            <a:r>
              <a:rPr b="1" i="0" u="none" dirty="0" err="1">
                <a:solidFill>
                  <a:srgbClr val="64748B"/>
                </a:solidFill>
                <a:latin typeface="Plus Jakarta Sans"/>
              </a:rPr>
              <a:t>Contentful</a:t>
            </a:r>
            <a:r>
              <a:rPr b="1" i="0" u="none" dirty="0">
                <a:solidFill>
                  <a:srgbClr val="64748B"/>
                </a:solidFill>
                <a:latin typeface="Plus Jakarta Sans"/>
              </a:rPr>
              <a:t> Paint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2928" y="3104309"/>
            <a:ext cx="2291718" cy="830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Mengukur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durasi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hingga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blok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konten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visual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terbesar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selesai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dirender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utuh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64" y="2400300"/>
            <a:ext cx="134447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TBT (</a:t>
            </a:r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Respons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2803115"/>
            <a:ext cx="184851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64748B"/>
                </a:solidFill>
                <a:latin typeface="Plus Jakarta Sans"/>
              </a:rPr>
              <a:t>Total Blocking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2699" y="3136563"/>
            <a:ext cx="2257425" cy="830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Mengukur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akumulasi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waktu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main thread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terblokir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oleh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eksekusi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JavaScript (&gt;50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ms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614" y="2352675"/>
            <a:ext cx="283785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Bundle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1150" y="2690425"/>
            <a:ext cx="162756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64748B"/>
                </a:solidFill>
                <a:latin typeface="Plus Jakarta Sans"/>
              </a:rPr>
              <a:t>Ukuran</a:t>
            </a:r>
            <a:r>
              <a:rPr b="1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64748B"/>
                </a:solidFill>
                <a:latin typeface="Plus Jakarta Sans"/>
              </a:rPr>
              <a:t>Berkas</a:t>
            </a:r>
            <a:r>
              <a:rPr b="1" i="0" u="none" dirty="0">
                <a:solidFill>
                  <a:srgbClr val="64748B"/>
                </a:solidFill>
                <a:latin typeface="Plus Jakarta Sans"/>
              </a:rPr>
              <a:t> 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3107689"/>
            <a:ext cx="2257425" cy="830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i="0" u="none" dirty="0">
                <a:solidFill>
                  <a:srgbClr val="334155"/>
                </a:solidFill>
                <a:latin typeface="Plus Jakarta Sans"/>
              </a:rPr>
              <a:t>Parameter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independen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fisik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kode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yang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menentukan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durasi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parsing </a:t>
            </a:r>
            <a:r>
              <a:rPr b="0" i="0" u="none" dirty="0" err="1">
                <a:solidFill>
                  <a:srgbClr val="334155"/>
                </a:solidFill>
                <a:latin typeface="Plus Jakarta Sans"/>
              </a:rPr>
              <a:t>mesin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V8.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0396" y="1524000"/>
            <a:ext cx="5192017" cy="2247900"/>
          </a:xfrm>
          <a:prstGeom prst="roundRect">
            <a:avLst>
              <a:gd name="adj" fmla="val 5084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867213" y="1581150"/>
            <a:ext cx="5475982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67213" y="2343150"/>
            <a:ext cx="5475982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67213" y="3105150"/>
            <a:ext cx="5475982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flipH="1">
            <a:off x="5898733" y="1609727"/>
            <a:ext cx="45719" cy="733423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67212" y="2571749"/>
            <a:ext cx="45719" cy="8858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64567" y="3877449"/>
            <a:ext cx="45719" cy="789801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Plus Jakarta Sans"/>
              </a:rPr>
              <a:t>PENJELASAN MENDALAM METRIK TBT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613" y="881979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Korelasi V8 Engine, Event Loop, dan TBT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5758" y="1838325"/>
            <a:ext cx="308129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 err="1">
                <a:solidFill>
                  <a:srgbClr val="C2410C"/>
                </a:solidFill>
                <a:latin typeface="Plus Jakarta Sans"/>
              </a:rPr>
              <a:t>Penurunan</a:t>
            </a:r>
            <a:r>
              <a:rPr b="1" i="0" u="none" dirty="0">
                <a:solidFill>
                  <a:srgbClr val="C2410C"/>
                </a:solidFill>
                <a:latin typeface="Plus Jakarta Sans"/>
              </a:rPr>
              <a:t> TBT (</a:t>
            </a:r>
            <a:r>
              <a:rPr b="1" i="0" u="none" dirty="0" err="1">
                <a:solidFill>
                  <a:srgbClr val="C2410C"/>
                </a:solidFill>
                <a:latin typeface="Plus Jakarta Sans"/>
              </a:rPr>
              <a:t>Kondisi</a:t>
            </a:r>
            <a:r>
              <a:rPr b="1" i="0" u="none" dirty="0">
                <a:solidFill>
                  <a:srgbClr val="C2410C"/>
                </a:solidFill>
                <a:latin typeface="Plus Jakarta Sans"/>
              </a:rPr>
              <a:t> CPU 4×)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" y="2114550"/>
            <a:ext cx="5704209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 dirty="0">
                <a:solidFill>
                  <a:srgbClr val="EA580C"/>
                </a:solidFill>
                <a:latin typeface="Plus Jakarta Sans"/>
              </a:rPr>
              <a:t>-18,5%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656" y="2990850"/>
            <a:ext cx="307949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9A3412"/>
                </a:solidFill>
                <a:latin typeface="Plus Jakarta Sans"/>
              </a:rPr>
              <a:t>Dari 710,4 </a:t>
            </a:r>
            <a:r>
              <a:rPr b="1" i="0" u="none" dirty="0" err="1">
                <a:solidFill>
                  <a:srgbClr val="9A3412"/>
                </a:solidFill>
                <a:latin typeface="Plus Jakarta Sans"/>
              </a:rPr>
              <a:t>ms</a:t>
            </a:r>
            <a:r>
              <a:rPr b="1" i="0" u="none" dirty="0">
                <a:solidFill>
                  <a:srgbClr val="9A3412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9A3412"/>
                </a:solidFill>
                <a:latin typeface="Plus Jakarta Sans"/>
              </a:rPr>
              <a:t>turun</a:t>
            </a:r>
            <a:r>
              <a:rPr b="1" i="0" u="none" dirty="0">
                <a:solidFill>
                  <a:srgbClr val="9A3412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9A3412"/>
                </a:solidFill>
                <a:latin typeface="Plus Jakarta Sans"/>
              </a:rPr>
              <a:t>ke</a:t>
            </a:r>
            <a:r>
              <a:rPr b="1" i="0" u="none" dirty="0">
                <a:solidFill>
                  <a:srgbClr val="9A3412"/>
                </a:solidFill>
                <a:latin typeface="Plus Jakarta Sans"/>
              </a:rPr>
              <a:t> 579,0 </a:t>
            </a:r>
            <a:r>
              <a:rPr b="1" i="0" u="none" dirty="0" err="1">
                <a:solidFill>
                  <a:srgbClr val="9A3412"/>
                </a:solidFill>
                <a:latin typeface="Plus Jakarta Sans"/>
              </a:rPr>
              <a:t>ms</a:t>
            </a:r>
            <a:endParaRPr b="1" i="0" u="none" dirty="0">
              <a:solidFill>
                <a:srgbClr val="9A3412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9193" y="3286125"/>
            <a:ext cx="327442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7C2D12"/>
                </a:solidFill>
                <a:latin typeface="Plus Jakarta Sans"/>
              </a:rPr>
              <a:t>(</a:t>
            </a:r>
            <a:r>
              <a:rPr b="0" i="0" u="none" dirty="0" err="1">
                <a:solidFill>
                  <a:srgbClr val="7C2D12"/>
                </a:solidFill>
                <a:latin typeface="Plus Jakarta Sans"/>
              </a:rPr>
              <a:t>Versi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 Lighthouse TBT </a:t>
            </a:r>
            <a:r>
              <a:rPr b="0" i="0" u="none" dirty="0" err="1">
                <a:solidFill>
                  <a:srgbClr val="7C2D12"/>
                </a:solidFill>
                <a:latin typeface="Plus Jakarta Sans"/>
              </a:rPr>
              <a:t>turun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 30,6%)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7713" y="1521946"/>
            <a:ext cx="303294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Sifat Single-Threaded 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8663" y="1772560"/>
            <a:ext cx="538073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Main thread browser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menangani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parsing JavaScript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sekaligus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antrean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interaksi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klik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/scroll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pengguna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9267" y="2551152"/>
            <a:ext cx="279230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Eliminasi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 Long Tasks (&gt;50 </a:t>
            </a:r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ms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1167" y="2794990"/>
            <a:ext cx="5380732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475569"/>
                </a:solidFill>
                <a:latin typeface="Plus Jakarta Sans"/>
              </a:rPr>
              <a:t>Dengan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memecah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file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besar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menjadi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chunk modular,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waktu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parsing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terpecah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menjadi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eksekusi-eksekusi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kecil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di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bawah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50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ms.</a:t>
            </a:r>
            <a:endParaRPr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57713" y="3867150"/>
            <a:ext cx="476540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Menghilangkan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Layar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 "</a:t>
            </a:r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Membeku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" (Unresponsive)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7713" y="4144149"/>
            <a:ext cx="538073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Pengguna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di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perangkat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berspesifikasi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rendah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dapat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berinteraksi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tanpa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mengalami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browser freeze.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5794" y="1319212"/>
            <a:ext cx="2628900" cy="1247775"/>
          </a:xfrm>
          <a:prstGeom prst="roundRect">
            <a:avLst>
              <a:gd name="adj" fmla="val 6106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17094" y="1319212"/>
            <a:ext cx="2628900" cy="1247775"/>
          </a:xfrm>
          <a:prstGeom prst="roundRect">
            <a:avLst>
              <a:gd name="adj" fmla="val 610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8394" y="1319212"/>
            <a:ext cx="2628900" cy="1247775"/>
          </a:xfrm>
          <a:prstGeom prst="roundRect">
            <a:avLst>
              <a:gd name="adj" fmla="val 6106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79694" y="1319212"/>
            <a:ext cx="2628900" cy="1247775"/>
          </a:xfrm>
          <a:prstGeom prst="roundRect">
            <a:avLst>
              <a:gd name="adj" fmla="val 6106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544351"/>
              </p:ext>
            </p:extLst>
          </p:nvPr>
        </p:nvGraphicFramePr>
        <p:xfrm>
          <a:off x="283869" y="2918806"/>
          <a:ext cx="11829050" cy="1524000"/>
        </p:xfrm>
        <a:graphic>
          <a:graphicData uri="http://schemas.openxmlformats.org/drawingml/2006/table">
            <a:tbl>
              <a:tblPr/>
              <a:tblGrid>
                <a:gridCol w="315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5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9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Metrik</a:t>
                      </a:r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 (</a:t>
                      </a:r>
                      <a:r>
                        <a:rPr sz="18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PerformanceObserver</a:t>
                      </a:r>
                      <a:r>
                        <a:rPr sz="18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Baseline (Normal)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Optimized (Normal)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Baseline (CPU 4×)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Optimized (CPU 4×)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FCP (ms)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1103,2 ± 179,4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842,4 ± 20,0 (-23,6%)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1371,2 ± 49,4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1134,4 ± 47,1 (-17,3%)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TBT (ms)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139,2 ± 77,0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104,6 ± 34,6 (-24,9%)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710,4 ± 89,2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 dirty="0">
                          <a:solidFill>
                            <a:srgbClr val="16A34A"/>
                          </a:solidFill>
                          <a:latin typeface="Plus Jakarta Sans"/>
                        </a:rPr>
                        <a:t>579,0 ± 63,1 (-18,5%)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000000"/>
                          </a:solidFill>
                          <a:latin typeface="Plus Jakarta Sans"/>
                        </a:rPr>
                        <a:t>Load Time (</a:t>
                      </a:r>
                      <a:r>
                        <a:rPr sz="1800" b="1" i="0" u="none" dirty="0" err="1">
                          <a:solidFill>
                            <a:srgbClr val="000000"/>
                          </a:solidFill>
                          <a:latin typeface="Plus Jakarta Sans"/>
                        </a:rPr>
                        <a:t>ms</a:t>
                      </a:r>
                      <a:r>
                        <a:rPr sz="1800" b="1" i="0" u="none" dirty="0">
                          <a:solidFill>
                            <a:srgbClr val="000000"/>
                          </a:solidFill>
                          <a:latin typeface="Plus Jakarta Sans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694,2 ± 22,2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688,6 ± 17,6 (-0,8%)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1121,6 ± 218,5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u="none" dirty="0">
                          <a:solidFill>
                            <a:srgbClr val="16A34A"/>
                          </a:solidFill>
                          <a:latin typeface="Plus Jakarta Sans"/>
                        </a:rPr>
                        <a:t>975,8 ± 45,5 (-13,0%)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DATA EMPIRIS NASKAH PERBAIKAN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Hasil Optimasi SIMTA (Kompleksitas Tinggi)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500187"/>
            <a:ext cx="2833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 dirty="0">
                <a:solidFill>
                  <a:srgbClr val="166534"/>
                </a:solidFill>
                <a:latin typeface="Plus Jakarta Sans"/>
              </a:rPr>
              <a:t>Lighthouse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728787"/>
            <a:ext cx="283368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 dirty="0">
                <a:solidFill>
                  <a:srgbClr val="16A34A"/>
                </a:solidFill>
                <a:latin typeface="Plus Jakarta Sans"/>
              </a:rPr>
              <a:t>+32,0%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4383" y="2214562"/>
            <a:ext cx="113172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14532D"/>
                </a:solidFill>
                <a:latin typeface="Plus Jakarta Sans"/>
              </a:rPr>
              <a:t>56,8 → 75,0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7544" y="1500187"/>
            <a:ext cx="158799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1E40AF"/>
                </a:solidFill>
                <a:latin typeface="Plus Jakarta Sans"/>
              </a:rPr>
              <a:t>FCP (Lighthouse)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4700" y="1728787"/>
            <a:ext cx="283368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 dirty="0">
                <a:solidFill>
                  <a:srgbClr val="2563EB"/>
                </a:solidFill>
                <a:latin typeface="Plus Jakarta Sans"/>
              </a:rPr>
              <a:t>-34,5%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9360" y="2152889"/>
            <a:ext cx="190436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1E3A8A"/>
                </a:solidFill>
                <a:latin typeface="Plus Jakarta Sans"/>
              </a:rPr>
              <a:t>4960 </a:t>
            </a:r>
            <a:r>
              <a:rPr b="0" i="0" u="none" dirty="0" err="1">
                <a:solidFill>
                  <a:srgbClr val="1E3A8A"/>
                </a:solidFill>
                <a:latin typeface="Plus Jakarta Sans"/>
              </a:rPr>
              <a:t>ms</a:t>
            </a:r>
            <a:r>
              <a:rPr b="0" i="0" u="none" dirty="0">
                <a:solidFill>
                  <a:srgbClr val="1E3A8A"/>
                </a:solidFill>
                <a:latin typeface="Plus Jakarta Sans"/>
              </a:rPr>
              <a:t> → 3250 </a:t>
            </a:r>
            <a:r>
              <a:rPr b="0" i="0" u="none" dirty="0" err="1">
                <a:solidFill>
                  <a:srgbClr val="1E3A8A"/>
                </a:solidFill>
                <a:latin typeface="Plus Jakarta Sans"/>
              </a:rPr>
              <a:t>ms</a:t>
            </a:r>
            <a:endParaRPr b="0" i="0" u="none" dirty="0">
              <a:solidFill>
                <a:srgbClr val="1E3A8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23428" y="1500187"/>
            <a:ext cx="157883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6B21A8"/>
                </a:solidFill>
                <a:latin typeface="Plus Jakarta Sans"/>
              </a:rPr>
              <a:t>LCP (Lighthouse)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1728787"/>
            <a:ext cx="283368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 dirty="0">
                <a:solidFill>
                  <a:srgbClr val="9333EA"/>
                </a:solidFill>
                <a:latin typeface="Plus Jakarta Sans"/>
              </a:rPr>
              <a:t>-27,5%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660" y="2214562"/>
            <a:ext cx="190436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581C87"/>
                </a:solidFill>
                <a:latin typeface="Plus Jakarta Sans"/>
              </a:rPr>
              <a:t>5228 </a:t>
            </a:r>
            <a:r>
              <a:rPr b="0" i="0" u="none" dirty="0" err="1">
                <a:solidFill>
                  <a:srgbClr val="581C87"/>
                </a:solidFill>
                <a:latin typeface="Plus Jakarta Sans"/>
              </a:rPr>
              <a:t>ms</a:t>
            </a:r>
            <a:r>
              <a:rPr b="0" i="0" u="none" dirty="0">
                <a:solidFill>
                  <a:srgbClr val="581C87"/>
                </a:solidFill>
                <a:latin typeface="Plus Jakarta Sans"/>
              </a:rPr>
              <a:t> → 3790 </a:t>
            </a:r>
            <a:r>
              <a:rPr b="0" i="0" u="none" dirty="0" err="1">
                <a:solidFill>
                  <a:srgbClr val="581C87"/>
                </a:solidFill>
                <a:latin typeface="Plus Jakarta Sans"/>
              </a:rPr>
              <a:t>ms</a:t>
            </a:r>
            <a:endParaRPr b="0" i="0" u="none" dirty="0">
              <a:solidFill>
                <a:srgbClr val="581C87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498637" y="1500187"/>
            <a:ext cx="159101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9A3412"/>
                </a:solidFill>
                <a:latin typeface="Plus Jakarta Sans"/>
              </a:rPr>
              <a:t>TBT (Lighthouse)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7300" y="1728787"/>
            <a:ext cx="283368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EA580C"/>
                </a:solidFill>
                <a:latin typeface="Plus Jakarta Sans"/>
              </a:rPr>
              <a:t>-30,6%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8979" y="2214562"/>
            <a:ext cx="167032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7C2D12"/>
                </a:solidFill>
                <a:latin typeface="Plus Jakarta Sans"/>
              </a:rPr>
              <a:t>454 </a:t>
            </a:r>
            <a:r>
              <a:rPr b="0" i="0" u="none" dirty="0" err="1">
                <a:solidFill>
                  <a:srgbClr val="7C2D12"/>
                </a:solidFill>
                <a:latin typeface="Plus Jakarta Sans"/>
              </a:rPr>
              <a:t>ms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 → 315 </a:t>
            </a:r>
            <a:r>
              <a:rPr b="0" i="0" u="none" dirty="0" err="1">
                <a:solidFill>
                  <a:srgbClr val="7C2D12"/>
                </a:solidFill>
                <a:latin typeface="Plus Jakarta Sans"/>
              </a:rPr>
              <a:t>ms</a:t>
            </a:r>
            <a:endParaRPr b="0" i="0" u="none" dirty="0">
              <a:solidFill>
                <a:srgbClr val="7C2D12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5266" y="2110792"/>
            <a:ext cx="6029633" cy="2143125"/>
          </a:xfrm>
          <a:prstGeom prst="roundRect">
            <a:avLst>
              <a:gd name="adj" fmla="val 5333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ounded Rectangle 2"/>
          <p:cNvSpPr/>
          <p:nvPr/>
        </p:nvSpPr>
        <p:spPr>
          <a:xfrm>
            <a:off x="6370149" y="2084676"/>
            <a:ext cx="5575505" cy="2143125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2" y="2396542"/>
            <a:ext cx="20955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779" y="2370426"/>
            <a:ext cx="20955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3867" y="1256001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PERBANDINGAN KARAKTERISTIK APLIKASI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867" y="1503651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Efektivitas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Berdasarkan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Tingkat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Kompleksitas</a:t>
            </a:r>
            <a:endParaRPr sz="22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1492" y="2748967"/>
            <a:ext cx="50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166534"/>
                </a:solidFill>
                <a:latin typeface="Plus Jakarta Sans"/>
              </a:rPr>
              <a:t>Karakter</a:t>
            </a:r>
            <a:r>
              <a:rPr b="1" i="0" u="none" dirty="0">
                <a:solidFill>
                  <a:srgbClr val="166534"/>
                </a:solidFill>
                <a:latin typeface="Plus Jakarta Sans"/>
              </a:rPr>
              <a:t>: 15+ </a:t>
            </a:r>
            <a:r>
              <a:rPr b="1" i="0" u="none" dirty="0" err="1">
                <a:solidFill>
                  <a:srgbClr val="166534"/>
                </a:solidFill>
                <a:latin typeface="Plus Jakarta Sans"/>
              </a:rPr>
              <a:t>rute</a:t>
            </a:r>
            <a:r>
              <a:rPr b="1" i="0" u="none" dirty="0">
                <a:solidFill>
                  <a:srgbClr val="166534"/>
                </a:solidFill>
                <a:latin typeface="Plus Jakarta Sans"/>
              </a:rPr>
              <a:t>, </a:t>
            </a:r>
            <a:r>
              <a:rPr b="1" i="0" u="none" dirty="0" err="1">
                <a:solidFill>
                  <a:srgbClr val="166534"/>
                </a:solidFill>
                <a:latin typeface="Plus Jakarta Sans"/>
              </a:rPr>
              <a:t>Pinia</a:t>
            </a:r>
            <a:r>
              <a:rPr b="1" i="0" u="none" dirty="0">
                <a:solidFill>
                  <a:srgbClr val="166534"/>
                </a:solidFill>
                <a:latin typeface="Plus Jakarta Sans"/>
              </a:rPr>
              <a:t> state, Chart.js, </a:t>
            </a:r>
            <a:r>
              <a:rPr b="1" i="0" u="none" dirty="0" err="1">
                <a:solidFill>
                  <a:srgbClr val="166534"/>
                </a:solidFill>
                <a:latin typeface="Plus Jakarta Sans"/>
              </a:rPr>
              <a:t>Supabase</a:t>
            </a:r>
            <a:r>
              <a:rPr b="1" i="0" u="none" dirty="0">
                <a:solidFill>
                  <a:srgbClr val="166534"/>
                </a:solidFill>
                <a:latin typeface="Plus Jakarta Sans"/>
              </a:rPr>
              <a:t>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339" y="2712989"/>
            <a:ext cx="502958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9A3412"/>
                </a:solidFill>
                <a:latin typeface="Plus Jakarta Sans"/>
              </a:rPr>
              <a:t>Karakter</a:t>
            </a:r>
            <a:r>
              <a:rPr b="1" i="0" u="none" dirty="0">
                <a:solidFill>
                  <a:srgbClr val="9A3412"/>
                </a:solidFill>
                <a:latin typeface="Plus Jakarta Sans"/>
              </a:rPr>
              <a:t>: </a:t>
            </a:r>
            <a:r>
              <a:rPr b="1" i="0" u="none" dirty="0" err="1">
                <a:solidFill>
                  <a:srgbClr val="9A3412"/>
                </a:solidFill>
                <a:latin typeface="Plus Jakarta Sans"/>
              </a:rPr>
              <a:t>Konten</a:t>
            </a:r>
            <a:r>
              <a:rPr b="1" i="0" u="none" dirty="0">
                <a:solidFill>
                  <a:srgbClr val="9A3412"/>
                </a:solidFill>
                <a:latin typeface="Plus Jakarta Sans"/>
              </a:rPr>
              <a:t> statis, </a:t>
            </a:r>
            <a:r>
              <a:rPr b="1" i="0" u="none" dirty="0" err="1">
                <a:solidFill>
                  <a:srgbClr val="9A3412"/>
                </a:solidFill>
                <a:latin typeface="Plus Jakarta Sans"/>
              </a:rPr>
              <a:t>tanpa</a:t>
            </a:r>
            <a:r>
              <a:rPr b="1" i="0" u="none" dirty="0">
                <a:solidFill>
                  <a:srgbClr val="9A3412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9A3412"/>
                </a:solidFill>
                <a:latin typeface="Plus Jakarta Sans"/>
              </a:rPr>
              <a:t>grafik</a:t>
            </a:r>
            <a:r>
              <a:rPr b="1" i="0" u="none" dirty="0">
                <a:solidFill>
                  <a:srgbClr val="9A3412"/>
                </a:solidFill>
                <a:latin typeface="Plus Jakarta Sans"/>
              </a:rPr>
              <a:t>, </a:t>
            </a:r>
            <a:r>
              <a:rPr b="1" i="0" u="none" dirty="0" err="1">
                <a:solidFill>
                  <a:srgbClr val="9A3412"/>
                </a:solidFill>
                <a:latin typeface="Plus Jakarta Sans"/>
              </a:rPr>
              <a:t>tanpa</a:t>
            </a:r>
            <a:r>
              <a:rPr b="1" i="0" u="none" dirty="0">
                <a:solidFill>
                  <a:srgbClr val="9A3412"/>
                </a:solidFill>
                <a:latin typeface="Plus Jakarta Sans"/>
              </a:rPr>
              <a:t> API </a:t>
            </a:r>
            <a:r>
              <a:rPr b="1" i="0" u="none" dirty="0" err="1">
                <a:solidFill>
                  <a:srgbClr val="9A3412"/>
                </a:solidFill>
                <a:latin typeface="Plus Jakarta Sans"/>
              </a:rPr>
              <a:t>berat</a:t>
            </a:r>
            <a:endParaRPr b="1" i="0" u="none" dirty="0">
              <a:solidFill>
                <a:srgbClr val="9A3412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6292" y="2387017"/>
            <a:ext cx="25301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14532D"/>
                </a:solidFill>
                <a:latin typeface="Plus Jakarta Sans"/>
              </a:rPr>
              <a:t>Aplikasi</a:t>
            </a:r>
            <a:r>
              <a:rPr b="1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14532D"/>
                </a:solidFill>
                <a:latin typeface="Plus Jakarta Sans"/>
              </a:rPr>
              <a:t>Kompleks</a:t>
            </a:r>
            <a:r>
              <a:rPr b="1" i="0" u="none" dirty="0">
                <a:solidFill>
                  <a:srgbClr val="14532D"/>
                </a:solidFill>
                <a:latin typeface="Plus Jakarta Sans"/>
              </a:rPr>
              <a:t> (SIMTA)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492" y="3025192"/>
            <a:ext cx="392274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4532D"/>
                </a:solidFill>
                <a:latin typeface="Plus Jakarta Sans"/>
              </a:rPr>
              <a:t>Skor Lighthouse:</a:t>
            </a:r>
            <a:r>
              <a:rPr b="0" i="0" u="none" dirty="0">
                <a:solidFill>
                  <a:srgbClr val="14532D"/>
                </a:solidFill>
                <a:latin typeface="Plus Jakarta Sans"/>
              </a:rPr>
              <a:t> Naik </a:t>
            </a:r>
            <a:r>
              <a:rPr b="0" i="0" u="none" dirty="0" err="1">
                <a:solidFill>
                  <a:srgbClr val="14532D"/>
                </a:solidFill>
                <a:latin typeface="Plus Jakarta Sans"/>
              </a:rPr>
              <a:t>signifikan</a:t>
            </a:r>
            <a:r>
              <a:rPr b="0" i="0" u="none" dirty="0">
                <a:solidFill>
                  <a:srgbClr val="14532D"/>
                </a:solidFill>
                <a:latin typeface="Plus Jakarta Sans"/>
              </a:rPr>
              <a:t> (+32,0%).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492" y="3282367"/>
            <a:ext cx="367273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4532D"/>
                </a:solidFill>
                <a:latin typeface="Plus Jakarta Sans"/>
              </a:rPr>
              <a:t>Initial Load:</a:t>
            </a:r>
            <a:r>
              <a:rPr b="0" i="0" u="none" dirty="0">
                <a:solidFill>
                  <a:srgbClr val="14532D"/>
                </a:solidFill>
                <a:latin typeface="Plus Jakarta Sans"/>
              </a:rPr>
              <a:t> FCP &amp; LCP </a:t>
            </a:r>
            <a:r>
              <a:rPr b="0" i="0" u="none" dirty="0" err="1">
                <a:solidFill>
                  <a:srgbClr val="14532D"/>
                </a:solidFill>
                <a:latin typeface="Plus Jakarta Sans"/>
              </a:rPr>
              <a:t>membaik</a:t>
            </a:r>
            <a:r>
              <a:rPr b="0" i="0" u="none" dirty="0">
                <a:solidFill>
                  <a:srgbClr val="14532D"/>
                </a:solidFill>
                <a:latin typeface="Plus Jakarta Sans"/>
              </a:rPr>
              <a:t> &gt;27%.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492" y="3539542"/>
            <a:ext cx="442287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4532D"/>
                </a:solidFill>
                <a:latin typeface="Plus Jakarta Sans"/>
              </a:rPr>
              <a:t>Main Thread:</a:t>
            </a:r>
            <a:r>
              <a:rPr b="0" i="0" u="none" dirty="0">
                <a:solidFill>
                  <a:srgbClr val="14532D"/>
                </a:solidFill>
                <a:latin typeface="Plus Jakarta Sans"/>
              </a:rPr>
              <a:t> TBT </a:t>
            </a:r>
            <a:r>
              <a:rPr b="0" i="0" u="none" dirty="0" err="1">
                <a:solidFill>
                  <a:srgbClr val="14532D"/>
                </a:solidFill>
                <a:latin typeface="Plus Jakarta Sans"/>
              </a:rPr>
              <a:t>turun</a:t>
            </a:r>
            <a:r>
              <a:rPr b="0" i="0" u="none" dirty="0">
                <a:solidFill>
                  <a:srgbClr val="14532D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14532D"/>
                </a:solidFill>
                <a:latin typeface="Plus Jakarta Sans"/>
              </a:rPr>
              <a:t>drastis</a:t>
            </a:r>
            <a:r>
              <a:rPr b="0" i="0" u="none" dirty="0">
                <a:solidFill>
                  <a:srgbClr val="14532D"/>
                </a:solidFill>
                <a:latin typeface="Plus Jakarta Sans"/>
              </a:rPr>
              <a:t> (</a:t>
            </a:r>
            <a:r>
              <a:rPr b="0" i="0" u="none" dirty="0" err="1">
                <a:solidFill>
                  <a:srgbClr val="14532D"/>
                </a:solidFill>
                <a:latin typeface="Plus Jakarta Sans"/>
              </a:rPr>
              <a:t>hingga</a:t>
            </a:r>
            <a:r>
              <a:rPr b="0" i="0" u="none" dirty="0">
                <a:solidFill>
                  <a:srgbClr val="14532D"/>
                </a:solidFill>
                <a:latin typeface="Plus Jakarta Sans"/>
              </a:rPr>
              <a:t> 30,6%).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492" y="3796717"/>
            <a:ext cx="351391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14532D"/>
                </a:solidFill>
                <a:latin typeface="Plus Jakarta Sans"/>
              </a:rPr>
              <a:t>Kesimpulan:</a:t>
            </a:r>
            <a:r>
              <a:rPr b="0" i="0" u="none" dirty="0">
                <a:solidFill>
                  <a:srgbClr val="14532D"/>
                </a:solidFill>
                <a:latin typeface="Plus Jakarta Sans"/>
              </a:rPr>
              <a:t> Wajib </a:t>
            </a:r>
            <a:r>
              <a:rPr b="0" i="0" u="none" dirty="0" err="1">
                <a:solidFill>
                  <a:srgbClr val="14532D"/>
                </a:solidFill>
                <a:latin typeface="Plus Jakarta Sans"/>
              </a:rPr>
              <a:t>dioptimasi</a:t>
            </a:r>
            <a:r>
              <a:rPr b="0" i="0" u="none" dirty="0">
                <a:solidFill>
                  <a:srgbClr val="14532D"/>
                </a:solidFill>
                <a:latin typeface="Plus Jakarta Sans"/>
              </a:rPr>
              <a:t> hybrid.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4579" y="2360901"/>
            <a:ext cx="400462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7C2D12"/>
                </a:solidFill>
                <a:latin typeface="Plus Jakarta Sans"/>
              </a:rPr>
              <a:t>Aplikasi Sederhana (Company Profile)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0339" y="2982350"/>
            <a:ext cx="384547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7C2D12"/>
                </a:solidFill>
                <a:latin typeface="Plus Jakarta Sans"/>
              </a:rPr>
              <a:t>Skor Lighthouse: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 Tetap </a:t>
            </a:r>
            <a:r>
              <a:rPr b="0" i="0" u="none" dirty="0" err="1">
                <a:solidFill>
                  <a:srgbClr val="7C2D12"/>
                </a:solidFill>
                <a:latin typeface="Plus Jakarta Sans"/>
              </a:rPr>
              <a:t>stabil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 (100 → 99).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6313" y="3223018"/>
            <a:ext cx="468115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7C2D12"/>
                </a:solidFill>
                <a:latin typeface="Plus Jakarta Sans"/>
              </a:rPr>
              <a:t>Initial Load: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 FCP/LCP </a:t>
            </a:r>
            <a:r>
              <a:rPr b="0" i="0" u="none" dirty="0" err="1">
                <a:solidFill>
                  <a:srgbClr val="7C2D12"/>
                </a:solidFill>
                <a:latin typeface="Plus Jakarta Sans"/>
              </a:rPr>
              <a:t>sedikit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7C2D12"/>
                </a:solidFill>
                <a:latin typeface="Plus Jakarta Sans"/>
              </a:rPr>
              <a:t>melambat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 (+15-18%).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6313" y="3442093"/>
            <a:ext cx="433381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7C2D12"/>
                </a:solidFill>
                <a:latin typeface="Plus Jakarta Sans"/>
              </a:rPr>
              <a:t>Penyebab</a:t>
            </a:r>
            <a:r>
              <a:rPr b="1" i="0" u="none" dirty="0">
                <a:solidFill>
                  <a:srgbClr val="7C2D12"/>
                </a:solidFill>
                <a:latin typeface="Plus Jakarta Sans"/>
              </a:rPr>
              <a:t>: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 Overhead request HTTP per chunk.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6313" y="3678041"/>
            <a:ext cx="411067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7C2D12"/>
                </a:solidFill>
                <a:latin typeface="Plus Jakarta Sans"/>
              </a:rPr>
              <a:t>Kesimpulan: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7C2D12"/>
                </a:solidFill>
                <a:latin typeface="Plus Jakarta Sans"/>
              </a:rPr>
              <a:t>Cukup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 eager bundle </a:t>
            </a:r>
            <a:r>
              <a:rPr b="0" i="0" u="none" dirty="0" err="1">
                <a:solidFill>
                  <a:srgbClr val="7C2D12"/>
                </a:solidFill>
                <a:latin typeface="Plus Jakarta Sans"/>
              </a:rPr>
              <a:t>monolitik</a:t>
            </a:r>
            <a:r>
              <a:rPr b="0" i="0" u="none" dirty="0">
                <a:solidFill>
                  <a:srgbClr val="7C2D12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10952"/>
            <a:ext cx="3505200" cy="1859756"/>
          </a:xfrm>
          <a:prstGeom prst="roundRect">
            <a:avLst>
              <a:gd name="adj" fmla="val 614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807368"/>
            <a:ext cx="3505200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807368"/>
            <a:ext cx="3505200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2215752"/>
            <a:ext cx="2476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575" y="2112168"/>
            <a:ext cx="3143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375" y="2112168"/>
            <a:ext cx="2476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910954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Plus Jakarta Sans"/>
              </a:rPr>
              <a:t>REKOMENDASI MANAJERIAL &amp; TEKNIS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55015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Panduan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Penerapan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Optimasi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pada </a:t>
            </a:r>
            <a:r>
              <a:rPr sz="2250" b="1" i="0" u="none" dirty="0" err="1">
                <a:solidFill>
                  <a:srgbClr val="0F172A"/>
                </a:solidFill>
                <a:latin typeface="Plus Jakarta Sans"/>
              </a:rPr>
              <a:t>Ekosistem</a:t>
            </a:r>
            <a:r>
              <a:rPr sz="2250" b="1" i="0" u="none" dirty="0">
                <a:solidFill>
                  <a:srgbClr val="0F172A"/>
                </a:solidFill>
                <a:latin typeface="Plus Jakarta Sans"/>
              </a:rPr>
              <a:t> Vue /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1072" y="2203538"/>
            <a:ext cx="209878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Ambang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 Batas Bundle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623715"/>
            <a:ext cx="3086100" cy="1035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Terapkan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Code Splitting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hanya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bila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bundle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monolitik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mentah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melebihi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200–300 KB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atau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memiliki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dependensi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visualisasi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besar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0432" y="2124041"/>
            <a:ext cx="266624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Pemisahan</a:t>
            </a:r>
            <a:r>
              <a:rPr b="1" i="0" u="none" dirty="0">
                <a:solidFill>
                  <a:srgbClr val="0F172A"/>
                </a:solidFill>
                <a:latin typeface="Plus Jakarta Sans"/>
              </a:rPr>
              <a:t> Vendor Modular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2950" y="2578674"/>
            <a:ext cx="3086100" cy="1035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Gunakan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`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manualChunks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`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untuk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memisahkan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pustaka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pihak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ketiga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agar browser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dapat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mengunduh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secara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paralel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dan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memaksimalkan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cache.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8337" y="2112168"/>
            <a:ext cx="15649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"/>
              </a:rPr>
              <a:t>Prefetch </a:t>
            </a:r>
            <a:r>
              <a:rPr b="1" i="0" u="none" dirty="0" err="1">
                <a:solidFill>
                  <a:srgbClr val="0F172A"/>
                </a:solidFill>
                <a:latin typeface="Plus Jakarta Sans"/>
              </a:rPr>
              <a:t>Selektif</a:t>
            </a:r>
            <a:endParaRPr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86750" y="2508381"/>
            <a:ext cx="3086100" cy="1035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Jangan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biarkan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lazy loading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murni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menimbulkan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jeda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klik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navigasi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; pasang `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requestIdleCallback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`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untuk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memuat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rute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475569"/>
                </a:solidFill>
                <a:latin typeface="Plus Jakarta Sans"/>
              </a:rPr>
              <a:t>terprediksi</a:t>
            </a:r>
            <a:r>
              <a:rPr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09962" y="3536156"/>
            <a:ext cx="5172075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509962" y="3536156"/>
            <a:ext cx="51720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016793"/>
            <a:ext cx="57150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1169193"/>
            <a:ext cx="23812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07976" y="1816893"/>
            <a:ext cx="8376046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 dirty="0" err="1">
                <a:solidFill>
                  <a:srgbClr val="FFFFFF"/>
                </a:solidFill>
                <a:latin typeface="Plus Jakarta Sans"/>
              </a:rPr>
              <a:t>Terima</a:t>
            </a:r>
            <a:r>
              <a:rPr sz="2850" b="1" i="0" u="none" dirty="0">
                <a:solidFill>
                  <a:srgbClr val="FFFFFF"/>
                </a:solidFill>
                <a:latin typeface="Plus Jakarta Sans"/>
              </a:rPr>
              <a:t> Kasih </a:t>
            </a:r>
            <a:r>
              <a:rPr sz="2850" b="1" i="0" u="none" dirty="0" err="1">
                <a:solidFill>
                  <a:srgbClr val="FFFFFF"/>
                </a:solidFill>
                <a:latin typeface="Plus Jakarta Sans"/>
              </a:rPr>
              <a:t>atas</a:t>
            </a:r>
            <a:r>
              <a:rPr sz="285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2850" b="1" i="0" u="none" dirty="0" err="1">
                <a:solidFill>
                  <a:srgbClr val="FFFFFF"/>
                </a:solidFill>
                <a:latin typeface="Plus Jakarta Sans"/>
              </a:rPr>
              <a:t>Masukan</a:t>
            </a:r>
            <a:r>
              <a:rPr sz="2850" b="1" i="0" u="none" dirty="0">
                <a:solidFill>
                  <a:srgbClr val="FFFFFF"/>
                </a:solidFill>
                <a:latin typeface="Plus Jakarta Sans"/>
              </a:rPr>
              <a:t> &amp; Arahan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2562" y="2416968"/>
            <a:ext cx="9286875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Seluruh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revisi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terkait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materi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Lazy Loading, Code Splitting,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justifikasi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parameter FCP, LCP, TBT, Bundle Size,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serta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kontribusi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ilmiah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telah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diakomodasi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secara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komprehensif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dalam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naskah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b="0" i="0" u="none" dirty="0" err="1">
                <a:solidFill>
                  <a:srgbClr val="94A3B8"/>
                </a:solidFill>
                <a:latin typeface="Plus Jakarta Sans"/>
              </a:rPr>
              <a:t>tesis</a:t>
            </a:r>
            <a:r>
              <a:rPr b="0" i="0" u="none" dirty="0">
                <a:solidFill>
                  <a:srgbClr val="94A3B8"/>
                </a:solidFill>
                <a:latin typeface="Plus Jakarta Sans"/>
              </a:rPr>
              <a:t> final.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8469" y="3983831"/>
            <a:ext cx="172803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F8FAFC"/>
                </a:solidFill>
                <a:latin typeface="Plus Jakarta Sans"/>
              </a:rPr>
              <a:t>Mustari Muhiddin</a:t>
            </a:r>
            <a:endParaRPr lang="en-US" b="1" i="0" u="none" dirty="0">
              <a:solidFill>
                <a:srgbClr val="F8FAFC"/>
              </a:solidFill>
              <a:latin typeface="Plus Jakarta Sans"/>
            </a:endParaRPr>
          </a:p>
          <a:p>
            <a:pPr algn="ctr"/>
            <a:r>
              <a:rPr b="1" i="0" u="none" dirty="0">
                <a:solidFill>
                  <a:srgbClr val="F8FAFC"/>
                </a:solidFill>
                <a:latin typeface="Plus Jakarta Sans"/>
              </a:rPr>
              <a:t> (D082241013)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3545" y="3774281"/>
            <a:ext cx="139095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64748B"/>
                </a:solidFill>
                <a:latin typeface="Plus Jakarta Sans"/>
              </a:rPr>
              <a:t>Program Studi: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937" y="4045356"/>
            <a:ext cx="333136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38BDF8"/>
                </a:solidFill>
                <a:latin typeface="Plus Jakarta Sans"/>
              </a:rPr>
              <a:t>Magister Teknik </a:t>
            </a:r>
            <a:r>
              <a:rPr b="1" i="0" u="none" dirty="0" err="1">
                <a:solidFill>
                  <a:srgbClr val="38BDF8"/>
                </a:solidFill>
                <a:latin typeface="Plus Jakarta Sans"/>
              </a:rPr>
              <a:t>Informatika</a:t>
            </a:r>
            <a:r>
              <a:rPr b="1" i="0" u="none" dirty="0">
                <a:solidFill>
                  <a:srgbClr val="38BDF8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38BDF8"/>
                </a:solidFill>
                <a:latin typeface="Plus Jakarta Sans"/>
              </a:rPr>
              <a:t>Unhas</a:t>
            </a:r>
            <a:endParaRPr b="1" i="0" u="none" dirty="0">
              <a:solidFill>
                <a:srgbClr val="38BDF8"/>
              </a:solidFill>
              <a:latin typeface="Plus Jakarta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816DF9-AF1A-E5A9-F94E-A12779BC03D9}"/>
              </a:ext>
            </a:extLst>
          </p:cNvPr>
          <p:cNvSpPr txBox="1"/>
          <p:nvPr/>
        </p:nvSpPr>
        <p:spPr>
          <a:xfrm>
            <a:off x="4287393" y="3726269"/>
            <a:ext cx="61074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dirty="0">
                <a:solidFill>
                  <a:srgbClr val="64748B"/>
                </a:solidFill>
                <a:latin typeface="Plus Jakarta Sans"/>
              </a:rPr>
              <a:t>Oleh : </a:t>
            </a:r>
            <a:endParaRPr b="0" i="0" u="none" dirty="0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1291</Words>
  <Application>Microsoft Office PowerPoint</Application>
  <PresentationFormat>Widescreen</PresentationFormat>
  <Paragraphs>149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Plus Jakarta Sans</vt:lpstr>
      <vt:lpstr>JetBrains Mono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Mustari Muhiddin</cp:lastModifiedBy>
  <cp:revision>2</cp:revision>
  <dcterms:created xsi:type="dcterms:W3CDTF">2013-01-27T09:14:16Z</dcterms:created>
  <dcterms:modified xsi:type="dcterms:W3CDTF">2026-09-21T22:07:50Z</dcterms:modified>
  <cp:category/>
</cp:coreProperties>
</file>