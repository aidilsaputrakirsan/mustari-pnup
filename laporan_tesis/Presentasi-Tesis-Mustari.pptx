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822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F3B4C"/>
                    </a:solidFill>
                    <a:latin typeface="Calibri"/>
                  </a:defRPr>
                </a:pPr>
                <a:endParaRPr lang="id-ID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SIMTA (Ideal)</c:v>
                </c:pt>
                <c:pt idx="1">
                  <c:v>SIMTA (Slow)</c:v>
                </c:pt>
                <c:pt idx="2">
                  <c:v>CP (Ideal)</c:v>
                </c:pt>
                <c:pt idx="3">
                  <c:v>CP (Slow)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1144</c:v>
                </c:pt>
                <c:pt idx="1">
                  <c:v>1523.2</c:v>
                </c:pt>
                <c:pt idx="2">
                  <c:v>367.2</c:v>
                </c:pt>
                <c:pt idx="3">
                  <c:v>373.6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79-47DC-8C35-FEC9040255F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Optimized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F3B4C"/>
                    </a:solidFill>
                    <a:latin typeface="Calibri"/>
                  </a:defRPr>
                </a:pPr>
                <a:endParaRPr lang="id-ID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SIMTA (Ideal)</c:v>
                </c:pt>
                <c:pt idx="1">
                  <c:v>SIMTA (Slow)</c:v>
                </c:pt>
                <c:pt idx="2">
                  <c:v>CP (Ideal)</c:v>
                </c:pt>
                <c:pt idx="3">
                  <c:v>CP (Slow)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881.6</c:v>
                </c:pt>
                <c:pt idx="1">
                  <c:v>1182.4000000000001</c:v>
                </c:pt>
                <c:pt idx="2">
                  <c:v>364</c:v>
                </c:pt>
                <c:pt idx="3">
                  <c:v>486.4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79-47DC-8C35-FEC9040255F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6B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2E0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72"/>
                    </a:solidFill>
                    <a:latin typeface="Arial"/>
                  </a:defRPr>
                </a:pPr>
                <a:r>
                  <a:rPr lang="id-ID" sz="1000" b="0" i="0" u="none" strike="noStrike">
                    <a:solidFill>
                      <a:srgbClr val="5B6B72"/>
                    </a:solidFill>
                    <a:latin typeface="Arial"/>
                  </a:rPr>
                  <a:t>FCP (ms)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0F3B4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F3B4C"/>
                    </a:solidFill>
                    <a:latin typeface="Calibri"/>
                  </a:defRPr>
                </a:pPr>
                <a:endParaRPr lang="id-ID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SIMTA (Ideal)</c:v>
                </c:pt>
                <c:pt idx="1">
                  <c:v>SIMTA (Slow)</c:v>
                </c:pt>
                <c:pt idx="2">
                  <c:v>CP (Ideal)</c:v>
                </c:pt>
                <c:pt idx="3">
                  <c:v>CP (Slow)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111.8</c:v>
                </c:pt>
                <c:pt idx="1">
                  <c:v>1023</c:v>
                </c:pt>
                <c:pt idx="2">
                  <c:v>0</c:v>
                </c:pt>
                <c:pt idx="3">
                  <c:v>143.19999999999999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18-4D2D-8C08-C72C8968656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Optimized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F3B4C"/>
                    </a:solidFill>
                    <a:latin typeface="Calibri"/>
                  </a:defRPr>
                </a:pPr>
                <a:endParaRPr lang="id-ID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SIMTA (Ideal)</c:v>
                </c:pt>
                <c:pt idx="1">
                  <c:v>SIMTA (Slow)</c:v>
                </c:pt>
                <c:pt idx="2">
                  <c:v>CP (Ideal)</c:v>
                </c:pt>
                <c:pt idx="3">
                  <c:v>CP (Slow)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137.19999999999999</c:v>
                </c:pt>
                <c:pt idx="1">
                  <c:v>790.8</c:v>
                </c:pt>
                <c:pt idx="2">
                  <c:v>0</c:v>
                </c:pt>
                <c:pt idx="3">
                  <c:v>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18-4D2D-8C08-C72C8968656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6B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2E0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72"/>
                    </a:solidFill>
                    <a:latin typeface="Arial"/>
                  </a:defRPr>
                </a:pPr>
                <a:r>
                  <a:rPr lang="id-ID" sz="1000" b="0" i="0" u="none" strike="noStrike">
                    <a:solidFill>
                      <a:srgbClr val="5B6B72"/>
                    </a:solidFill>
                    <a:latin typeface="Arial"/>
                  </a:rPr>
                  <a:t>TBT (ms)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0F3B4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8106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5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389120" cy="438912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3" name="Shape 1"/>
          <p:cNvSpPr/>
          <p:nvPr/>
        </p:nvSpPr>
        <p:spPr>
          <a:xfrm>
            <a:off x="10607040" y="4206240"/>
            <a:ext cx="3291840" cy="32918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4" name="Shape 2"/>
          <p:cNvSpPr/>
          <p:nvPr/>
        </p:nvSpPr>
        <p:spPr>
          <a:xfrm>
            <a:off x="-1188720" y="4663440"/>
            <a:ext cx="3108960" cy="31089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5" name="Shape 3"/>
          <p:cNvSpPr/>
          <p:nvPr/>
        </p:nvSpPr>
        <p:spPr>
          <a:xfrm>
            <a:off x="640080" y="77724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93268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8229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· MAGISTER TEKNIK INFORMATIKA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1874520"/>
            <a:ext cx="10332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Optimisasi Performa Aplikasi Web Single Page Application (SPA) Menggunakan Hybrid Lazy Loading dan Code Splitting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640080" y="361188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pada Framework Vue.js dengan Vite Build Tool Berdasarkan Tingkat Kompleksitas Aplikasi Web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080" y="4937760"/>
            <a:ext cx="5852160" cy="1234440"/>
          </a:xfrm>
          <a:prstGeom prst="roundRect">
            <a:avLst>
              <a:gd name="adj" fmla="val 5926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11" name="Text 8"/>
          <p:cNvSpPr/>
          <p:nvPr/>
        </p:nvSpPr>
        <p:spPr>
          <a:xfrm>
            <a:off x="914400" y="5074920"/>
            <a:ext cx="5486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Mustari Muhiddin
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D082241013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675120" y="507492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Studi Magister Teknik Informatika
</a:t>
            </a:r>
            <a:r>
              <a:rPr lang="en-US" sz="1250" dirty="0">
                <a:solidFill>
                  <a:srgbClr val="9F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Fakultas Teknik · Universitas Hasanuddin ·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70408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 · PENDAHULUAN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Latar Belakang Masalah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6309360" cy="1371600"/>
          </a:xfrm>
          <a:prstGeom prst="roundRect">
            <a:avLst>
              <a:gd name="adj" fmla="val 4000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7" name="Shape 4"/>
          <p:cNvSpPr/>
          <p:nvPr/>
        </p:nvSpPr>
        <p:spPr>
          <a:xfrm>
            <a:off x="841248" y="207568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2212848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1837944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kini arsitektur dominan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1600200" y="2167128"/>
            <a:ext cx="521208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memuat satu HTML lalu memperbarui tampilan tanpa reload penuh — pengalaman mirip aplikasi desktop, menggantikan MPA yang memuat ulang seluruh halaman.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40080" y="3172968"/>
            <a:ext cx="6309360" cy="1371600"/>
          </a:xfrm>
          <a:prstGeom prst="roundRect">
            <a:avLst>
              <a:gd name="adj" fmla="val 4000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2" name="Shape 8"/>
          <p:cNvSpPr/>
          <p:nvPr/>
        </p:nvSpPr>
        <p:spPr>
          <a:xfrm>
            <a:off x="841248" y="35570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" y="3694176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00200" y="331927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Kompleksitas menaikkan ukuran bundle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1600200" y="3648456"/>
            <a:ext cx="521208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kompleks menggabungkan seluruh kode ke satu file besar (monolithic build). Bundle SIMTA melebihi 300 KB — memberatkan pemuatan awal.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40080" y="4654296"/>
            <a:ext cx="6309360" cy="1371600"/>
          </a:xfrm>
          <a:prstGeom prst="roundRect">
            <a:avLst>
              <a:gd name="adj" fmla="val 4000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7" name="Shape 12"/>
          <p:cNvSpPr/>
          <p:nvPr/>
        </p:nvSpPr>
        <p:spPr>
          <a:xfrm>
            <a:off x="841248" y="5038344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408" y="5175504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00200" y="4800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besar menurunkan performa</a:t>
            </a:r>
            <a:endParaRPr lang="en-US" sz="1450" dirty="0"/>
          </a:p>
        </p:txBody>
      </p:sp>
      <p:sp>
        <p:nvSpPr>
          <p:cNvPr id="20" name="Text 14"/>
          <p:cNvSpPr/>
          <p:nvPr/>
        </p:nvSpPr>
        <p:spPr>
          <a:xfrm>
            <a:off x="1600200" y="5129784"/>
            <a:ext cx="521208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single-threaded harus mengunduh, parsing, dan eksekusi kode besar sekaligus — menaikkan FCP/LCP/TBT dan bounce rate.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7360920" y="1691640"/>
            <a:ext cx="4206240" cy="4370832"/>
          </a:xfrm>
          <a:prstGeom prst="roundRect">
            <a:avLst>
              <a:gd name="adj" fmla="val 1304"/>
            </a:avLst>
          </a:prstGeom>
          <a:solidFill>
            <a:srgbClr val="EEF4F6"/>
          </a:solidFill>
          <a:ln w="15875">
            <a:solidFill>
              <a:srgbClr val="1C7293"/>
            </a:solidFill>
            <a:prstDash val="dash"/>
          </a:ln>
        </p:spPr>
        <p:txBody>
          <a:bodyPr/>
          <a:lstStyle/>
          <a:p>
            <a:endParaRPr lang="id-ID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08008" y="3374136"/>
            <a:ext cx="512064" cy="51206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543800" y="3922776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1.1 — Perbandingan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MPA vs SPA</a:t>
            </a:r>
            <a:endParaRPr lang="en-US" sz="1250" dirty="0"/>
          </a:p>
        </p:txBody>
      </p:sp>
      <p:sp>
        <p:nvSpPr>
          <p:cNvPr id="24" name="Text 17"/>
          <p:cNvSpPr/>
          <p:nvPr/>
        </p:nvSpPr>
        <p:spPr>
          <a:xfrm>
            <a:off x="112315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28342FD-AD0F-B822-DBE1-F1024AEC1E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1337" y="1563624"/>
            <a:ext cx="4906921" cy="45445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70408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 · PENDAHULUAN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Rumusan Masalah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175504" cy="2011680"/>
          </a:xfrm>
          <a:prstGeom prst="roundRect">
            <a:avLst>
              <a:gd name="adj" fmla="val 3182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7" name="Text 4"/>
          <p:cNvSpPr/>
          <p:nvPr/>
        </p:nvSpPr>
        <p:spPr>
          <a:xfrm>
            <a:off x="896112" y="200253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1874520" y="2039112"/>
            <a:ext cx="3703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pengaruh hybrid lazy loading &amp; code splitting terhadap metrik performa (FCP, LCP, TBT, bundle size) pada aplikasi kompleksitas TINGGI (SIMTA)?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73368" y="1783080"/>
            <a:ext cx="5175504" cy="2011680"/>
          </a:xfrm>
          <a:prstGeom prst="roundRect">
            <a:avLst>
              <a:gd name="adj" fmla="val 3182"/>
            </a:avLst>
          </a:prstGeom>
          <a:solidFill>
            <a:srgbClr val="E1EDF1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0" name="Text 7"/>
          <p:cNvSpPr/>
          <p:nvPr/>
        </p:nvSpPr>
        <p:spPr>
          <a:xfrm>
            <a:off x="6629400" y="200253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7607808" y="2039112"/>
            <a:ext cx="3703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pengaruhnya pada aplikasi kompleksitas RENDAH (Company Profile)?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40080" y="3977640"/>
            <a:ext cx="5175504" cy="2011680"/>
          </a:xfrm>
          <a:prstGeom prst="roundRect">
            <a:avLst>
              <a:gd name="adj" fmla="val 3182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3" name="Text 10"/>
          <p:cNvSpPr/>
          <p:nvPr/>
        </p:nvSpPr>
        <p:spPr>
          <a:xfrm>
            <a:off x="896112" y="419709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1874520" y="4233672"/>
            <a:ext cx="3703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perbedaan efektivitas strategi antara aplikasi kompleksitas tinggi dan rendah?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373368" y="3977640"/>
            <a:ext cx="5175504" cy="2011680"/>
          </a:xfrm>
          <a:prstGeom prst="roundRect">
            <a:avLst>
              <a:gd name="adj" fmla="val 3182"/>
            </a:avLst>
          </a:prstGeom>
          <a:solidFill>
            <a:srgbClr val="E1EDF1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6" name="Text 13"/>
          <p:cNvSpPr/>
          <p:nvPr/>
        </p:nvSpPr>
        <p:spPr>
          <a:xfrm>
            <a:off x="6629400" y="419709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7" name="Text 14"/>
          <p:cNvSpPr/>
          <p:nvPr/>
        </p:nvSpPr>
        <p:spPr>
          <a:xfrm>
            <a:off x="7607808" y="4233672"/>
            <a:ext cx="3703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rekomendasi strategi optimasi yang sesuai berdasarkan tingkat kompleksitas aplikasi web?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112315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70408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 · PENDAHULUAN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Tujuan &amp; Batasan Penelitian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37360"/>
            <a:ext cx="5257800" cy="4343400"/>
          </a:xfrm>
          <a:prstGeom prst="roundRect">
            <a:avLst>
              <a:gd name="adj" fmla="val 1474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7" name="Shape 4"/>
          <p:cNvSpPr/>
          <p:nvPr/>
        </p:nvSpPr>
        <p:spPr>
          <a:xfrm>
            <a:off x="914400" y="20116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" y="2130552"/>
            <a:ext cx="265176" cy="2651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199339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Tujuan Penelitian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960120" y="2651760"/>
            <a:ext cx="461772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Menganalisis pengaruh optimasi pada aplikasi kompleksitas tinggi (SIMTA) — memisahkan pustaka besar (Chart.js, Pinia).</a:t>
            </a:r>
            <a:endParaRPr lang="en-US" sz="1250" dirty="0"/>
          </a:p>
          <a:p>
            <a:pPr marL="177800" indent="-1778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Menganalisis pengaruhnya pada aplikasi kompleksitas rendah (Company Profile).</a:t>
            </a:r>
            <a:endParaRPr lang="en-US" sz="1250" dirty="0"/>
          </a:p>
          <a:p>
            <a:pPr marL="177800" indent="-1778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Membandingkan efektivitas strategi antar kedua tingkat kompleksitas.</a:t>
            </a:r>
            <a:endParaRPr lang="en-US" sz="1250" dirty="0"/>
          </a:p>
          <a:p>
            <a:pPr marL="177800" indent="-1778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Merumuskan rekomendasi strategi optimasi berbasis tingkat kompleksitas.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263640" y="1737360"/>
            <a:ext cx="5285232" cy="4343400"/>
          </a:xfrm>
          <a:prstGeom prst="roundRect">
            <a:avLst>
              <a:gd name="adj" fmla="val 1474"/>
            </a:avLst>
          </a:prstGeom>
          <a:solidFill>
            <a:srgbClr val="E1EDF1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2" name="Shape 8"/>
          <p:cNvSpPr/>
          <p:nvPr/>
        </p:nvSpPr>
        <p:spPr>
          <a:xfrm>
            <a:off x="6537960" y="20116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6832" y="2130552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178040" y="199339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Batasan Penelitian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6583680" y="2651760"/>
            <a:ext cx="47091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Vue.js 3.x (Composition API) + Vite build tool.</a:t>
            </a:r>
            <a:endParaRPr lang="en-US" sz="115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objek uji: SIMTA (kompleks) &amp; Company Profile (sederhana).</a:t>
            </a:r>
            <a:endParaRPr lang="en-US" sz="115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Teknik: route/component lazy loading, dynamic import, code splitting, prefetching.</a:t>
            </a:r>
            <a:endParaRPr lang="en-US" sz="115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Metrik: FCP, LCP, TBT, Load Time, JS Heap, Lighthouse Score, TTI, Bundle Size.</a:t>
            </a:r>
            <a:endParaRPr lang="en-US" sz="115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Alat: PerformanceObserver + Lighthouse via Puppeteer, CPU throttling 4x di localhost.</a:t>
            </a:r>
            <a:endParaRPr lang="en-US" sz="115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mencakup SSR, PWA, dan optimasi backend/database.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112315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70408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 · PENDAHULUAN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Tinjauan Pustaka &amp; Gap Penelitian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6446520" cy="932688"/>
          </a:xfrm>
          <a:prstGeom prst="roundRect">
            <a:avLst>
              <a:gd name="adj" fmla="val 4902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7" name="Text 4"/>
          <p:cNvSpPr/>
          <p:nvPr/>
        </p:nvSpPr>
        <p:spPr>
          <a:xfrm>
            <a:off x="868680" y="1892808"/>
            <a:ext cx="6035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Kowalczyk &amp; Szandała (2024)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68680" y="220370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&amp; visibilitas SPA vs MPA — fokus indexing, bukan performa.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40080" y="2825496"/>
            <a:ext cx="6446520" cy="932688"/>
          </a:xfrm>
          <a:prstGeom prst="roundRect">
            <a:avLst>
              <a:gd name="adj" fmla="val 4902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0" name="Text 7"/>
          <p:cNvSpPr/>
          <p:nvPr/>
        </p:nvSpPr>
        <p:spPr>
          <a:xfrm>
            <a:off x="868680" y="2935224"/>
            <a:ext cx="6035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Bara, Boiangiu &amp; Tudose (2024)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68680" y="32461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 loading memperbaiki FCP/LCP; tanpa code splitting &amp; tanpa kompleksitas.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" y="3867912"/>
            <a:ext cx="6446520" cy="932688"/>
          </a:xfrm>
          <a:prstGeom prst="roundRect">
            <a:avLst>
              <a:gd name="adj" fmla="val 4902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3" name="Text 10"/>
          <p:cNvSpPr/>
          <p:nvPr/>
        </p:nvSpPr>
        <p:spPr>
          <a:xfrm>
            <a:off x="868680" y="3977640"/>
            <a:ext cx="6035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Kumar, Singh &amp; Sharma (2024)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68680" y="428853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 loading + code splitting turunkan load time ±40%; bersifat umum.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0080" y="4910328"/>
            <a:ext cx="6446520" cy="932688"/>
          </a:xfrm>
          <a:prstGeom prst="roundRect">
            <a:avLst>
              <a:gd name="adj" fmla="val 4902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6" name="Text 13"/>
          <p:cNvSpPr/>
          <p:nvPr/>
        </p:nvSpPr>
        <p:spPr>
          <a:xfrm>
            <a:off x="868680" y="5020056"/>
            <a:ext cx="6035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Setiawan &amp; Fauzi (2025)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868680" y="533095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Komparatif via Lighthouse saja; tanpa uji kompleksitas &amp; CPU throttling.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452360" y="1783080"/>
            <a:ext cx="4114800" cy="4279392"/>
          </a:xfrm>
          <a:prstGeom prst="roundRect">
            <a:avLst>
              <a:gd name="adj" fmla="val 1778"/>
            </a:avLst>
          </a:prstGeom>
          <a:solidFill>
            <a:srgbClr val="0F3B4C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19" name="Shape 16"/>
          <p:cNvSpPr/>
          <p:nvPr/>
        </p:nvSpPr>
        <p:spPr>
          <a:xfrm>
            <a:off x="7726680" y="205740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4696" y="2185416"/>
            <a:ext cx="292608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366760" y="2048256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 Penelitian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7726680" y="278892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ada penelitian komprehensif yang mengkaji hybrid lazy loading &amp; code splitting pada Vue.js + Vite dengan tingkat kompleksitas aplikasi sebagai faktor penentu strategi.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7726680" y="4434840"/>
            <a:ext cx="3611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Kontribusi studi ini:
</a:t>
            </a:r>
            <a:r>
              <a:rPr lang="en-US" sz="1150" dirty="0">
                <a:solidFill>
                  <a:srgbClr val="9F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Membandingkan dua kompleksitas ekstrem, memakai PerformanceObserver + Lighthouse, dan menguji pada CPU throttling.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112315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70408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 · LANDASAN TEORI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Fondasi Teknologi: SPA, Vue.js &amp; Vite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7863840" y="475488"/>
            <a:ext cx="3429000" cy="1956816"/>
          </a:xfrm>
          <a:prstGeom prst="roundRect">
            <a:avLst>
              <a:gd name="adj" fmla="val 2745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7" name="Shape 4"/>
          <p:cNvSpPr/>
          <p:nvPr/>
        </p:nvSpPr>
        <p:spPr>
          <a:xfrm>
            <a:off x="8119872" y="50292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640080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119872" y="11887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 &amp; Virtual DOM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8119872" y="164592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Vue.js membuat Virtual DOM baru, membandingkannya dengan yang lama (diffing), lalu memperbarui hanya node yang berubah — jauh lebih efisien.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863840" y="2478025"/>
            <a:ext cx="3429000" cy="1947672"/>
          </a:xfrm>
          <a:prstGeom prst="roundRect">
            <a:avLst>
              <a:gd name="adj" fmla="val 2745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2" name="Shape 8"/>
          <p:cNvSpPr/>
          <p:nvPr/>
        </p:nvSpPr>
        <p:spPr>
          <a:xfrm>
            <a:off x="8119872" y="2551177"/>
            <a:ext cx="566928" cy="511347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2688337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19872" y="3236977"/>
            <a:ext cx="2926080" cy="41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Vue.js 3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8119872" y="3694177"/>
            <a:ext cx="2971800" cy="7835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framework dengan Composition API &amp; reactivity berbasis ES6 Proxy: rendering lebih cepat, memory footprint &amp; bundle lebih kecil.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7863840" y="4470521"/>
            <a:ext cx="3429000" cy="1993392"/>
          </a:xfrm>
          <a:prstGeom prst="roundRect">
            <a:avLst>
              <a:gd name="adj" fmla="val 2745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7" name="Shape 12"/>
          <p:cNvSpPr/>
          <p:nvPr/>
        </p:nvSpPr>
        <p:spPr>
          <a:xfrm>
            <a:off x="8119872" y="4552817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4689977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119872" y="5238617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 Build Tool</a:t>
            </a:r>
            <a:endParaRPr lang="en-US" sz="1550" dirty="0"/>
          </a:p>
        </p:txBody>
      </p:sp>
      <p:sp>
        <p:nvSpPr>
          <p:cNvPr id="20" name="Text 14"/>
          <p:cNvSpPr/>
          <p:nvPr/>
        </p:nvSpPr>
        <p:spPr>
          <a:xfrm>
            <a:off x="8119872" y="5695817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Memakai native ES modules &amp; Rollup untuk production — code splitting berbasis dynamic import dan vendor chunk separation secara default.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-553212" y="5374882"/>
            <a:ext cx="4613148" cy="4169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2.1 — Mekanisme diffing Virtual DOM</a:t>
            </a:r>
            <a:endParaRPr lang="en-US" sz="1250" dirty="0"/>
          </a:p>
        </p:txBody>
      </p:sp>
      <p:sp>
        <p:nvSpPr>
          <p:cNvPr id="26" name="Text 18"/>
          <p:cNvSpPr/>
          <p:nvPr/>
        </p:nvSpPr>
        <p:spPr>
          <a:xfrm>
            <a:off x="3069641" y="5754407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2.5 — Aliran data asinkron SIMTA</a:t>
            </a:r>
            <a:endParaRPr lang="en-US" sz="1250" dirty="0"/>
          </a:p>
        </p:txBody>
      </p:sp>
      <p:sp>
        <p:nvSpPr>
          <p:cNvPr id="27" name="Text 19"/>
          <p:cNvSpPr/>
          <p:nvPr/>
        </p:nvSpPr>
        <p:spPr>
          <a:xfrm>
            <a:off x="112315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05DAC48-34F4-8E51-5D82-15FDACD018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9120" y="1660554"/>
            <a:ext cx="2575748" cy="364664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6008420-27AD-9C7E-A8A0-D09E236CCD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02087" y="1609817"/>
            <a:ext cx="4560271" cy="414459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DC19ADB2-D858-0791-06B5-CD3D39C6E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6071" y="211899"/>
            <a:ext cx="4132425" cy="5649162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640080" y="56692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70408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 · LANDASAN TEORI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Bagaimana Browser Memproses JavaScript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2465401" y="1339596"/>
            <a:ext cx="2542032" cy="1088136"/>
          </a:xfrm>
          <a:prstGeom prst="roundRect">
            <a:avLst>
              <a:gd name="adj" fmla="val 3243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7" name="Text 4"/>
          <p:cNvSpPr/>
          <p:nvPr/>
        </p:nvSpPr>
        <p:spPr>
          <a:xfrm>
            <a:off x="2648281" y="1339596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3242641" y="139446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666569" y="1961388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Mengunduh file JS via HTTP request.</a:t>
            </a:r>
            <a:endParaRPr lang="en-US" sz="10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608401" y="2395728"/>
            <a:ext cx="256032" cy="25603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88261" y="2624328"/>
            <a:ext cx="2542032" cy="978408"/>
          </a:xfrm>
          <a:prstGeom prst="roundRect">
            <a:avLst>
              <a:gd name="adj" fmla="val 3243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2" name="Text 8"/>
          <p:cNvSpPr/>
          <p:nvPr/>
        </p:nvSpPr>
        <p:spPr>
          <a:xfrm>
            <a:off x="2671141" y="2569464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3265501" y="2624328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→ AST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689429" y="3191256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Membaca kode → Abstract Syntax Tree. Menyita Main Thread.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2488261" y="3803904"/>
            <a:ext cx="2542032" cy="1019556"/>
          </a:xfrm>
          <a:prstGeom prst="roundRect">
            <a:avLst>
              <a:gd name="adj" fmla="val 3243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7" name="Text 12"/>
          <p:cNvSpPr/>
          <p:nvPr/>
        </p:nvSpPr>
        <p:spPr>
          <a:xfrm>
            <a:off x="2671141" y="37490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3"/>
          <p:cNvSpPr/>
          <p:nvPr/>
        </p:nvSpPr>
        <p:spPr>
          <a:xfrm>
            <a:off x="3265501" y="3803904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Compilation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2689429" y="4370832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diubah menjadi instruksi prosesor (V8).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2488261" y="4978908"/>
            <a:ext cx="2542032" cy="1133856"/>
          </a:xfrm>
          <a:prstGeom prst="roundRect">
            <a:avLst>
              <a:gd name="adj" fmla="val 3243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2" name="Text 16"/>
          <p:cNvSpPr/>
          <p:nvPr/>
        </p:nvSpPr>
        <p:spPr>
          <a:xfrm>
            <a:off x="2671141" y="49331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3" name="Text 17"/>
          <p:cNvSpPr/>
          <p:nvPr/>
        </p:nvSpPr>
        <p:spPr>
          <a:xfrm>
            <a:off x="3265501" y="4988052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2689429" y="555498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Alokasi memori (JS Heap) &amp; Vue mulai render.</a:t>
            </a:r>
            <a:endParaRPr lang="en-US" sz="105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22024" y="2423160"/>
            <a:ext cx="256032" cy="256032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576072" y="6245352"/>
            <a:ext cx="10724388" cy="598933"/>
          </a:xfrm>
          <a:prstGeom prst="roundRect">
            <a:avLst>
              <a:gd name="adj" fmla="val 50000"/>
            </a:avLst>
          </a:prstGeom>
          <a:solidFill>
            <a:srgbClr val="0F3B4C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27" name="Shape 20"/>
          <p:cNvSpPr/>
          <p:nvPr/>
        </p:nvSpPr>
        <p:spPr>
          <a:xfrm>
            <a:off x="672084" y="6310555"/>
            <a:ext cx="566928" cy="41863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" y="6416165"/>
            <a:ext cx="292608" cy="216071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696212" y="5998465"/>
            <a:ext cx="960120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bersifat single-threaded. </a:t>
            </a: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 memproses bundle besar, browser tidak dapat merespons klik — kondisi ini diukur oleh Total Blocking Time (TBT). Inilah dasar teknis mengapa code splitting efektif.</a:t>
            </a:r>
            <a:endParaRPr lang="en-US" sz="1350" dirty="0"/>
          </a:p>
        </p:txBody>
      </p:sp>
      <p:sp>
        <p:nvSpPr>
          <p:cNvPr id="32" name="Text 23"/>
          <p:cNvSpPr/>
          <p:nvPr/>
        </p:nvSpPr>
        <p:spPr>
          <a:xfrm>
            <a:off x="822960" y="5646420"/>
            <a:ext cx="1054303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33" name="Text 24"/>
          <p:cNvSpPr/>
          <p:nvPr/>
        </p:nvSpPr>
        <p:spPr>
          <a:xfrm>
            <a:off x="11315700" y="6443534"/>
            <a:ext cx="548640" cy="2025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21DE1AC-4793-07EF-79AF-5A67D58CC97F}"/>
              </a:ext>
            </a:extLst>
          </p:cNvPr>
          <p:cNvSpPr txBox="1"/>
          <p:nvPr/>
        </p:nvSpPr>
        <p:spPr>
          <a:xfrm>
            <a:off x="6541339" y="5875220"/>
            <a:ext cx="6094476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2.2 — </a:t>
            </a:r>
            <a:r>
              <a:rPr lang="en-US" sz="1250" b="1" dirty="0" err="1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Tahapan</a:t>
            </a: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pemrosesan</a:t>
            </a: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JS oleh </a:t>
            </a:r>
            <a:r>
              <a:rPr lang="en-US" sz="1250" b="1" dirty="0" err="1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mesin</a:t>
            </a: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V8</a:t>
            </a:r>
            <a:endParaRPr lang="en-US" sz="1250" dirty="0"/>
          </a:p>
        </p:txBody>
      </p:sp>
      <p:pic>
        <p:nvPicPr>
          <p:cNvPr id="37" name="Image 1" descr="preencoded.png">
            <a:extLst>
              <a:ext uri="{FF2B5EF4-FFF2-40B4-BE49-F238E27FC236}">
                <a16:creationId xmlns:a16="http://schemas.microsoft.com/office/drawing/2014/main" id="{10692983-DB45-86D0-1057-A8331F0113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603829" y="3589020"/>
            <a:ext cx="256032" cy="256032"/>
          </a:xfrm>
          <a:prstGeom prst="rect">
            <a:avLst/>
          </a:prstGeom>
        </p:spPr>
      </p:pic>
      <p:pic>
        <p:nvPicPr>
          <p:cNvPr id="39" name="Image 1" descr="preencoded.png">
            <a:extLst>
              <a:ext uri="{FF2B5EF4-FFF2-40B4-BE49-F238E27FC236}">
                <a16:creationId xmlns:a16="http://schemas.microsoft.com/office/drawing/2014/main" id="{7C507EC2-7A57-FF11-111D-2DCE1B30B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603829" y="4805172"/>
            <a:ext cx="256032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70408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 · METODE PENELITIAN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Desain &amp; Variabel Penelitian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Pendekatan eksperimental kuantitatif — comparative experimental. Dua versi tiap aplikasi diuji identik: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2057400"/>
            <a:ext cx="5257800" cy="1234440"/>
          </a:xfrm>
          <a:prstGeom prst="roundRect">
            <a:avLst>
              <a:gd name="adj" fmla="val 5185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8" name="Text 5"/>
          <p:cNvSpPr/>
          <p:nvPr/>
        </p:nvSpPr>
        <p:spPr>
          <a:xfrm>
            <a:off x="896112" y="2194560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 Baseline
</a:t>
            </a: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Monolithic / eager load — semua kode dalam satu file besar.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291072" y="2057400"/>
            <a:ext cx="5257800" cy="1234440"/>
          </a:xfrm>
          <a:prstGeom prst="roundRect">
            <a:avLst>
              <a:gd name="adj" fmla="val 5185"/>
            </a:avLst>
          </a:prstGeom>
          <a:solidFill>
            <a:srgbClr val="E1EDF1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0" name="Text 7"/>
          <p:cNvSpPr/>
          <p:nvPr/>
        </p:nvSpPr>
        <p:spPr>
          <a:xfrm>
            <a:off x="6547104" y="2194560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02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 Optimized
</a:t>
            </a: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Hybrid: code splitting, lazy loading, kompresi Brotli/Gzip, prefetching.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40080" y="3520440"/>
            <a:ext cx="3429000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5875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2" name="Shape 9"/>
          <p:cNvSpPr/>
          <p:nvPr/>
        </p:nvSpPr>
        <p:spPr>
          <a:xfrm>
            <a:off x="640080" y="3520440"/>
            <a:ext cx="3429000" cy="566928"/>
          </a:xfrm>
          <a:prstGeom prst="roundRect">
            <a:avLst>
              <a:gd name="adj" fmla="val 11290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13" name="Text 10"/>
          <p:cNvSpPr/>
          <p:nvPr/>
        </p:nvSpPr>
        <p:spPr>
          <a:xfrm>
            <a:off x="822960" y="3520440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Variabel Independen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96112" y="4224528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 optimasi (baseline vs hybrid)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Tingkat kompleksitas (tinggi vs rendah)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251960" y="3520440"/>
            <a:ext cx="3429000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5875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6" name="Shape 13"/>
          <p:cNvSpPr/>
          <p:nvPr/>
        </p:nvSpPr>
        <p:spPr>
          <a:xfrm>
            <a:off x="4251960" y="3520440"/>
            <a:ext cx="3429000" cy="566928"/>
          </a:xfrm>
          <a:prstGeom prst="roundRect">
            <a:avLst>
              <a:gd name="adj" fmla="val 11290"/>
            </a:avLst>
          </a:prstGeom>
          <a:solidFill>
            <a:srgbClr val="028F84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17" name="Text 14"/>
          <p:cNvSpPr/>
          <p:nvPr/>
        </p:nvSpPr>
        <p:spPr>
          <a:xfrm>
            <a:off x="4434840" y="3520440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Variabel Dependen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07992" y="4224528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FCP, LCP, TBT, Load Time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Heap, Bundle Size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Score, TTI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863840" y="3520440"/>
            <a:ext cx="3429000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5875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0" name="Shape 17"/>
          <p:cNvSpPr/>
          <p:nvPr/>
        </p:nvSpPr>
        <p:spPr>
          <a:xfrm>
            <a:off x="7863840" y="3520440"/>
            <a:ext cx="3429000" cy="566928"/>
          </a:xfrm>
          <a:prstGeom prst="roundRect">
            <a:avLst>
              <a:gd name="adj" fmla="val 11290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21" name="Text 18"/>
          <p:cNvSpPr/>
          <p:nvPr/>
        </p:nvSpPr>
        <p:spPr>
          <a:xfrm>
            <a:off x="8046720" y="3520440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Variabel Kontrol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8119872" y="4224528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 Vue.js 3.x &amp; Vite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browser identik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Jaringan localhost (CPU-bound)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112315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0274B224-D94B-9DD9-1E88-9E51AB1F2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4122" y="72105"/>
            <a:ext cx="5766866" cy="5353336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640080" y="56692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70408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 · METODE PENELITIAN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Objek Uji: Dua Tingkat Kompleksitas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425321"/>
            <a:ext cx="5257800" cy="1908810"/>
          </a:xfrm>
          <a:prstGeom prst="roundRect">
            <a:avLst>
              <a:gd name="adj" fmla="val 3137"/>
            </a:avLst>
          </a:prstGeom>
          <a:solidFill>
            <a:srgbClr val="0F3B4C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7" name="Shape 4"/>
          <p:cNvSpPr/>
          <p:nvPr/>
        </p:nvSpPr>
        <p:spPr>
          <a:xfrm>
            <a:off x="896112" y="1552194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" y="1680210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1533906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SIMTA  </a:t>
            </a:r>
            <a:r>
              <a:rPr lang="en-US" sz="1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Kompleksitas Tinggi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960120" y="2265426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rute navigasi · 50+ komponen Vue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Chart.js, Pinia, Supabase, Vue-Router bersamaan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API asinkron · visualisasi real-time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Autentikasi pengguna berbasis Supabase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640080" y="3413760"/>
            <a:ext cx="5257800" cy="1794129"/>
          </a:xfrm>
          <a:prstGeom prst="roundRect">
            <a:avLst>
              <a:gd name="adj" fmla="val 3137"/>
            </a:avLst>
          </a:prstGeom>
          <a:solidFill>
            <a:srgbClr val="EEF4F6"/>
          </a:solidFill>
          <a:ln w="15875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2" name="Shape 8"/>
          <p:cNvSpPr/>
          <p:nvPr/>
        </p:nvSpPr>
        <p:spPr>
          <a:xfrm>
            <a:off x="896112" y="3432049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8" y="3560065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54480" y="3413761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 Profile  </a:t>
            </a:r>
            <a:r>
              <a:rPr lang="en-US" sz="1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Kompleksitas Rendah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960120" y="4145281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Konten dominan statis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grafik interaktif / pustaka berat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manajemen data kompleks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awal sudah ringkas</a:t>
            </a:r>
            <a:endParaRPr lang="en-US" sz="1150" dirty="0"/>
          </a:p>
        </p:txBody>
      </p:sp>
      <p:sp>
        <p:nvSpPr>
          <p:cNvPr id="18" name="Text 12"/>
          <p:cNvSpPr/>
          <p:nvPr/>
        </p:nvSpPr>
        <p:spPr>
          <a:xfrm>
            <a:off x="6971628" y="5642231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2.4 — ERD modul bimbingan SIMTA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40080" y="5324094"/>
            <a:ext cx="5257800" cy="1280161"/>
          </a:xfrm>
          <a:prstGeom prst="roundRect">
            <a:avLst>
              <a:gd name="adj" fmla="val 3627"/>
            </a:avLst>
          </a:prstGeom>
          <a:solidFill>
            <a:srgbClr val="E1EDF1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0" name="Text 14"/>
          <p:cNvSpPr/>
          <p:nvPr/>
        </p:nvSpPr>
        <p:spPr>
          <a:xfrm>
            <a:off x="896112" y="5436491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Mengapa dua ekstrem?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896112" y="5820539"/>
            <a:ext cx="48006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Kompleksitas relasi data &amp; ketergantungan pustaka besar SIMTA menghasilkan bundle monolitik yang jauh lebih besar — menjadikannya representatif untuk menguji efek code splitting yang terukur, kontras dengan CP yang minimal.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112315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70408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 · METODE PENELITIAN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 &amp; Skenario Pengujian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472184"/>
            <a:ext cx="6035040" cy="859536"/>
          </a:xfrm>
          <a:prstGeom prst="roundRect">
            <a:avLst>
              <a:gd name="adj" fmla="val 4225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7" name="Shape 4"/>
          <p:cNvSpPr/>
          <p:nvPr/>
        </p:nvSpPr>
        <p:spPr>
          <a:xfrm>
            <a:off x="859536" y="169164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1819656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1472184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 PerformanceObserver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600200" y="1801368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 primer — merekam FCP, LCP, TBT, Load Time &amp; JS Heap langsung dari mesin browser tanpa overhead.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40080" y="2395728"/>
            <a:ext cx="6035040" cy="813816"/>
          </a:xfrm>
          <a:prstGeom prst="roundRect">
            <a:avLst>
              <a:gd name="adj" fmla="val 4225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2" name="Shape 8"/>
          <p:cNvSpPr/>
          <p:nvPr/>
        </p:nvSpPr>
        <p:spPr>
          <a:xfrm>
            <a:off x="859536" y="2624328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2752344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00200" y="2404872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Lighthouse v11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600200" y="2734056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 sekunder — audit standar industri: Performance Score, TTI &amp; Speed Index untuk triangulasi data.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40080" y="3273552"/>
            <a:ext cx="6035040" cy="813816"/>
          </a:xfrm>
          <a:prstGeom prst="roundRect">
            <a:avLst>
              <a:gd name="adj" fmla="val 4225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7" name="Shape 12"/>
          <p:cNvSpPr/>
          <p:nvPr/>
        </p:nvSpPr>
        <p:spPr>
          <a:xfrm>
            <a:off x="859536" y="3465576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552" y="3593592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00200" y="3246120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Puppeteer + CPU 4x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1600200" y="3575304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Otomasi browser, 5 repetisi/skenario, simulasi CPU throttling 4x di localhost (variabel jaringan dieliminasi).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1472184" y="4151376"/>
            <a:ext cx="4462272" cy="1059942"/>
          </a:xfrm>
          <a:prstGeom prst="roundRect">
            <a:avLst>
              <a:gd name="adj" fmla="val 3070"/>
            </a:avLst>
          </a:prstGeom>
          <a:solidFill>
            <a:srgbClr val="E1EDF1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 dirty="0"/>
          </a:p>
        </p:txBody>
      </p:sp>
      <p:sp>
        <p:nvSpPr>
          <p:cNvPr id="22" name="Text 16"/>
          <p:cNvSpPr/>
          <p:nvPr/>
        </p:nvSpPr>
        <p:spPr>
          <a:xfrm>
            <a:off x="1700784" y="4169664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 Kondisi Pengujian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1700784" y="4608576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Normal — </a:t>
            </a:r>
            <a:r>
              <a:rPr lang="en-US" sz="11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kemampuan CPU penuh (patokan).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1700784" y="4882134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2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CPU 4x lebih lambat — </a:t>
            </a:r>
            <a:r>
              <a:rPr lang="en-US" sz="11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simulasi perangkat spesifikasi rendah.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1472184" y="5428487"/>
            <a:ext cx="2139696" cy="1059943"/>
          </a:xfrm>
          <a:prstGeom prst="roundRect">
            <a:avLst>
              <a:gd name="adj" fmla="val 4516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6" name="Text 20"/>
          <p:cNvSpPr/>
          <p:nvPr/>
        </p:nvSpPr>
        <p:spPr>
          <a:xfrm>
            <a:off x="1609344" y="5341239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200" dirty="0"/>
          </a:p>
        </p:txBody>
      </p:sp>
      <p:sp>
        <p:nvSpPr>
          <p:cNvPr id="27" name="Text 21"/>
          <p:cNvSpPr/>
          <p:nvPr/>
        </p:nvSpPr>
        <p:spPr>
          <a:xfrm>
            <a:off x="1618488" y="5926455"/>
            <a:ext cx="18653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titik data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1618488" y="6182487"/>
            <a:ext cx="186537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metrik / aplikasi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3794760" y="5428487"/>
            <a:ext cx="2139696" cy="1059943"/>
          </a:xfrm>
          <a:prstGeom prst="roundRect">
            <a:avLst>
              <a:gd name="adj" fmla="val 4516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30" name="Text 24"/>
          <p:cNvSpPr/>
          <p:nvPr/>
        </p:nvSpPr>
        <p:spPr>
          <a:xfrm>
            <a:off x="3931920" y="5341239"/>
            <a:ext cx="18653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28F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5×</a:t>
            </a:r>
            <a:endParaRPr lang="en-US" sz="3200" dirty="0"/>
          </a:p>
        </p:txBody>
      </p:sp>
      <p:sp>
        <p:nvSpPr>
          <p:cNvPr id="31" name="Text 25"/>
          <p:cNvSpPr/>
          <p:nvPr/>
        </p:nvSpPr>
        <p:spPr>
          <a:xfrm>
            <a:off x="3941064" y="5926455"/>
            <a:ext cx="18653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repetisi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3941064" y="6182487"/>
            <a:ext cx="186537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tiap skenario</a:t>
            </a:r>
            <a:endParaRPr lang="en-US" sz="1050" dirty="0"/>
          </a:p>
        </p:txBody>
      </p:sp>
      <p:sp>
        <p:nvSpPr>
          <p:cNvPr id="35" name="Text 28"/>
          <p:cNvSpPr/>
          <p:nvPr/>
        </p:nvSpPr>
        <p:spPr>
          <a:xfrm>
            <a:off x="7269480" y="5897880"/>
            <a:ext cx="40965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2.7 — Alur pengujian otomatis</a:t>
            </a:r>
            <a:endParaRPr lang="en-US" sz="1250" dirty="0"/>
          </a:p>
        </p:txBody>
      </p:sp>
      <p:sp>
        <p:nvSpPr>
          <p:cNvPr id="36" name="Text 29"/>
          <p:cNvSpPr/>
          <p:nvPr/>
        </p:nvSpPr>
        <p:spPr>
          <a:xfrm>
            <a:off x="112315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D1F612C8-778B-B604-75AC-7D8054B912E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3495" y="155448"/>
            <a:ext cx="4601097" cy="579561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9EAA0500-39C5-94FE-8290-898A5EF871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692" y="1418499"/>
            <a:ext cx="5541264" cy="3689446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640080" y="56692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70408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III · HASIL &amp; PEMBAHASAN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Reduksi Ukuran Bundle (SIMTA)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79"/>
            <a:ext cx="2179320" cy="1417319"/>
          </a:xfrm>
          <a:prstGeom prst="roundRect">
            <a:avLst>
              <a:gd name="adj" fmla="val 4516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7" name="Text 4"/>
          <p:cNvSpPr/>
          <p:nvPr/>
        </p:nvSpPr>
        <p:spPr>
          <a:xfrm>
            <a:off x="777240" y="1911096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346 KB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786384" y="249631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86384" y="2752344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monolithic build (uncompressed)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922676" y="1793403"/>
            <a:ext cx="2023110" cy="1417320"/>
          </a:xfrm>
          <a:prstGeom prst="roundRect">
            <a:avLst>
              <a:gd name="adj" fmla="val 4516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1" name="Text 8"/>
          <p:cNvSpPr/>
          <p:nvPr/>
        </p:nvSpPr>
        <p:spPr>
          <a:xfrm>
            <a:off x="3059836" y="1921419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195 KB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3068980" y="2506635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3068980" y="2762667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bundle setelah splitting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049062" y="1797975"/>
            <a:ext cx="1840611" cy="1417320"/>
          </a:xfrm>
          <a:prstGeom prst="roundRect">
            <a:avLst>
              <a:gd name="adj" fmla="val 4516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5" name="Text 12"/>
          <p:cNvSpPr/>
          <p:nvPr/>
        </p:nvSpPr>
        <p:spPr>
          <a:xfrm>
            <a:off x="5186222" y="1925991"/>
            <a:ext cx="2788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28F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≈65 KB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5195366" y="2511207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Terkompresi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195366" y="2767239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Brotli/Gzip · Chart.js dipisah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40080" y="3429000"/>
            <a:ext cx="5486400" cy="2651760"/>
          </a:xfrm>
          <a:prstGeom prst="roundRect">
            <a:avLst>
              <a:gd name="adj" fmla="val 2414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9" name="Text 16"/>
          <p:cNvSpPr/>
          <p:nvPr/>
        </p:nvSpPr>
        <p:spPr>
          <a:xfrm>
            <a:off x="896112" y="3611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Temuan Kunci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914400" y="4023360"/>
            <a:ext cx="50292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~58% bundle berasal dari pustaka pihak ketiga; Chart.js paling mendominasi.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Chart.js dipindah ke chunk vendor-charts.js — hanya dimuat saat halaman grafik dibuka.</a:t>
            </a:r>
            <a:endParaRPr lang="en-US" sz="1250" dirty="0"/>
          </a:p>
          <a:p>
            <a:pPr marL="152400" indent="-1524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awal turun &gt;40% tanpa mengorbankan fungsionalitas.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6589826" y="5209708"/>
            <a:ext cx="5928360" cy="37608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3.1 — Proporsi </a:t>
            </a:r>
            <a:r>
              <a:rPr lang="en-US" sz="1250" b="1" dirty="0" err="1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pustaka</a:t>
            </a: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eksternal</a:t>
            </a: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kode aplikasi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12315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70408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III · HASIL &amp; PEMBAHASAN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Contentful Paint (FCP)</a:t>
            </a:r>
            <a:endParaRPr lang="en-US" sz="27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640080" y="1783080"/>
          <a:ext cx="61264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7178040" y="1783080"/>
            <a:ext cx="4370832" cy="2011680"/>
          </a:xfrm>
          <a:prstGeom prst="roundRect">
            <a:avLst>
              <a:gd name="adj" fmla="val 3182"/>
            </a:avLst>
          </a:prstGeom>
          <a:solidFill>
            <a:srgbClr val="0F3B4C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8" name="Text 4"/>
          <p:cNvSpPr/>
          <p:nvPr/>
        </p:nvSpPr>
        <p:spPr>
          <a:xfrm>
            <a:off x="7406640" y="2011680"/>
            <a:ext cx="3931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−22,9%
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FCP SIMTA: 1144 ms → 881,6 ms</a:t>
            </a:r>
            <a:endParaRPr lang="en-US" sz="3600" dirty="0"/>
          </a:p>
        </p:txBody>
      </p:sp>
      <p:sp>
        <p:nvSpPr>
          <p:cNvPr id="9" name="Shape 5"/>
          <p:cNvSpPr/>
          <p:nvPr/>
        </p:nvSpPr>
        <p:spPr>
          <a:xfrm>
            <a:off x="7178040" y="3977640"/>
            <a:ext cx="4370832" cy="2103120"/>
          </a:xfrm>
          <a:prstGeom prst="roundRect">
            <a:avLst>
              <a:gd name="adj" fmla="val 3043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0" name="Text 6"/>
          <p:cNvSpPr/>
          <p:nvPr/>
        </p:nvSpPr>
        <p:spPr>
          <a:xfrm>
            <a:off x="7406640" y="4114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Interpretasi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7406640" y="4462272"/>
            <a:ext cx="39776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Pada SIMTA, FCP membaik karena volume JS yang di-parse V8 berkurang. Pada Company Profile selisih hampir nol (367→364 ms) — bundle kecil tak menyisakan ruang perbaikan. Efektivitas bergantung pada kompleksitas.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112315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70408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III · HASIL &amp; PEMBAHASAN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Blocking Time (TBT)</a:t>
            </a:r>
            <a:endParaRPr lang="en-US" sz="27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640080" y="1783080"/>
          <a:ext cx="61264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7178040" y="1783080"/>
            <a:ext cx="4370832" cy="1417320"/>
          </a:xfrm>
          <a:prstGeom prst="roundRect">
            <a:avLst>
              <a:gd name="adj" fmla="val 4516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8" name="Text 4"/>
          <p:cNvSpPr/>
          <p:nvPr/>
        </p:nvSpPr>
        <p:spPr>
          <a:xfrm>
            <a:off x="7315200" y="1911096"/>
            <a:ext cx="40965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−22,7%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7324344" y="2496312"/>
            <a:ext cx="4096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TBT SIMTA (CPU 4x)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7324344" y="2752344"/>
            <a:ext cx="409651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1023,0 ms → 790,8 ms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178040" y="3337560"/>
            <a:ext cx="4370832" cy="2743200"/>
          </a:xfrm>
          <a:prstGeom prst="roundRect">
            <a:avLst>
              <a:gd name="adj" fmla="val 2333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2" name="Text 8"/>
          <p:cNvSpPr/>
          <p:nvPr/>
        </p:nvSpPr>
        <p:spPr>
          <a:xfrm>
            <a:off x="7406640" y="349300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Catatan penting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7406640" y="3858768"/>
            <a:ext cx="39776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Kondisi normal: TBT optimized sedikit naik (111,8→137,2 ms) akibat overhead microtask dynamic import — tetap jauh di bawah ambang 200 ms.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 nyata muncul pada CPU lambat, di mana baseline SIMTA (1023 ms) melampaui batas 300 ms.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112315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70408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III · HASIL &amp; PEMBAHASAN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Kondisi Perangkat Lambat (CPU 4×)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37360"/>
            <a:ext cx="3383280" cy="1417320"/>
          </a:xfrm>
          <a:prstGeom prst="roundRect">
            <a:avLst>
              <a:gd name="adj" fmla="val 4516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7" name="Text 4"/>
          <p:cNvSpPr/>
          <p:nvPr/>
        </p:nvSpPr>
        <p:spPr>
          <a:xfrm>
            <a:off x="777240" y="1865376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5,8%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786384" y="245059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Time SIMTA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86384" y="2706624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1095,2 ms → 1031,8 ms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206240" y="1737360"/>
            <a:ext cx="3383280" cy="1417320"/>
          </a:xfrm>
          <a:prstGeom prst="roundRect">
            <a:avLst>
              <a:gd name="adj" fmla="val 4516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1" name="Text 8"/>
          <p:cNvSpPr/>
          <p:nvPr/>
        </p:nvSpPr>
        <p:spPr>
          <a:xfrm>
            <a:off x="4343400" y="1865376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28F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43,1%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352544" y="245059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Time CP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352544" y="2706624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171,2 ms → 97,4 ms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772400" y="1737360"/>
            <a:ext cx="3063240" cy="1417320"/>
          </a:xfrm>
          <a:prstGeom prst="roundRect">
            <a:avLst>
              <a:gd name="adj" fmla="val 4516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5" name="Text 12"/>
          <p:cNvSpPr/>
          <p:nvPr/>
        </p:nvSpPr>
        <p:spPr>
          <a:xfrm>
            <a:off x="7909560" y="1865376"/>
            <a:ext cx="2788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22,4%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7918704" y="2450592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FCP SIMTA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918704" y="2706624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1523,2 ms → 1182,4 ms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40080" y="3383280"/>
            <a:ext cx="5486400" cy="2697480"/>
          </a:xfrm>
          <a:prstGeom prst="roundRect">
            <a:avLst>
              <a:gd name="adj" fmla="val 2373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9" name="Text 16"/>
          <p:cNvSpPr/>
          <p:nvPr/>
        </p:nvSpPr>
        <p:spPr>
          <a:xfrm>
            <a:off x="896112" y="352958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SIMTA — Metrik Kunci (CPU 4×)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96112" y="396849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2633472" y="396849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370832" y="396849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96112" y="447141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FCP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2633472" y="447141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1523,2 ms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4370832" y="447141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1182,4 ms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96112" y="4471416"/>
            <a:ext cx="4983480" cy="0"/>
          </a:xfrm>
          <a:prstGeom prst="line">
            <a:avLst/>
          </a:prstGeom>
          <a:noFill/>
          <a:ln w="9525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7" name="Text 24"/>
          <p:cNvSpPr/>
          <p:nvPr/>
        </p:nvSpPr>
        <p:spPr>
          <a:xfrm>
            <a:off x="896112" y="497433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TBT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2633472" y="497433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1023,0 ms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4370832" y="497433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790,8 ms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896112" y="4974336"/>
            <a:ext cx="4983480" cy="0"/>
          </a:xfrm>
          <a:prstGeom prst="line">
            <a:avLst/>
          </a:prstGeom>
          <a:noFill/>
          <a:ln w="9525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31" name="Text 28"/>
          <p:cNvSpPr/>
          <p:nvPr/>
        </p:nvSpPr>
        <p:spPr>
          <a:xfrm>
            <a:off x="896112" y="547725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Time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2633472" y="547725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1095,2 ms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4370832" y="547725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1031,8 ms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896112" y="5477256"/>
            <a:ext cx="4983480" cy="0"/>
          </a:xfrm>
          <a:prstGeom prst="line">
            <a:avLst/>
          </a:prstGeom>
          <a:noFill/>
          <a:ln w="9525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37" name="Text 33"/>
          <p:cNvSpPr/>
          <p:nvPr/>
        </p:nvSpPr>
        <p:spPr>
          <a:xfrm>
            <a:off x="6632143" y="6344602"/>
            <a:ext cx="4873752" cy="3867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3.6 — Total waktu muat pada CPU 4×</a:t>
            </a:r>
            <a:endParaRPr lang="en-US" sz="1250" dirty="0"/>
          </a:p>
        </p:txBody>
      </p:sp>
      <p:sp>
        <p:nvSpPr>
          <p:cNvPr id="38" name="Text 34"/>
          <p:cNvSpPr/>
          <p:nvPr/>
        </p:nvSpPr>
        <p:spPr>
          <a:xfrm>
            <a:off x="112315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EEDDF892-6450-ACF9-2B4C-C0D75F9CAC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0414" y="3250501"/>
            <a:ext cx="5151158" cy="303009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70408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III · HASIL &amp; PEMBAHASAN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Triangulasi: Google Lighthouse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3520440" cy="1417320"/>
          </a:xfrm>
          <a:prstGeom prst="roundRect">
            <a:avLst>
              <a:gd name="adj" fmla="val 4516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7" name="Text 4"/>
          <p:cNvSpPr/>
          <p:nvPr/>
        </p:nvSpPr>
        <p:spPr>
          <a:xfrm>
            <a:off x="777240" y="1911096"/>
            <a:ext cx="3246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−41,4%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786384" y="2496312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TBT (Lighthouse)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86384" y="2752344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105,2 ms → 61,6 ms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43400" y="1783080"/>
            <a:ext cx="3520440" cy="1417320"/>
          </a:xfrm>
          <a:prstGeom prst="roundRect">
            <a:avLst>
              <a:gd name="adj" fmla="val 4516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1" name="Text 8"/>
          <p:cNvSpPr/>
          <p:nvPr/>
        </p:nvSpPr>
        <p:spPr>
          <a:xfrm>
            <a:off x="4480560" y="1911096"/>
            <a:ext cx="3246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64–66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489704" y="2496312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Perf. Score SIMTA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489704" y="2752344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 (banyak aspek non-bundle)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46720" y="1783080"/>
            <a:ext cx="2788920" cy="1417320"/>
          </a:xfrm>
          <a:prstGeom prst="roundRect">
            <a:avLst>
              <a:gd name="adj" fmla="val 4516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5" name="Text 12"/>
          <p:cNvSpPr/>
          <p:nvPr/>
        </p:nvSpPr>
        <p:spPr>
          <a:xfrm>
            <a:off x="8183880" y="1911096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28F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99–100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8193024" y="249631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CP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8193024" y="2752344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hampir sempurna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40080" y="3429000"/>
            <a:ext cx="10908792" cy="2651760"/>
          </a:xfrm>
          <a:prstGeom prst="roundRect">
            <a:avLst>
              <a:gd name="adj" fmla="val 2414"/>
            </a:avLst>
          </a:prstGeom>
          <a:solidFill>
            <a:srgbClr val="0F3B4C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19" name="Shape 16"/>
          <p:cNvSpPr/>
          <p:nvPr/>
        </p:nvSpPr>
        <p:spPr>
          <a:xfrm>
            <a:off x="914400" y="3657600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794760"/>
            <a:ext cx="292608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645920" y="3639312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Trade-off yang menguntungkan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645920" y="420624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FCP &amp; LCP Lighthouse versi optimized tampak sedikit lebih lambat — konsekuensi staggered execution dari lazy loading (modul dimuat bertahap). 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Namun TBT turun 41,4%: tidak ada long task yang memblokir respons klik. 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Pengalaman interaktivitas pengguna justru membaik meski beberapa metrik loading terlihat mundur. Metodologi Lighthouse (simulasi mobile) membuat nilai absolut FCP/LCP jauh lebih tinggi dari PerformanceObserver.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112315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70408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III · HASIL &amp; PEMBAHASAN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Dampak: SIMTA vs Company Profile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10881360" cy="502920"/>
          </a:xfrm>
          <a:prstGeom prst="roundRect">
            <a:avLst>
              <a:gd name="adj" fmla="val 9091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7" name="Text 4"/>
          <p:cNvSpPr/>
          <p:nvPr/>
        </p:nvSpPr>
        <p:spPr>
          <a:xfrm>
            <a:off x="777240" y="17830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3429000" y="17830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SIMTA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257800" y="17830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Profile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001000" y="17830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Keterangan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2286000"/>
            <a:ext cx="108813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2" name="Text 9"/>
          <p:cNvSpPr/>
          <p:nvPr/>
        </p:nvSpPr>
        <p:spPr>
          <a:xfrm>
            <a:off x="777240" y="228600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FCP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429000" y="2286000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+22,4%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257800" y="2286000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−30,2%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001000" y="2286000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SIMTA membaik · CP memburuk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2852928"/>
            <a:ext cx="10881360" cy="566928"/>
          </a:xfrm>
          <a:prstGeom prst="rect">
            <a:avLst/>
          </a:prstGeom>
          <a:solidFill>
            <a:srgbClr val="EEF4F6"/>
          </a:solidFill>
          <a:ln w="635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7" name="Text 14"/>
          <p:cNvSpPr/>
          <p:nvPr/>
        </p:nvSpPr>
        <p:spPr>
          <a:xfrm>
            <a:off x="777240" y="2852928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TBT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429000" y="2852928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+22,7%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257800" y="2852928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+81,8%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001000" y="2852928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Keduanya membaik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40080" y="3419856"/>
            <a:ext cx="108813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2" name="Text 19"/>
          <p:cNvSpPr/>
          <p:nvPr/>
        </p:nvSpPr>
        <p:spPr>
          <a:xfrm>
            <a:off x="777240" y="3419856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Time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429000" y="3419856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+5,8%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257800" y="3419856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+43,1%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001000" y="3419856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Keduanya membaik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0080" y="3986784"/>
            <a:ext cx="10881360" cy="566928"/>
          </a:xfrm>
          <a:prstGeom prst="rect">
            <a:avLst/>
          </a:prstGeom>
          <a:solidFill>
            <a:srgbClr val="EEF4F6"/>
          </a:solidFill>
          <a:ln w="635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7" name="Text 24"/>
          <p:cNvSpPr/>
          <p:nvPr/>
        </p:nvSpPr>
        <p:spPr>
          <a:xfrm>
            <a:off x="777240" y="3986784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Heap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429000" y="3986784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−7,9%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5257800" y="3986784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−1,6%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001000" y="3986784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Overhead memori minimal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40080" y="4553712"/>
            <a:ext cx="108813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32" name="Text 29"/>
          <p:cNvSpPr/>
          <p:nvPr/>
        </p:nvSpPr>
        <p:spPr>
          <a:xfrm>
            <a:off x="777240" y="4553712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 Score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429000" y="4553712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−3,3%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257800" y="4553712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F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−1,0%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01000" y="4553712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Perubahan minimal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40080" y="5257800"/>
            <a:ext cx="10881360" cy="822960"/>
          </a:xfrm>
          <a:prstGeom prst="roundRect">
            <a:avLst>
              <a:gd name="adj" fmla="val 7778"/>
            </a:avLst>
          </a:prstGeom>
          <a:solidFill>
            <a:srgbClr val="0F3B4C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37" name="Text 34"/>
          <p:cNvSpPr/>
          <p:nvPr/>
        </p:nvSpPr>
        <p:spPr>
          <a:xfrm>
            <a:off x="960120" y="5257800"/>
            <a:ext cx="10241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Rekomendasi: 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terapkan code splitting hanya bila bundle awal &gt;200 KB terkompresi dan memuat pustaka berat yang tak dibutuhkan di halaman utama. Pada website sederhana, teknik ini justru dapat memperlambat FCP.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112315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704088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0292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· PENUTUP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Kesimpulan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175504" cy="2011680"/>
          </a:xfrm>
          <a:prstGeom prst="roundRect">
            <a:avLst>
              <a:gd name="adj" fmla="val 3182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7" name="Shape 4"/>
          <p:cNvSpPr/>
          <p:nvPr/>
        </p:nvSpPr>
        <p:spPr>
          <a:xfrm>
            <a:off x="896112" y="2039112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167128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2020824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Bundle awal turun &gt;40%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914400" y="2679192"/>
            <a:ext cx="46634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Memisahkan pustaka besar (Chart.js, Pinia) via manualChunks: SIMTA 346 KB → ±195 KB. Browser tak lagi memuat kode grafik di halaman login.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373368" y="1783080"/>
            <a:ext cx="5175504" cy="2011680"/>
          </a:xfrm>
          <a:prstGeom prst="roundRect">
            <a:avLst>
              <a:gd name="adj" fmla="val 3182"/>
            </a:avLst>
          </a:prstGeom>
          <a:solidFill>
            <a:srgbClr val="E1EDF1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2" name="Shape 8"/>
          <p:cNvSpPr/>
          <p:nvPr/>
        </p:nvSpPr>
        <p:spPr>
          <a:xfrm>
            <a:off x="6629400" y="2039112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7416" y="2167128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333488" y="2020824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TBT berkurang signifikan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6647688" y="2679192"/>
            <a:ext cx="46634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Turun 22,7% (PerformanceObserver) dan 41,4% (Lighthouse). Browser lebih responsif meski konten muncul sedikit lebih lambat — trade-off yang menguntungkan.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40080" y="3977640"/>
            <a:ext cx="5175504" cy="2011680"/>
          </a:xfrm>
          <a:prstGeom prst="roundRect">
            <a:avLst>
              <a:gd name="adj" fmla="val 3182"/>
            </a:avLst>
          </a:prstGeom>
          <a:solidFill>
            <a:srgbClr val="EEF4F6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17" name="Shape 12"/>
          <p:cNvSpPr/>
          <p:nvPr/>
        </p:nvSpPr>
        <p:spPr>
          <a:xfrm>
            <a:off x="896112" y="4233672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8" y="4361688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00200" y="4215384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Manfaat terbesar di perangkat lemah</a:t>
            </a:r>
            <a:endParaRPr lang="en-US" sz="1450" dirty="0"/>
          </a:p>
        </p:txBody>
      </p:sp>
      <p:sp>
        <p:nvSpPr>
          <p:cNvPr id="20" name="Text 14"/>
          <p:cNvSpPr/>
          <p:nvPr/>
        </p:nvSpPr>
        <p:spPr>
          <a:xfrm>
            <a:off x="914400" y="4873752"/>
            <a:ext cx="46634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Pada CPU 4×, TBT SIMTA 1023 ms → 790,8 ms. Periode browser tidak responsif jauh lebih singkat bagi pengguna perangkat lama.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6373368" y="3977640"/>
            <a:ext cx="5175504" cy="2011680"/>
          </a:xfrm>
          <a:prstGeom prst="roundRect">
            <a:avLst>
              <a:gd name="adj" fmla="val 3182"/>
            </a:avLst>
          </a:prstGeom>
          <a:solidFill>
            <a:srgbClr val="E1EDF1"/>
          </a:solidFill>
          <a:ln w="12700">
            <a:solidFill>
              <a:srgbClr val="D2E0E5"/>
            </a:solidFill>
            <a:prstDash val="solid"/>
          </a:ln>
        </p:spPr>
        <p:txBody>
          <a:bodyPr/>
          <a:lstStyle/>
          <a:p>
            <a:endParaRPr lang="id-ID"/>
          </a:p>
        </p:txBody>
      </p:sp>
      <p:sp>
        <p:nvSpPr>
          <p:cNvPr id="22" name="Shape 16"/>
          <p:cNvSpPr/>
          <p:nvPr/>
        </p:nvSpPr>
        <p:spPr>
          <a:xfrm>
            <a:off x="6629400" y="4233672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7416" y="4361688"/>
            <a:ext cx="292608" cy="29260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333488" y="4215384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3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Kompleksitas menentukan strategi</a:t>
            </a:r>
            <a:endParaRPr lang="en-US" sz="1450" dirty="0"/>
          </a:p>
        </p:txBody>
      </p:sp>
      <p:sp>
        <p:nvSpPr>
          <p:cNvPr id="25" name="Text 18"/>
          <p:cNvSpPr/>
          <p:nvPr/>
        </p:nvSpPr>
        <p:spPr>
          <a:xfrm>
            <a:off x="6647688" y="4873752"/>
            <a:ext cx="46634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Pada Company Profile, FCP justru memburuk 30,2% akibat overhead HTTP chunk. Optimasi harus disesuaikan tingkat kompleksitas aplikasi.</a:t>
            </a:r>
            <a:endParaRPr lang="en-US" sz="1100" dirty="0"/>
          </a:p>
        </p:txBody>
      </p:sp>
      <p:sp>
        <p:nvSpPr>
          <p:cNvPr id="26" name="Text 19"/>
          <p:cNvSpPr/>
          <p:nvPr/>
        </p:nvSpPr>
        <p:spPr>
          <a:xfrm>
            <a:off x="112315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554480"/>
            <a:ext cx="4206240" cy="42062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3" name="Shape 1"/>
          <p:cNvSpPr/>
          <p:nvPr/>
        </p:nvSpPr>
        <p:spPr>
          <a:xfrm>
            <a:off x="-1280160" y="4480560"/>
            <a:ext cx="3291840" cy="32918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4" name="Shape 2"/>
          <p:cNvSpPr/>
          <p:nvPr/>
        </p:nvSpPr>
        <p:spPr>
          <a:xfrm>
            <a:off x="640080" y="640080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id-ID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777240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5943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· PENUTUP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1430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Saran untuk Penelitian Selanjutnya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640080" y="2057400"/>
            <a:ext cx="5175504" cy="1463040"/>
          </a:xfrm>
          <a:prstGeom prst="roundRect">
            <a:avLst>
              <a:gd name="adj" fmla="val 4375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9" name="Text 6"/>
          <p:cNvSpPr/>
          <p:nvPr/>
        </p:nvSpPr>
        <p:spPr>
          <a:xfrm>
            <a:off x="896112" y="2221992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 Integrasi PWA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96112" y="26060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permanen via Service Workers agar kunjungan ulang tanpa unduh ulang.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373368" y="2057400"/>
            <a:ext cx="5175504" cy="1463040"/>
          </a:xfrm>
          <a:prstGeom prst="roundRect">
            <a:avLst>
              <a:gd name="adj" fmla="val 4375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12" name="Text 9"/>
          <p:cNvSpPr/>
          <p:nvPr/>
        </p:nvSpPr>
        <p:spPr>
          <a:xfrm>
            <a:off x="6629400" y="2221992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 Network throttling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629400" y="26060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Menambah variabel jaringan (3G/4G) untuk dampak gabungan CPU + jaringan.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0080" y="3703320"/>
            <a:ext cx="5175504" cy="1463040"/>
          </a:xfrm>
          <a:prstGeom prst="roundRect">
            <a:avLst>
              <a:gd name="adj" fmla="val 4375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15" name="Text 12"/>
          <p:cNvSpPr/>
          <p:nvPr/>
        </p:nvSpPr>
        <p:spPr>
          <a:xfrm>
            <a:off x="896112" y="3867912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 Perbandingan SSR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896112" y="425196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Menguji Nuxt.js — HTML matang dari server untuk FCP/TBT lebih baik.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373368" y="3703320"/>
            <a:ext cx="5175504" cy="1463040"/>
          </a:xfrm>
          <a:prstGeom prst="roundRect">
            <a:avLst>
              <a:gd name="adj" fmla="val 4375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id-ID"/>
          </a:p>
        </p:txBody>
      </p:sp>
      <p:sp>
        <p:nvSpPr>
          <p:cNvPr id="18" name="Text 15"/>
          <p:cNvSpPr/>
          <p:nvPr/>
        </p:nvSpPr>
        <p:spPr>
          <a:xfrm>
            <a:off x="6629400" y="3867912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 ML code splitting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629400" y="425196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Memprediksi chunk grouping optimal dari pola navigasi pengguna.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55321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Terima Kasih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Mustari Muhiddin · D082241013 · Magister Teknik Informatika · Universitas Hasanuddin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1836</Words>
  <Application>Microsoft Office PowerPoint</Application>
  <PresentationFormat>Widescreen</PresentationFormat>
  <Paragraphs>279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Aidil Saputra Kirsan</cp:lastModifiedBy>
  <cp:revision>7</cp:revision>
  <dcterms:created xsi:type="dcterms:W3CDTF">2026-07-14T11:01:37Z</dcterms:created>
  <dcterms:modified xsi:type="dcterms:W3CDTF">2026-07-14T12:32:33Z</dcterms:modified>
</cp:coreProperties>
</file>