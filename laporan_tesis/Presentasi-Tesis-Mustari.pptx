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2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3B4C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SIMTA (Ideal)</c:v>
                </c:pt>
                <c:pt idx="1">
                  <c:v>SIMTA (Slow)</c:v>
                </c:pt>
                <c:pt idx="2">
                  <c:v>CP (Ideal)</c:v>
                </c:pt>
                <c:pt idx="3">
                  <c:v>CP (Slow)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1144</c:v>
                </c:pt>
                <c:pt idx="1">
                  <c:v>1523.2</c:v>
                </c:pt>
                <c:pt idx="2">
                  <c:v>367.2</c:v>
                </c:pt>
                <c:pt idx="3">
                  <c:v>373.6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9-47DC-8C35-FEC9040255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3B4C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SIMTA (Ideal)</c:v>
                </c:pt>
                <c:pt idx="1">
                  <c:v>SIMTA (Slow)</c:v>
                </c:pt>
                <c:pt idx="2">
                  <c:v>CP (Ideal)</c:v>
                </c:pt>
                <c:pt idx="3">
                  <c:v>CP (Slow)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881.6</c:v>
                </c:pt>
                <c:pt idx="1">
                  <c:v>1182.4000000000001</c:v>
                </c:pt>
                <c:pt idx="2">
                  <c:v>364</c:v>
                </c:pt>
                <c:pt idx="3">
                  <c:v>486.4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79-47DC-8C35-FEC9040255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2E0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2"/>
                    </a:solidFill>
                    <a:latin typeface="Arial"/>
                  </a:defRPr>
                </a:pPr>
                <a:r>
                  <a:rPr lang="id-ID" sz="1000" b="0" i="0" u="none" strike="noStrike">
                    <a:solidFill>
                      <a:srgbClr val="5B6B72"/>
                    </a:solidFill>
                    <a:latin typeface="Arial"/>
                  </a:rPr>
                  <a:t>FCP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3B4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3B4C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SIMTA (Ideal)</c:v>
                </c:pt>
                <c:pt idx="1">
                  <c:v>SIMTA (Slow)</c:v>
                </c:pt>
                <c:pt idx="2">
                  <c:v>CP (Ideal)</c:v>
                </c:pt>
                <c:pt idx="3">
                  <c:v>CP (Slow)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111.8</c:v>
                </c:pt>
                <c:pt idx="1">
                  <c:v>1023</c:v>
                </c:pt>
                <c:pt idx="2">
                  <c:v>0</c:v>
                </c:pt>
                <c:pt idx="3">
                  <c:v>143.19999999999999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18-4D2D-8C08-C72C896865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3B4C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SIMTA (Ideal)</c:v>
                </c:pt>
                <c:pt idx="1">
                  <c:v>SIMTA (Slow)</c:v>
                </c:pt>
                <c:pt idx="2">
                  <c:v>CP (Ideal)</c:v>
                </c:pt>
                <c:pt idx="3">
                  <c:v>CP (Slow)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137.19999999999999</c:v>
                </c:pt>
                <c:pt idx="1">
                  <c:v>790.8</c:v>
                </c:pt>
                <c:pt idx="2">
                  <c:v>0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18-4D2D-8C08-C72C896865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2E0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2"/>
                    </a:solidFill>
                    <a:latin typeface="Arial"/>
                  </a:defRPr>
                </a:pPr>
                <a:r>
                  <a:rPr lang="id-ID" sz="1000" b="0" i="0" u="none" strike="noStrike">
                    <a:solidFill>
                      <a:srgbClr val="5B6B72"/>
                    </a:solidFill>
                    <a:latin typeface="Arial"/>
                  </a:rPr>
                  <a:t>TBT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3B4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10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932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· MAGISTER TEKNIK INFORMATIKA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Optimisasi Performa Aplikasi Web Single Page Application (SPA) Menggunakan Hybrid Lazy Loading dan Code Splitting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Framework Vue.js dengan Vite Build Tool Berdasarkan Tingkat Kompleksitas Aplikasi Web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93776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1" name="Text 8"/>
          <p:cNvSpPr/>
          <p:nvPr/>
        </p:nvSpPr>
        <p:spPr>
          <a:xfrm>
            <a:off x="914400" y="507492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Mustari Muhiddin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D082241013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75120" y="50749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Magister Teknik Informatika
</a:t>
            </a:r>
            <a:r>
              <a:rPr lang="en-US" sz="1250" dirty="0">
                <a:solidFill>
                  <a:srgbClr val="9F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Fakultas Teknik · Universitas Hasanuddin ·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Masalah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841248" y="20756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2128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379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kini arsitektur dominan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00200" y="2167128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memuat satu HTML lalu memperbarui tampilan tanpa reload penuh — pengalaman mirip aplikasi desktop, menggantikan MPA yang memuat ulang seluruh halaman.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172968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841248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6941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319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menaikkan ukuran bundle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600200" y="3648456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kompleks menggabungkan seluruh kode ke satu file besar (monolithic build). Bundle SIMTA melebihi 300 KB — memberatkan pemuatan awal.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654296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2"/>
          <p:cNvSpPr/>
          <p:nvPr/>
        </p:nvSpPr>
        <p:spPr>
          <a:xfrm>
            <a:off x="841248" y="503834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17550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800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besar menurunkan performa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00200" y="5129784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single-threaded harus mengunduh, parsing, dan eksekusi kode besar sekaligus — menaikkan FCP/LCP/TBT dan bounce rate.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60920" y="1691640"/>
            <a:ext cx="4206240" cy="4370832"/>
          </a:xfrm>
          <a:prstGeom prst="roundRect">
            <a:avLst>
              <a:gd name="adj" fmla="val 1304"/>
            </a:avLst>
          </a:prstGeom>
          <a:solidFill>
            <a:srgbClr val="EEF4F6"/>
          </a:solidFill>
          <a:ln w="15875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id-ID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08" y="3374136"/>
            <a:ext cx="512064" cy="5120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39227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1.1 — Perbandingan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MPA vs SPA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28342FD-AD0F-B822-DBE1-F1024AEC1E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1337" y="1563624"/>
            <a:ext cx="4906921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896112" y="2002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874520" y="2039112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pengaruh hybrid lazy loading &amp; code splitting terhadap metrik performa (FCP, LCP, TBT, bundle size) pada aplikasi kompleksitas TINGGI (SIMTA)?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73368" y="178308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7"/>
          <p:cNvSpPr/>
          <p:nvPr/>
        </p:nvSpPr>
        <p:spPr>
          <a:xfrm>
            <a:off x="6629400" y="200253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607808" y="2039112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pengaruhnya pada aplikasi kompleksitas RENDAH (Company Profile)?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97764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0"/>
          <p:cNvSpPr/>
          <p:nvPr/>
        </p:nvSpPr>
        <p:spPr>
          <a:xfrm>
            <a:off x="896112" y="41970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1874520" y="4233672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perbedaan efektivitas strategi antara aplikasi kompleksitas tinggi dan rendah?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73368" y="397764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3"/>
          <p:cNvSpPr/>
          <p:nvPr/>
        </p:nvSpPr>
        <p:spPr>
          <a:xfrm>
            <a:off x="6629400" y="41970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7607808" y="4233672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rekomendasi strategi optimasi yang sesuai berdasarkan tingkat kompleksitas aplikasi web?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&amp; Batasan Penelitian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257800" cy="4343400"/>
          </a:xfrm>
          <a:prstGeom prst="roundRect">
            <a:avLst>
              <a:gd name="adj" fmla="val 1474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3055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0120" y="2651760"/>
            <a:ext cx="4617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pengaruh optimasi pada aplikasi kompleksitas tinggi (SIMTA) — memisahkan pustaka besar (Chart.js, Pinia).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pengaruhnya pada aplikasi kompleksitas rendah (Company Profile).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efektivitas strategi antar kedua tingkat kompleksitas.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rekomendasi strategi optimasi berbasis tingkat kompleksitas.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1737360"/>
            <a:ext cx="5285232" cy="4343400"/>
          </a:xfrm>
          <a:prstGeom prst="roundRect">
            <a:avLst>
              <a:gd name="adj" fmla="val 1474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3055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Batasan Penelitian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83680" y="265176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Vue.js 3.x (Composition API) + Vite build tool.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objek uji: SIMTA (kompleks) &amp; Company Profile (sederhana).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Teknik: route/component lazy loading, dynamic import, code splitting, prefetching.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FCP, LCP, TBT, Load Time, JS Heap, Lighthouse Score, TTI, Bundle Size.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Alat: PerformanceObserver + Lighthouse via Puppeteer, CPU throttling 4x di localhost.</a:t>
            </a:r>
            <a:endParaRPr lang="en-US" sz="1150" dirty="0"/>
          </a:p>
          <a:p>
            <a:pPr marL="177800" indent="-1778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mencakup SSR, PWA, dan optimasi backend/database.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Tinjauan Pustaka &amp; Gap Penelitian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46520" cy="932688"/>
          </a:xfrm>
          <a:prstGeom prst="roundRect">
            <a:avLst>
              <a:gd name="adj" fmla="val 490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868680" y="189280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Kowalczyk &amp; Szandała (2024)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20370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visibilitas SPA vs MPA — fokus indexing, bukan performa.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825496"/>
            <a:ext cx="6446520" cy="932688"/>
          </a:xfrm>
          <a:prstGeom prst="roundRect">
            <a:avLst>
              <a:gd name="adj" fmla="val 490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7"/>
          <p:cNvSpPr/>
          <p:nvPr/>
        </p:nvSpPr>
        <p:spPr>
          <a:xfrm>
            <a:off x="868680" y="293522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Bara, Boiangiu &amp; Tudose (2024)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2461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memperbaiki FCP/LCP; tanpa code splitting &amp; tanpa kompleksitas.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867912"/>
            <a:ext cx="6446520" cy="932688"/>
          </a:xfrm>
          <a:prstGeom prst="roundRect">
            <a:avLst>
              <a:gd name="adj" fmla="val 490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0"/>
          <p:cNvSpPr/>
          <p:nvPr/>
        </p:nvSpPr>
        <p:spPr>
          <a:xfrm>
            <a:off x="868680" y="397764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 Singh &amp; Sharma (2024)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42885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+ code splitting turunkan load time ±40%; bersifat umum.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910328"/>
            <a:ext cx="6446520" cy="932688"/>
          </a:xfrm>
          <a:prstGeom prst="roundRect">
            <a:avLst>
              <a:gd name="adj" fmla="val 490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3"/>
          <p:cNvSpPr/>
          <p:nvPr/>
        </p:nvSpPr>
        <p:spPr>
          <a:xfrm>
            <a:off x="868680" y="502005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Setiawan &amp; Fauzi (2025)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3309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Komparatif via Lighthouse saja; tanpa uji kompleksitas &amp; CPU throttling.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52360" y="1783080"/>
            <a:ext cx="4114800" cy="4279392"/>
          </a:xfrm>
          <a:prstGeom prst="roundRect">
            <a:avLst>
              <a:gd name="adj" fmla="val 1778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Shape 16"/>
          <p:cNvSpPr/>
          <p:nvPr/>
        </p:nvSpPr>
        <p:spPr>
          <a:xfrm>
            <a:off x="7726680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218541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366760" y="20482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Penelitian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726680" y="2788920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penelitian komprehensif yang mengkaji hybrid lazy loading &amp; code splitting pada Vue.js + Vite dengan tingkat kompleksitas aplikasi sebagai faktor penentu strategi.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726680" y="443484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studi ini:
</a:t>
            </a:r>
            <a:r>
              <a:rPr lang="en-US" sz="1150" dirty="0">
                <a:solidFill>
                  <a:srgbClr val="9F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dua kompleksitas ekstrem, memakai PerformanceObserver + Lighthouse, dan menguji pada CPU throttling.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LANDASAN TEORI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Teknologi: SPA, Vue.js &amp; Vite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863840" y="475488"/>
            <a:ext cx="3429000" cy="1956816"/>
          </a:xfrm>
          <a:prstGeom prst="roundRect">
            <a:avLst>
              <a:gd name="adj" fmla="val 274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8119872" y="502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6400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19872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 &amp; Virtual DOM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119872" y="1645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membuat Virtual DOM baru, membandingkannya dengan yang lama (diffing), lalu memperbarui hanya node yang berubah — jauh lebih efisien.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863840" y="2478025"/>
            <a:ext cx="3429000" cy="1947672"/>
          </a:xfrm>
          <a:prstGeom prst="roundRect">
            <a:avLst>
              <a:gd name="adj" fmla="val 274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8119872" y="2551177"/>
            <a:ext cx="566928" cy="511347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688337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9872" y="3236977"/>
            <a:ext cx="2926080" cy="41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Vue.js 3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119872" y="3694177"/>
            <a:ext cx="2971800" cy="783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framework dengan Composition API &amp; reactivity berbasis ES6 Proxy: rendering lebih cepat, memory footprint &amp; bundle lebih kecil.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863840" y="4470521"/>
            <a:ext cx="3429000" cy="1993392"/>
          </a:xfrm>
          <a:prstGeom prst="roundRect">
            <a:avLst>
              <a:gd name="adj" fmla="val 274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2"/>
          <p:cNvSpPr/>
          <p:nvPr/>
        </p:nvSpPr>
        <p:spPr>
          <a:xfrm>
            <a:off x="8119872" y="4552817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4689977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19872" y="5238617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 Build Tool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119872" y="5695817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native ES modules &amp; Rollup untuk production — code splitting berbasis dynamic import dan vendor chunk separation secara default.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-553212" y="5374882"/>
            <a:ext cx="4613148" cy="4169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2.1 — Mekanisme diffing Virtual DOM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3069641" y="5754407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2.5 — Aliran data asinkron SIMTA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5DAC48-34F4-8E51-5D82-15FDACD01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20" y="1660554"/>
            <a:ext cx="2575748" cy="36466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008420-27AD-9C7E-A8A0-D09E236CC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87" y="1609817"/>
            <a:ext cx="4560271" cy="4144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C19ADB2-D858-0791-06B5-CD3D39C6E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071" y="211899"/>
            <a:ext cx="4132425" cy="564916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LANDASAN TEORI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Browser Memproses JavaScript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465401" y="1339596"/>
            <a:ext cx="2542032" cy="1088136"/>
          </a:xfrm>
          <a:prstGeom prst="roundRect">
            <a:avLst>
              <a:gd name="adj" fmla="val 324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2648281" y="13395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42641" y="13944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66569" y="1961388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Mengunduh file JS via HTTP request.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608401" y="2395728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88261" y="2624328"/>
            <a:ext cx="2542032" cy="978408"/>
          </a:xfrm>
          <a:prstGeom prst="roundRect">
            <a:avLst>
              <a:gd name="adj" fmla="val 324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8"/>
          <p:cNvSpPr/>
          <p:nvPr/>
        </p:nvSpPr>
        <p:spPr>
          <a:xfrm>
            <a:off x="2671141" y="25694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265501" y="26243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→ AST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89429" y="3191256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kode → Abstract Syntax Tree. Menyita Main Thread.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488261" y="3803904"/>
            <a:ext cx="2542032" cy="1019556"/>
          </a:xfrm>
          <a:prstGeom prst="roundRect">
            <a:avLst>
              <a:gd name="adj" fmla="val 324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2"/>
          <p:cNvSpPr/>
          <p:nvPr/>
        </p:nvSpPr>
        <p:spPr>
          <a:xfrm>
            <a:off x="2671141" y="3749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3265501" y="38039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689429" y="437083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diubah menjadi instruksi prosesor (V8).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488261" y="4978908"/>
            <a:ext cx="2542032" cy="1133856"/>
          </a:xfrm>
          <a:prstGeom prst="roundRect">
            <a:avLst>
              <a:gd name="adj" fmla="val 324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6"/>
          <p:cNvSpPr/>
          <p:nvPr/>
        </p:nvSpPr>
        <p:spPr>
          <a:xfrm>
            <a:off x="2671141" y="49331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3265501" y="49880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689429" y="55549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memori (JS Heap) &amp; Vue mulai render.</a:t>
            </a:r>
            <a:endParaRPr lang="en-US" sz="10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024" y="2423160"/>
            <a:ext cx="256032" cy="25603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76072" y="6245352"/>
            <a:ext cx="10724388" cy="598933"/>
          </a:xfrm>
          <a:prstGeom prst="roundRect">
            <a:avLst>
              <a:gd name="adj" fmla="val 50000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7" name="Shape 20"/>
          <p:cNvSpPr/>
          <p:nvPr/>
        </p:nvSpPr>
        <p:spPr>
          <a:xfrm>
            <a:off x="672084" y="6310555"/>
            <a:ext cx="566928" cy="41863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6416165"/>
            <a:ext cx="292608" cy="21607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96212" y="5998465"/>
            <a:ext cx="9601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bersifat single-threaded.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memproses bundle besar, browser tidak dapat merespons klik — kondisi ini diukur oleh Total Blocking Time (TBT). Inilah dasar teknis mengapa code splitting efektif.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822960" y="56464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11315700" y="6443534"/>
            <a:ext cx="548640" cy="202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1DE1AC-4793-07EF-79AF-5A67D58CC97F}"/>
              </a:ext>
            </a:extLst>
          </p:cNvPr>
          <p:cNvSpPr txBox="1"/>
          <p:nvPr/>
        </p:nvSpPr>
        <p:spPr>
          <a:xfrm>
            <a:off x="6541339" y="5875220"/>
            <a:ext cx="609447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2.2 — </a:t>
            </a: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Tahapan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pemrosesan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 oleh </a:t>
            </a: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V8</a:t>
            </a:r>
            <a:endParaRPr lang="en-US" sz="1250" dirty="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10692983-DB45-86D0-1057-A8331F011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603829" y="3589020"/>
            <a:ext cx="256032" cy="256032"/>
          </a:xfrm>
          <a:prstGeom prst="rect">
            <a:avLst/>
          </a:prstGeom>
        </p:spPr>
      </p:pic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7C507EC2-7A57-FF11-111D-2DCE1B30B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603829" y="4805172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METODE PENELITIAN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&amp; Variabel Penelitian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eksperimental kuantitatif — comparative experimental. Dua versi tiap aplikasi diuji identik: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5"/>
          <p:cNvSpPr/>
          <p:nvPr/>
        </p:nvSpPr>
        <p:spPr>
          <a:xfrm>
            <a:off x="896112" y="21945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Baseline
</a:t>
            </a: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/ eager load — semua kode dalam satu file besar.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91072" y="2057400"/>
            <a:ext cx="5257800" cy="1234440"/>
          </a:xfrm>
          <a:prstGeom prst="roundRect">
            <a:avLst>
              <a:gd name="adj" fmla="val 5185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7"/>
          <p:cNvSpPr/>
          <p:nvPr/>
        </p:nvSpPr>
        <p:spPr>
          <a:xfrm>
            <a:off x="6547104" y="21945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Optimized
</a:t>
            </a: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code splitting, lazy loading, kompresi Brotli/Gzip, prefetching.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520440"/>
            <a:ext cx="342900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xt 10"/>
          <p:cNvSpPr/>
          <p:nvPr/>
        </p:nvSpPr>
        <p:spPr>
          <a:xfrm>
            <a:off x="822960" y="35204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Independen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96112" y="4224528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optimasi (baseline vs hybrid)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kompleksitas (tinggi vs rendah)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3520440"/>
            <a:ext cx="342900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3"/>
          <p:cNvSpPr/>
          <p:nvPr/>
        </p:nvSpPr>
        <p:spPr>
          <a:xfrm>
            <a:off x="4251960" y="3520440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028F84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xt 14"/>
          <p:cNvSpPr/>
          <p:nvPr/>
        </p:nvSpPr>
        <p:spPr>
          <a:xfrm>
            <a:off x="4434840" y="35204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Dependen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07992" y="4224528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FCP, LCP, TBT, Load Time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Heap, Bundle Size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Score, TTI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3520440"/>
            <a:ext cx="342900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7"/>
          <p:cNvSpPr/>
          <p:nvPr/>
        </p:nvSpPr>
        <p:spPr>
          <a:xfrm>
            <a:off x="7863840" y="3520440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8"/>
          <p:cNvSpPr/>
          <p:nvPr/>
        </p:nvSpPr>
        <p:spPr>
          <a:xfrm>
            <a:off x="8046720" y="35204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Kontrol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19872" y="4224528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Vue.js 3.x &amp; Vite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browser identik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localhost (CPU-bound)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274B224-D94B-9DD9-1E88-9E51AB1F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2" y="72105"/>
            <a:ext cx="5766866" cy="535333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METODE PENELITIAN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Objek Uji: Dua Tingkat Kompleksitas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25321"/>
            <a:ext cx="5257800" cy="1908810"/>
          </a:xfrm>
          <a:prstGeom prst="roundRect">
            <a:avLst>
              <a:gd name="adj" fmla="val 3137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896112" y="155219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68021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53390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SIMTA  </a:t>
            </a: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Kompleksitas Tinggi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60120" y="2265426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rute navigasi · 50+ komponen Vue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Pinia, Vue-Router bersamaan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asinkron · visualisasi real-time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autentikasi pengguna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413760"/>
            <a:ext cx="5257800" cy="1794129"/>
          </a:xfrm>
          <a:prstGeom prst="roundRect">
            <a:avLst>
              <a:gd name="adj" fmla="val 3137"/>
            </a:avLst>
          </a:prstGeom>
          <a:solidFill>
            <a:srgbClr val="EEF4F6"/>
          </a:solidFill>
          <a:ln w="1587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896112" y="3432049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560065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13761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Profile  </a:t>
            </a: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Kompleksitas Rendah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60120" y="4145281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dominan statis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grafik interaktif / pustaka berat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manajemen data kompleks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awal sudah ringkas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971628" y="5642231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2.4 — ERD modul bimbingan SIMTA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324094"/>
            <a:ext cx="5257800" cy="1280161"/>
          </a:xfrm>
          <a:prstGeom prst="roundRect">
            <a:avLst>
              <a:gd name="adj" fmla="val 3627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4"/>
          <p:cNvSpPr/>
          <p:nvPr/>
        </p:nvSpPr>
        <p:spPr>
          <a:xfrm>
            <a:off x="896112" y="5436491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dua ekstrem?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96112" y="5820539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relasi data &amp; ketergantungan pustaka besar SIMTA menghasilkan bundle monolitik yang jauh lebih besar — menjadikannya representatif untuk menguji efek code splitting yang terukur, kontras dengan CP yang minimal.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METODE PENELITIAN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 &amp; Skenario Pengujian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72184"/>
            <a:ext cx="6035040" cy="859536"/>
          </a:xfrm>
          <a:prstGeom prst="roundRect">
            <a:avLst>
              <a:gd name="adj" fmla="val 422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859536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8196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721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PerformanceObserver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600200" y="18013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primer — merekam FCP, LCP, TBT, Load Time &amp; JS Heap langsung dari mesin browser tanpa overhead.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2395728"/>
            <a:ext cx="6035040" cy="813816"/>
          </a:xfrm>
          <a:prstGeom prst="roundRect">
            <a:avLst>
              <a:gd name="adj" fmla="val 422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859536" y="26243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7523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4048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 v11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00200" y="273405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sekunder — audit standar industri: Performance Score, TTI &amp; Speed Index untuk triangulasi data.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3273552"/>
            <a:ext cx="6035040" cy="813816"/>
          </a:xfrm>
          <a:prstGeom prst="roundRect">
            <a:avLst>
              <a:gd name="adj" fmla="val 4225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2"/>
          <p:cNvSpPr/>
          <p:nvPr/>
        </p:nvSpPr>
        <p:spPr>
          <a:xfrm>
            <a:off x="859536" y="346557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59359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2461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+ CPU 4x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00200" y="35753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Otomasi browser, 5 repetisi/skenario, simulasi CPU throttling 4x di localhost (variabel jaringan dieliminasi).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472184" y="4151376"/>
            <a:ext cx="4462272" cy="1059942"/>
          </a:xfrm>
          <a:prstGeom prst="roundRect">
            <a:avLst>
              <a:gd name="adj" fmla="val 3070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 dirty="0"/>
          </a:p>
        </p:txBody>
      </p:sp>
      <p:sp>
        <p:nvSpPr>
          <p:cNvPr id="22" name="Text 16"/>
          <p:cNvSpPr/>
          <p:nvPr/>
        </p:nvSpPr>
        <p:spPr>
          <a:xfrm>
            <a:off x="1700784" y="41696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Kondisi Pengujian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700784" y="4608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Normal — 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CPU penuh (patokan).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700784" y="488213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CPU 4x lebih lambat — </a:t>
            </a: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perangkat spesifikasi rendah.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472184" y="5428487"/>
            <a:ext cx="2139696" cy="1059943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Text 20"/>
          <p:cNvSpPr/>
          <p:nvPr/>
        </p:nvSpPr>
        <p:spPr>
          <a:xfrm>
            <a:off x="1609344" y="5341239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1618488" y="5926455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data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618488" y="6182487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metrik / aplikasi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794760" y="5428487"/>
            <a:ext cx="2139696" cy="1059943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4"/>
          <p:cNvSpPr/>
          <p:nvPr/>
        </p:nvSpPr>
        <p:spPr>
          <a:xfrm>
            <a:off x="3931920" y="5341239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200" dirty="0"/>
          </a:p>
        </p:txBody>
      </p:sp>
      <p:sp>
        <p:nvSpPr>
          <p:cNvPr id="31" name="Text 25"/>
          <p:cNvSpPr/>
          <p:nvPr/>
        </p:nvSpPr>
        <p:spPr>
          <a:xfrm>
            <a:off x="3941064" y="5926455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repetisi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3941064" y="6182487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skenario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7269480" y="5897880"/>
            <a:ext cx="4096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2.7 — Alur pengujian otomatis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1F612C8-778B-B604-75AC-7D8054B912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3495" y="155448"/>
            <a:ext cx="4601097" cy="57956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EAA0500-39C5-94FE-8290-898A5EF87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692" y="1418499"/>
            <a:ext cx="5541264" cy="368944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Reduksi Ukuran Bundle (SIMTA)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79"/>
            <a:ext cx="2179320" cy="1417319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777240" y="191109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 KB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6384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7523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build (uncompressed)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2676" y="1793403"/>
            <a:ext cx="202311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8"/>
          <p:cNvSpPr/>
          <p:nvPr/>
        </p:nvSpPr>
        <p:spPr>
          <a:xfrm>
            <a:off x="3059836" y="1921419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 KB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068980" y="2506635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68980" y="2762667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bundle setelah splitting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49062" y="1797975"/>
            <a:ext cx="1840611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/>
          <p:nvPr/>
        </p:nvSpPr>
        <p:spPr>
          <a:xfrm>
            <a:off x="5186222" y="1925991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≈65 KB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195366" y="2511207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Terkompresi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95366" y="2767239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Brotli/Gzip · Chart.js dipisah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5486400" cy="2651760"/>
          </a:xfrm>
          <a:prstGeom prst="roundRect">
            <a:avLst>
              <a:gd name="adj" fmla="val 2414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6"/>
          <p:cNvSpPr/>
          <p:nvPr/>
        </p:nvSpPr>
        <p:spPr>
          <a:xfrm>
            <a:off x="896112" y="3611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Kunci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40233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 bundle berasal dari pustaka pihak ketiga; Chart.js paling mendominasi.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dipindah ke chunk vendor-charts.js — hanya dimuat saat halaman grafik dibuka.</a:t>
            </a:r>
            <a:endParaRPr lang="en-US" sz="1250" dirty="0"/>
          </a:p>
          <a:p>
            <a:pPr marL="152400" indent="-1524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awal turun &gt;40% tanpa mengorbankan fungsionalitas.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89826" y="5209708"/>
            <a:ext cx="5928360" cy="3760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3.1 — Proporsi </a:t>
            </a: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eksternal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kode aplikasi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Contentful Paint (FCP)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126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783080"/>
            <a:ext cx="4370832" cy="2011680"/>
          </a:xfrm>
          <a:prstGeom prst="roundRect">
            <a:avLst>
              <a:gd name="adj" fmla="val 3182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7406640" y="20116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−22,9%
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SIMTA: 1144 ms → 881,6 ms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7178040" y="3977640"/>
            <a:ext cx="4370832" cy="2103120"/>
          </a:xfrm>
          <a:prstGeom prst="roundRect">
            <a:avLst>
              <a:gd name="adj" fmla="val 304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6"/>
          <p:cNvSpPr/>
          <p:nvPr/>
        </p:nvSpPr>
        <p:spPr>
          <a:xfrm>
            <a:off x="740664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06640" y="4462272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SIMTA, FCP membaik karena volume JS yang di-parse V8 berkurang. Pada Company Profile selisih hampir nol (367→364 ms) — bundle kecil tak menyisakan ruang perbaikan. Efektivitas bergantung pada kompleksitas.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Blocking Time (TBT)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126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1783080"/>
            <a:ext cx="4370832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7315200" y="1911096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−22,7%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7324344" y="2496312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 SIMTA (CPU 4x)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24344" y="2752344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1023,0 ms → 790,8 ms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178040" y="3337560"/>
            <a:ext cx="4370832" cy="2743200"/>
          </a:xfrm>
          <a:prstGeom prst="roundRect">
            <a:avLst>
              <a:gd name="adj" fmla="val 233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8"/>
          <p:cNvSpPr/>
          <p:nvPr/>
        </p:nvSpPr>
        <p:spPr>
          <a:xfrm>
            <a:off x="7406640" y="3493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penting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06640" y="3858768"/>
            <a:ext cx="3977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normal: TBT optimized sedikit naik (111,8→137,2 ms) akibat overhead microtask dynamic import — tetap jauh di bawah ambang 200 ms.</a:t>
            </a:r>
            <a:endParaRPr lang="en-US" sz="1150" dirty="0"/>
          </a:p>
          <a:p>
            <a:pPr marL="152400" indent="-1524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 muncul pada CPU lambat, di mana baseline SIMTA (1023 ms) melampaui batas 300 ms.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Kondisi Perangkat Lambat (CPU 4×)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777240" y="186537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6384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 SIMTA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7066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1095,2 ms → 1031,8 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0" y="173736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8"/>
          <p:cNvSpPr/>
          <p:nvPr/>
        </p:nvSpPr>
        <p:spPr>
          <a:xfrm>
            <a:off x="4343400" y="186537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43,1%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352544" y="2450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 CP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52544" y="27066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171,2 ms → 97,4 ms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1737360"/>
            <a:ext cx="306324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/>
          <p:nvPr/>
        </p:nvSpPr>
        <p:spPr>
          <a:xfrm>
            <a:off x="7909560" y="186537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22,4%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918704" y="245059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SIMTA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18704" y="270662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1523,2 ms → 1182,4 ms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383280"/>
            <a:ext cx="5486400" cy="2697480"/>
          </a:xfrm>
          <a:prstGeom prst="roundRect">
            <a:avLst>
              <a:gd name="adj" fmla="val 2373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xt 16"/>
          <p:cNvSpPr/>
          <p:nvPr/>
        </p:nvSpPr>
        <p:spPr>
          <a:xfrm>
            <a:off x="896112" y="35295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SIMTA — Metrik Kunci (CPU 4×)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6112" y="39684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633472" y="39684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370832" y="39684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96112" y="44714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633472" y="44714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1523,2 ms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370832" y="44714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1182,4 ms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96112" y="4471416"/>
            <a:ext cx="4983480" cy="0"/>
          </a:xfrm>
          <a:prstGeom prst="line">
            <a:avLst/>
          </a:prstGeom>
          <a:noFill/>
          <a:ln w="952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4"/>
          <p:cNvSpPr/>
          <p:nvPr/>
        </p:nvSpPr>
        <p:spPr>
          <a:xfrm>
            <a:off x="896112" y="4974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633472" y="4974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1023,0 ms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370832" y="4974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790,8 ms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96112" y="4974336"/>
            <a:ext cx="4983480" cy="0"/>
          </a:xfrm>
          <a:prstGeom prst="line">
            <a:avLst/>
          </a:prstGeom>
          <a:noFill/>
          <a:ln w="952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1" name="Text 28"/>
          <p:cNvSpPr/>
          <p:nvPr/>
        </p:nvSpPr>
        <p:spPr>
          <a:xfrm>
            <a:off x="896112" y="54772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2633472" y="54772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1095,2 ms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370832" y="54772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1031,8 ms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96112" y="5477256"/>
            <a:ext cx="4983480" cy="0"/>
          </a:xfrm>
          <a:prstGeom prst="line">
            <a:avLst/>
          </a:prstGeom>
          <a:noFill/>
          <a:ln w="9525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7" name="Text 33"/>
          <p:cNvSpPr/>
          <p:nvPr/>
        </p:nvSpPr>
        <p:spPr>
          <a:xfrm>
            <a:off x="6632143" y="6344602"/>
            <a:ext cx="4873752" cy="3867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3.6 — Total waktu muat pada CPU 4×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EDDF892-6450-ACF9-2B4C-C0D75F9CA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414" y="3250501"/>
            <a:ext cx="5151158" cy="30300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Triangulasi: Google Lighthouse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777240" y="191109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−41,4%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6384" y="24963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 (Lighthouse)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7523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105,2 ms → 61,6 ms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8"/>
          <p:cNvSpPr/>
          <p:nvPr/>
        </p:nvSpPr>
        <p:spPr>
          <a:xfrm>
            <a:off x="4480560" y="1911096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64–66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489704" y="24963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Score SIMTA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489704" y="27523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 (banyak aspek non-bundle)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1783080"/>
            <a:ext cx="2788920" cy="1417320"/>
          </a:xfrm>
          <a:prstGeom prst="roundRect">
            <a:avLst>
              <a:gd name="adj" fmla="val 4516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/>
          <p:nvPr/>
        </p:nvSpPr>
        <p:spPr>
          <a:xfrm>
            <a:off x="8183880" y="191109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99–100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193024" y="2496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CP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193024" y="275234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hampir sempurna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10908792" cy="2651760"/>
          </a:xfrm>
          <a:prstGeom prst="roundRect">
            <a:avLst>
              <a:gd name="adj" fmla="val 2414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Shape 16"/>
          <p:cNvSpPr/>
          <p:nvPr/>
        </p:nvSpPr>
        <p:spPr>
          <a:xfrm>
            <a:off x="914400" y="36576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9476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36393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yang menguntungkan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645920" y="420624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&amp; LCP Lighthouse versi optimized tampak sedikit lebih lambat — konsekuensi staggered execution dari lazy loading (modul dimuat bertahap).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 TBT turun 41,4%: tidak ada long task yang memblokir respons klik.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interaktivitas pengguna justru membaik meski beberapa metrik loading terlihat mundur. Metodologi Lighthouse (simulasi mobile) membuat nilai absolut FCP/LCP jauh lebih tinggi dari PerformanceObserver.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HASIL &amp; PEMBAHASAN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Dampak: SIMTA vs Company Profile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29000" y="1783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5780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1783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Keterangan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2860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/>
          <p:nvPr/>
        </p:nvSpPr>
        <p:spPr>
          <a:xfrm>
            <a:off x="777240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0" y="22860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+22,4%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57800" y="2286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−30,2%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01000" y="22860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SIMTA membaik · CP memburuk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852928"/>
            <a:ext cx="10881360" cy="566928"/>
          </a:xfrm>
          <a:prstGeom prst="rect">
            <a:avLst/>
          </a:prstGeom>
          <a:solidFill>
            <a:srgbClr val="EEF4F6"/>
          </a:solidFill>
          <a:ln w="635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4"/>
          <p:cNvSpPr/>
          <p:nvPr/>
        </p:nvSpPr>
        <p:spPr>
          <a:xfrm>
            <a:off x="777240" y="28529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29000" y="28529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+22,7%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7800" y="28529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+81,8%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01000" y="28529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membaik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41985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9"/>
          <p:cNvSpPr/>
          <p:nvPr/>
        </p:nvSpPr>
        <p:spPr>
          <a:xfrm>
            <a:off x="777240" y="34198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29000" y="34198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+5,8%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57800" y="34198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+43,1%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01000" y="341985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membaik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3986784"/>
            <a:ext cx="10881360" cy="566928"/>
          </a:xfrm>
          <a:prstGeom prst="rect">
            <a:avLst/>
          </a:prstGeom>
          <a:solidFill>
            <a:srgbClr val="EEF4F6"/>
          </a:solidFill>
          <a:ln w="635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24"/>
          <p:cNvSpPr/>
          <p:nvPr/>
        </p:nvSpPr>
        <p:spPr>
          <a:xfrm>
            <a:off x="777240" y="39867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Heap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29000" y="39867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−7,9%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57800" y="39867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−1,6%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01000" y="398678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memori minimal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455371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29"/>
          <p:cNvSpPr/>
          <p:nvPr/>
        </p:nvSpPr>
        <p:spPr>
          <a:xfrm>
            <a:off x="777240" y="45537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Score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429000" y="455371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−3,3%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257800" y="45537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−1,0%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01000" y="45537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minimal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0F3B4C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7" name="Text 34"/>
          <p:cNvSpPr/>
          <p:nvPr/>
        </p:nvSpPr>
        <p:spPr>
          <a:xfrm>
            <a:off x="960120" y="5257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code splitting hanya bila bundle awal &gt;200 KB terkompresi dan memuat pustaka berat yang tak dibutuhkan di halaman utama. Pada website sederhana, teknik ini justru dapat memperlambat FCP.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0408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PENUTUP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74980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Shape 4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16712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208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awal turun &gt;40%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2679192"/>
            <a:ext cx="4663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pustaka besar (Chart.js, Pinia) via manualChunks: SIMTA 346 KB → ±195 KB. Browser tak lagi memuat kode grafik di halaman login.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73368" y="178308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6629400" y="20391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16712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33488" y="20208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TBT berkurang signifikan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47688" y="2679192"/>
            <a:ext cx="4663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22,7% (PerformanceObserver) dan 41,4% (Lighthouse). Browser lebih responsif meski konten muncul sedikit lebih lambat — trade-off yang menguntungkan.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7764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EF4F6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2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36168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21538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 terbesar di perangkat lemah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14400" y="4873752"/>
            <a:ext cx="4663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CPU 4×, TBT SIMTA 1023 ms → 790,8 ms. Periode browser tidak responsif jauh lebih singkat bagi pengguna perangkat lama.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73368" y="3977640"/>
            <a:ext cx="5175504" cy="2011680"/>
          </a:xfrm>
          <a:prstGeom prst="roundRect">
            <a:avLst>
              <a:gd name="adj" fmla="val 3182"/>
            </a:avLst>
          </a:prstGeom>
          <a:solidFill>
            <a:srgbClr val="E1EDF1"/>
          </a:solidFill>
          <a:ln w="12700">
            <a:solidFill>
              <a:srgbClr val="D2E0E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Shape 16"/>
          <p:cNvSpPr/>
          <p:nvPr/>
        </p:nvSpPr>
        <p:spPr>
          <a:xfrm>
            <a:off x="6629400" y="4233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416" y="436168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33488" y="421538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Kompleksitas menentukan strategi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647688" y="4873752"/>
            <a:ext cx="46634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Company Profile, FCP justru memburuk 30,2% akibat overhead HTTP chunk. Optimasi harus disesuaikan tingkat kompleksitas aplikasi.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777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PENUTUP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untuk Penelitian Selanjutnya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175504" cy="14630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/>
          <p:nvPr/>
        </p:nvSpPr>
        <p:spPr>
          <a:xfrm>
            <a:off x="896112" y="2221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Integrasi PWA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96112" y="2606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permanen via Service Workers agar kunjungan ulang tanpa unduh ulang.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73368" y="2057400"/>
            <a:ext cx="5175504" cy="14630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2" name="Text 9"/>
          <p:cNvSpPr/>
          <p:nvPr/>
        </p:nvSpPr>
        <p:spPr>
          <a:xfrm>
            <a:off x="6629400" y="2221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Network throttling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29400" y="2606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variabel jaringan (3G/4G) untuk dampak gabungan CPU + jaringan.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703320"/>
            <a:ext cx="5175504" cy="14630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Text 12"/>
          <p:cNvSpPr/>
          <p:nvPr/>
        </p:nvSpPr>
        <p:spPr>
          <a:xfrm>
            <a:off x="896112" y="38679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Perbandingan SSR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96112" y="4251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Menguji Nuxt.js — HTML matang dari server untuk FCP/TBT lebih baik.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73368" y="3703320"/>
            <a:ext cx="5175504" cy="14630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Text 15"/>
          <p:cNvSpPr/>
          <p:nvPr/>
        </p:nvSpPr>
        <p:spPr>
          <a:xfrm>
            <a:off x="6629400" y="38679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ML code splitting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29400" y="4251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Memprediksi chunk grouping optimal dari pola navigasi pengguna.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532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Mustari Muhiddin · D082241013 · Magister Teknik Informatika · Universitas Hasanuddin 2026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94360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LAMPIRAN · SOURCE CODE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Kode Program, Data Pengukuran &amp;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08720" cy="137160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305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TAUTAN GOOGLE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9631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[ISI LINK GOOGLE DRIVE DI SINI]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718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5E3EA"/>
                </a:solidFill>
                <a:latin typeface="Calibri"/>
              </a:rPr>
              <a:t>Folder berisi arsip ZIP source code + data pengukuran dan berkas slide presentasi.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175504" cy="23774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764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1.  mustari-pnup-main.zip (arsip repositori GitHub)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466344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src/ — kode sumber aplikasi SIMTA (Vue 3, Pinia, Chart.js, service layer)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vite.config.baseline.js &amp; vite.config.optimized.js — konfigurasi manualChunks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dist-* — hasil build kedua versi sebagai bukti ukuran bundle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ukur_multirun.cjs, ukur_lighthouse.cjs — skrip pengukuran Puppeteer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analisis_statistik.py, create_final_charts.py — skrip statistik &amp; grafik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3611880"/>
            <a:ext cx="5175504" cy="237744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7764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2.  data_pengukuran/ &amp; Presentasi-Tesis-Mustari.pptx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87952"/>
            <a:ext cx="466344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multirun_*.json — data 5 repetisi tiap skenario (Tabel 3.1–3.5)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lighthouse_*.json — hasil audit Lighthouse (Tabel 3.6–3.7)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summary_stats.json — rekapitulasi rata-rata &amp; standar deviasi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D5E3EA"/>
                </a:solidFill>
                <a:latin typeface="Calibri"/>
              </a:rPr>
              <a:t>•  Presentasi-Tesis-Mustari.pptx — berkas slide ujian tesis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Total 125 berkas · seluruh angka pada BAB III dapat direproduksi.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D5E3E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1836</Words>
  <Application>Microsoft Office PowerPoint</Application>
  <PresentationFormat>Widescreen</PresentationFormat>
  <Paragraphs>279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Aidil Saputra Kirsan</cp:lastModifiedBy>
  <cp:revision>7</cp:revision>
  <dcterms:created xsi:type="dcterms:W3CDTF">2026-07-14T11:01:37Z</dcterms:created>
  <dcterms:modified xsi:type="dcterms:W3CDTF">2026-07-14T12:32:33Z</dcterms:modified>
</cp:coreProperties>
</file>