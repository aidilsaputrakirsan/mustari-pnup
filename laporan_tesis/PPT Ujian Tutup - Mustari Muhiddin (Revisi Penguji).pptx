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430"/>
                </a:solidFill>
                <a:latin typeface="Calibri"/>
              </a:defRPr>
            </a:pPr>
            <a:r>
              <a:rPr sz="1200" b="0" i="0" u="none" strike="noStrike">
                <a:solidFill>
                  <a:srgbClr val="1F2430"/>
                </a:solidFill>
                <a:latin typeface="Calibri"/>
              </a:rPr>
              <a:t>Lighthouse SIMTA, rata-rata 5 repetisi (ms, lebih rendah lebih baik)</a:t>
            </a:r>
          </a:p>
        </c:rich>
      </c:tx>
      <c:layout/>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A3A9B4"/>
            </a:solidFill>
            <a:effectLst/>
          </c:spPr>
          <c:invertIfNegative val="0"/>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FCP</c:v>
                  </c:pt>
                  <c:pt idx="1">
                    <c:v>LCP</c:v>
                  </c:pt>
                  <c:pt idx="2">
                    <c:v>TTI</c:v>
                  </c:pt>
                  <c:pt idx="3">
                    <c:v>Speed Index</c:v>
                  </c:pt>
                </c:lvl>
              </c:multiLvlStrCache>
            </c:multiLvlStrRef>
          </c:cat>
          <c:val>
            <c:numRef>
              <c:f>Sheet1!$B$2:$B$5</c:f>
              <c:numCache>
                <c:formatCode>General</c:formatCode>
                <c:ptCount val="4"/>
                <c:pt idx="0">
                  <c:v>4960.4</c:v>
                </c:pt>
                <c:pt idx="1">
                  <c:v>5228.4</c:v>
                </c:pt>
                <c:pt idx="2">
                  <c:v>5566.8</c:v>
                </c:pt>
                <c:pt idx="3">
                  <c:v>4960.4</c:v>
                </c:pt>
              </c:numCache>
            </c:numRef>
          </c:val>
        </c:ser>
        <c:ser>
          <c:idx val="1"/>
          <c:order val="1"/>
          <c:tx>
            <c:strRef>
              <c:f>Sheet1!$C$1</c:f>
              <c:strCache>
                <c:ptCount val="1"/>
                <c:pt idx="0">
                  <c:v>Optimized</c:v>
                </c:pt>
              </c:strCache>
            </c:strRef>
          </c:tx>
          <c:spPr>
            <a:solidFill>
              <a:srgbClr val="9B1B30"/>
            </a:solidFill>
            <a:effectLst/>
          </c:spPr>
          <c:invertIfNegative val="0"/>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FCP</c:v>
                  </c:pt>
                  <c:pt idx="1">
                    <c:v>LCP</c:v>
                  </c:pt>
                  <c:pt idx="2">
                    <c:v>TTI</c:v>
                  </c:pt>
                  <c:pt idx="3">
                    <c:v>Speed Index</c:v>
                  </c:pt>
                </c:lvl>
              </c:multiLvlStrCache>
            </c:multiLvlStrRef>
          </c:cat>
          <c:val>
            <c:numRef>
              <c:f>Sheet1!$C$2:$C$5</c:f>
              <c:numCache>
                <c:formatCode>General</c:formatCode>
                <c:ptCount val="4"/>
                <c:pt idx="0">
                  <c:v>3250.2</c:v>
                </c:pt>
                <c:pt idx="1">
                  <c:v>3790.8</c:v>
                </c:pt>
                <c:pt idx="2">
                  <c:v>3964</c:v>
                </c:pt>
                <c:pt idx="3">
                  <c:v>3265.2</c:v>
                </c:pt>
              </c:numCache>
            </c:numRef>
          </c:val>
        </c:ser>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430"/>
                </a:solidFill>
                <a:latin typeface="Calibri"/>
              </a:defRPr>
            </a:pPr>
            <a:endParaRPr lang="en-US"/>
          </a:p>
        </c:txPr>
        <c:crossAx val="2094734552"/>
        <c:crosses val="autoZero"/>
        <c:auto val="1"/>
        <c:lblAlgn val="ctr"/>
        <c:noMultiLvlLbl val="1"/>
      </c:catAx>
      <c:valAx>
        <c:axId val="2094734552"/>
        <c:scaling>
          <c:orientation val="minMax"/>
          <c:max val="6500"/>
          <c:min val="0"/>
        </c:scaling>
        <c:delete val="0"/>
        <c:axPos val="l"/>
        <c:majorGridlines>
          <c:spPr>
            <a:ln w="9525" cap="flat">
              <a:solidFill>
                <a:srgbClr val="E6E8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573"/>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430"/>
                </a:solidFill>
                <a:latin typeface="Calibri"/>
              </a:defRPr>
            </a:pPr>
            <a:r>
              <a:rPr sz="1200" b="0" i="0" u="none" strike="noStrike">
                <a:solidFill>
                  <a:srgbClr val="1F2430"/>
                </a:solidFill>
                <a:latin typeface="Calibri"/>
              </a:rPr>
              <a:t>Perubahan Lighthouse optimized vs baseline (negatif = lebih cepat)</a:t>
            </a:r>
          </a:p>
        </c:rich>
      </c:tx>
      <c:layout/>
      <c:overlay val="0"/>
    </c:title>
    <c:autoTitleDeleted val="0"/>
    <c:plotArea>
      <c:layout/>
      <c:barChart>
        <c:barDir val="bar"/>
        <c:grouping val="clustered"/>
        <c:varyColors val="0"/>
        <c:ser>
          <c:idx val="0"/>
          <c:order val="0"/>
          <c:tx>
            <c:strRef>
              <c:f>Sheet1!$B$1</c:f>
              <c:strCache>
                <c:ptCount val="1"/>
                <c:pt idx="0">
                  <c:v>SIMTA</c:v>
                </c:pt>
              </c:strCache>
            </c:strRef>
          </c:tx>
          <c:spPr>
            <a:solidFill>
              <a:srgbClr val="9B1B30"/>
            </a:solidFill>
            <a:effectLst/>
          </c:spPr>
          <c:invertIfNegative val="0"/>
          <c:dLbls>
            <c:numFmt formatCode="+0.0&quot;%&quot;;-0.0&quot;%&quot;"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FCP</c:v>
                  </c:pt>
                  <c:pt idx="1">
                    <c:v>LCP</c:v>
                  </c:pt>
                  <c:pt idx="2">
                    <c:v>TTI</c:v>
                  </c:pt>
                  <c:pt idx="3">
                    <c:v>Speed Index</c:v>
                  </c:pt>
                </c:lvl>
              </c:multiLvlStrCache>
            </c:multiLvlStrRef>
          </c:cat>
          <c:val>
            <c:numRef>
              <c:f>Sheet1!$B$2:$B$5</c:f>
              <c:numCache>
                <c:formatCode>General</c:formatCode>
                <c:ptCount val="4"/>
                <c:pt idx="0">
                  <c:v>-34.5</c:v>
                </c:pt>
                <c:pt idx="1">
                  <c:v>-27.5</c:v>
                </c:pt>
                <c:pt idx="2">
                  <c:v>-28.8</c:v>
                </c:pt>
                <c:pt idx="3">
                  <c:v>-34.2</c:v>
                </c:pt>
              </c:numCache>
            </c:numRef>
          </c:val>
        </c:ser>
        <c:ser>
          <c:idx val="1"/>
          <c:order val="1"/>
          <c:tx>
            <c:strRef>
              <c:f>Sheet1!$C$1</c:f>
              <c:strCache>
                <c:ptCount val="1"/>
                <c:pt idx="0">
                  <c:v>Company Profile</c:v>
                </c:pt>
              </c:strCache>
            </c:strRef>
          </c:tx>
          <c:spPr>
            <a:solidFill>
              <a:srgbClr val="A3A9B4"/>
            </a:solidFill>
            <a:effectLst/>
          </c:spPr>
          <c:invertIfNegative val="0"/>
          <c:dLbls>
            <c:numFmt formatCode="+0.0&quot;%&quot;;-0.0&quot;%&quot;"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FCP</c:v>
                  </c:pt>
                  <c:pt idx="1">
                    <c:v>LCP</c:v>
                  </c:pt>
                  <c:pt idx="2">
                    <c:v>TTI</c:v>
                  </c:pt>
                  <c:pt idx="3">
                    <c:v>Speed Index</c:v>
                  </c:pt>
                </c:lvl>
              </c:multiLvlStrCache>
            </c:multiLvlStrRef>
          </c:cat>
          <c:val>
            <c:numRef>
              <c:f>Sheet1!$C$2:$C$5</c:f>
              <c:numCache>
                <c:formatCode>General</c:formatCode>
                <c:ptCount val="4"/>
                <c:pt idx="0">
                  <c:v>15.9</c:v>
                </c:pt>
                <c:pt idx="1">
                  <c:v>18</c:v>
                </c:pt>
                <c:pt idx="2">
                  <c:v>17.9</c:v>
                </c:pt>
                <c:pt idx="3">
                  <c:v>15.9</c:v>
                </c:pt>
              </c:numCache>
            </c:numRef>
          </c:val>
        </c:ser>
        <c:dLbls>
          <c:numFmt formatCode="+0.0&quot;%&quot;;-0.0&quot;%&quot;"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430"/>
                </a:solidFill>
                <a:latin typeface="Calibri"/>
              </a:defRPr>
            </a:pPr>
            <a:endParaRPr lang="en-US"/>
          </a:p>
        </c:txPr>
        <c:crossAx val="2094734552"/>
        <c:crosses val="autoZero"/>
        <c:auto val="1"/>
        <c:lblAlgn val="ctr"/>
        <c:noMultiLvlLbl val="1"/>
      </c:catAx>
      <c:valAx>
        <c:axId val="2094734552"/>
        <c:scaling>
          <c:orientation val="minMax"/>
          <c:max val="30"/>
          <c:min val="-45"/>
        </c:scaling>
        <c:delete val="0"/>
        <c:axPos val="b"/>
        <c:majorGridlines>
          <c:spPr>
            <a:ln w="9525" cap="flat">
              <a:solidFill>
                <a:srgbClr val="E6E8EC"/>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5E6573"/>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Assalamualaikum. Pada ujian tutup ini saya tidak mengulang seluruh isi tesis, melainkan menyampaikan bagaimana setiap catatan dari Prof. Niswar dan Dr. Ady pada ujian sebelumnya sudah ditindaklanjuti di naskah perbaikan, ditambah pengembangan prefetching dan data hasil pengukuran ulang. Gambar di kanan adalah inti penelitian: satu bundle 346 KB dipecah menjadi beberapa chunk yang dimuat pada waktu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peta presentasi saya. Tiga catatan pertama berasal langsung dari lembar revisi penguji. Catatan tentang lazy loading dan alasan parameter diberikan oleh kedua penguji, sehingga saya jawab sekali untuk keduanya. Butir 4 dan 5 adalah pengembangan: saat menjelaskan mekanisme lazy loading saya menemukan kelemahannya, lalu menambahkan prefetching; dan saat memverifikasi data saya menemukan tiga masalah di pipeline pengukuran sehingga dilakukan pengukuran 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pengingat: desainnya 2 × 2. Dua aplikasi dengan kompleksitas berbeda, masing-masing dibuild dua versi. Semua skenario diukur dengan dua instrumen, dua kondisi CPU, lima kali pengulangan. Pertanyaannya bukan sekadar apakah optimasi mempercepat, tapi apakah hasilnya tergantung kompleksitas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Menjawab Dr. Ady tentang kontribusi ilmiah, saya mulai dari posisi. Studi terdahulu sudah membuktikan lazy loading dan code splitting mempercepat, misalnya Kumar 2024 sampai sekitar 40 persen. Tetapi semuanya memperlakukan teknik ini seolah selalu menguntungkan. Belum ada yang menguji kompleksitas aplikasi sebagai faktor penentu, dan pengukurannya umumnya hanya dengan Lighthouse, tanpa simulasi perangkat lemah.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Kontribusinya saya rumuskan empat. Yang utama adalah kontribusi empiris: teknik yang sama memberi hasil yang berlawanan arah pada dua aplikasi. Dari situ lahir kontribusi praktis berupa ambang 200 KB terkompresi. Kontribusi teknis adalah prefetching selektif yang menutup kelemahan lazy loading. Kontribusi metodologis adalah protokol pengukuran yang bisa diulang oleh peneliti lain karena skrip dan data mentahnya disertakan.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Menjawab catatan kedua penguji tentang materi. Dua istilah ini sering dianggap sama, padahal terjadi pada waktu berbeda. Code splitting adalah keputusan saat build: bagaimana kode dipotong. Lazy loading adalah keputusan saat runtime di browser: kapan potongan itu dimuat. Analogi sederhananya, buku dipisah per bab, lalu setiap bab baru dibuka ketika dibutuhkan.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Mekanisme code splitting. Pada baseline semua kode, termasuk Chart.js yang besar, menjadi satu berkas 346 KB. Di versi optimized, Rollup memotong kode berdasarkan dua aturan: manualChunks untuk pustaka pihak ketiga, dan setiap import() dinamis pada router menjadi chunk sendiri. Setelah itu tiap chunk dikompresi. Warna mengikuti kapan chunk dimuat: oranye di awal, hijau lewat prefetch, abu-abu hanya saat diklik. Catatan jujur: total ukuran mentah sedikit lebih besar dari baseline karena ada kode pemuat antar-chunk; keuntungannya ada pada unduhan paralel, cache terpisah, dan kompresi.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tingkat kode, perubahannya hanya satu baris per rute: import statis diganti fungsi yang memanggil import(). Fungsi ini baru dijalankan Vue Router ketika rute diakses. Saat itu browser mengunduh chunk rute tersebut, V8 mem-parse dan mengeksekusi hanya chunk itu, lalu komponen dirender. Rute yang tidak dikunjungi tidak pernah membebani main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konkret yang diminta Dr. Ady. Di SIMTA, lima menu utama tidak dimuat bersamaan. Dashboard dimuat di awal karena ia rute pembuka. Daftar Judul dan Detail Bimbingan diunduh diam-diam saat browser senggang. Jadwal Seminar dan Pengaturan baru diunduh ketika diklik. Saya juga meluruskan klaim di naskah lama: Chart.js tidak tertunda, karena Dashboard memang menampilkan grafik sejak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Menjawab kenapa memakai FCP, LCP, TBT, dan bundle size. Alasannya bukan karena populer, tetapi karena keempatnya membentuk satu rantai sebab-akibat. Bundle size adalah penyebab, satu-satunya hal yang diubah langsung oleh code splitting. Bundle harus diunduh, di-parse, dikompilasi, lalu dieksekusi di main thread. FCP dan LCP menangkap dampaknya pada waktu tampil; TBT menangkap dampaknya pada responsivitas. Jadi kalau bundle size turun, kita bisa melacak apakah dampaknya benar-benar sampai ke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ini merangkum definisi dan ambang dari Google Core Web Vitals. Dua pertanyaan lanjutan yang mungkin muncul: kenapa tidak memakai CLS dan INP. CLS tidak berkaitan dengan cara kode dipecah. INP membutuhkan interaksi manusia sungguhan, sehingga untuk pengujian otomatis TBT dipakai sebagai proksi. Kemudian dua instrumen dipakai untuk triangulasi.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menyiapkan jawaban tentang mekanisme lazy loading, saya menemukan kelemahannya. Lazy loading murni memang membuat awal ringan, tetapi setiap klik menu harus menunggu chunk diunduh. Bebannya hanya berpindah dari awal ke saat navigasi. Solusinya prefetching: memanfaatkan waktu senggang browser setelah halaman pertama tampil untuk mengunduh rute yang paling mungkin dituju. Hasilnya awal tetap ringan dan navigasi tetap instan.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Implementasinya di router. Setelah pengguna tiba di Dashboard, router menjadwalkan fungsi prefetch lewat requestIdleCallback, yaitu API browser yang menjalankan fungsi hanya ketika main thread tidak sibuk. Jika browser tidak mendukung, dipakai setTimeout satu detik. Sifatnya selektif: hanya dua rute yang paling sering dituju. Kalau semua rute di-prefetch, kita kembali ke pola eager 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bukti bahwa prefetching benar-benar berjalan, bukan hanya di kode. Aplikasi dibuka lalu dibiarkan tanpa klik, dan permintaan berkas direkam lima kali. Entry dan dua vendor diminta di milidetik pertama, Dashboard sekitar 129 ms, lalu sekitar 351 ms dua rute yang di-prefetch ikut terunduh walau menunya tidak pernah diklik. Jadwal Seminar dan Pengaturan tidak diminta sama sekali, membuktikan prefetch bersifat selektif. Biayanya hanya 5,4 KB terkompresi, kecil dibanding 120,1 KB beban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saya sampaikan terbuka. Saat merevisi, saya menemukan kompresi Brotli ternyata tidak pernah terbentuk, server uji tidak mengirim berkas terkompresi, dan Lighthouse memakai Chrome yang salah. Setelah diperbaiki dan diukur ulang, beberapa hasil berbalik arah: skor Lighthouse SIMTA yang dulu turun kini naik 32 persen. Klaim FCP Company Profile memburuk 30,2 persen ternyata tidak reproducible, sehingga kesimpulan untuk Company Profile saya sandarkan pada Lighthouse yang stabil. Semua perubahan ditandai kuning di naskah.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pada SIMTA. Di Lighthouse, FCP, LCP, TTI, dan Speed Index semuanya turun sekitar 28 sampai 35 persen, dan skor naik dari 56,8 ke 75,0. TBT turun 30,6 persen di Lighthouse dan 18,5 persen di PerformanceObserver pada CPU 4 kali lebih lambat. Harga yang dibayar hanya tambahan memori sekitar 0,3 MB dari referensi modul dinamis dan prefetch.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temuan inti penelitian. Pada SIMTA semua metrik turun sekitar 30 persen. Pada Company Profile, metrik yang sama justru naik 16 sampai 18 persen, artinya lebih lambat. Penyebabnya: aplikasi sederhana tidak punya beban JavaScript yang bisa dihemat, sementara setiap chunk tetap menambah satu request HTTP. Jadi efektivitas optimasi ditentukan oleh kompleksitas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saya ada lima, sesuai Bab IV naskah perbaikan. Rekomendasi praktisnya di kanan: pecah bundle hanya bila bundle awal di atas 200 KB terkompresi dan ada pustaka berat yang tidak dibutuhkan halaman pertama, lalu lengkapi dengan prefetch selektif. Untuk aplikasi sederhana cukup satu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Saya siap menerima pertanyaan dan masukan dari dewan penguji.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548640" y="548640"/>
            <a:ext cx="5486400" cy="274320"/>
          </a:xfrm>
          <a:prstGeom prst="rect">
            <a:avLst/>
          </a:prstGeom>
          <a:noFill/>
          <a:ln/>
        </p:spPr>
        <p:txBody>
          <a:bodyPr wrap="square" lIns="0" tIns="0" rIns="0" bIns="0" rtlCol="0" anchor="t"/>
          <a:lstStyle/>
          <a:p>
            <a:pPr indent="0" marL="0">
              <a:buNone/>
            </a:pPr>
            <a:r>
              <a:rPr lang="en-US" sz="1200" b="1" spc="300" kern="0" dirty="0">
                <a:solidFill>
                  <a:srgbClr val="E9B949"/>
                </a:solidFill>
                <a:latin typeface="Calibri" pitchFamily="34" charset="0"/>
                <a:ea typeface="Calibri" pitchFamily="34" charset="-122"/>
                <a:cs typeface="Calibri" pitchFamily="34" charset="-120"/>
              </a:rPr>
              <a:t>UJIAN TUTUP TESIS</a:t>
            </a:r>
            <a:endParaRPr lang="en-US" sz="1200" dirty="0"/>
          </a:p>
        </p:txBody>
      </p:sp>
      <p:sp>
        <p:nvSpPr>
          <p:cNvPr id="3" name="Text 1"/>
          <p:cNvSpPr txBox="1"/>
          <p:nvPr/>
        </p:nvSpPr>
        <p:spPr>
          <a:xfrm>
            <a:off x="548640" y="841248"/>
            <a:ext cx="8229600" cy="274320"/>
          </a:xfrm>
          <a:prstGeom prst="rect">
            <a:avLst/>
          </a:prstGeom>
          <a:noFill/>
          <a:ln/>
        </p:spPr>
        <p:txBody>
          <a:bodyPr wrap="square" lIns="0" tIns="0" rIns="0" bIns="0" rtlCol="0" anchor="t"/>
          <a:lstStyle/>
          <a:p>
            <a:pPr indent="0" marL="0">
              <a:buNone/>
            </a:pPr>
            <a:r>
              <a:rPr lang="en-US" sz="1100" dirty="0">
                <a:solidFill>
                  <a:srgbClr val="A7AEBB"/>
                </a:solidFill>
                <a:latin typeface="Calibri" pitchFamily="34" charset="0"/>
                <a:ea typeface="Calibri" pitchFamily="34" charset="-122"/>
                <a:cs typeface="Calibri" pitchFamily="34" charset="-120"/>
              </a:rPr>
              <a:t>Program Studi Magister Teknik Informatika · Fakultas Teknik · Universitas Hasanuddin</a:t>
            </a:r>
            <a:endParaRPr lang="en-US" sz="1100" dirty="0"/>
          </a:p>
        </p:txBody>
      </p:sp>
      <p:sp>
        <p:nvSpPr>
          <p:cNvPr id="4" name="Text 2"/>
          <p:cNvSpPr txBox="1"/>
          <p:nvPr/>
        </p:nvSpPr>
        <p:spPr>
          <a:xfrm>
            <a:off x="548640" y="1371600"/>
            <a:ext cx="7589520" cy="265176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Optimisasi Performa Aplikasi Web Single Page Application (SPA) Menggunakan Hybrid Lazy Loading dan Code Splitting pada Framework Vue.js dengan Vite Build Tool Berdasarkan Tingkat Kompleksitas Aplikasi Web</a:t>
            </a:r>
            <a:endParaRPr lang="en-US" sz="2400" dirty="0"/>
          </a:p>
        </p:txBody>
      </p:sp>
      <p:sp>
        <p:nvSpPr>
          <p:cNvPr id="5" name="Text 3"/>
          <p:cNvSpPr txBox="1"/>
          <p:nvPr/>
        </p:nvSpPr>
        <p:spPr>
          <a:xfrm>
            <a:off x="548640" y="4114800"/>
            <a:ext cx="7223760" cy="365760"/>
          </a:xfrm>
          <a:prstGeom prst="rect">
            <a:avLst/>
          </a:prstGeom>
          <a:noFill/>
          <a:ln/>
        </p:spPr>
        <p:txBody>
          <a:bodyPr wrap="square" lIns="0" tIns="0" rIns="0" bIns="0" rtlCol="0" anchor="t"/>
          <a:lstStyle/>
          <a:p>
            <a:pPr indent="0" marL="0">
              <a:buNone/>
            </a:pPr>
            <a:r>
              <a:rPr lang="en-US" sz="1600" i="1" dirty="0">
                <a:solidFill>
                  <a:srgbClr val="C9CED8"/>
                </a:solidFill>
                <a:latin typeface="Calibri" pitchFamily="34" charset="0"/>
                <a:ea typeface="Calibri" pitchFamily="34" charset="-122"/>
                <a:cs typeface="Calibri" pitchFamily="34" charset="-120"/>
              </a:rPr>
              <a:t>Presentasi tindak lanjut revisi dewan penguji</a:t>
            </a:r>
            <a:endParaRPr lang="en-US" sz="1600" dirty="0"/>
          </a:p>
        </p:txBody>
      </p:sp>
      <p:sp>
        <p:nvSpPr>
          <p:cNvPr id="6" name="Text 4"/>
          <p:cNvSpPr txBox="1"/>
          <p:nvPr/>
        </p:nvSpPr>
        <p:spPr>
          <a:xfrm>
            <a:off x="548640" y="4983480"/>
            <a:ext cx="2377440" cy="228600"/>
          </a:xfrm>
          <a:prstGeom prst="rect">
            <a:avLst/>
          </a:prstGeom>
          <a:noFill/>
          <a:ln/>
        </p:spPr>
        <p:txBody>
          <a:bodyPr wrap="square" lIns="0" tIns="0" rIns="0" bIns="0" rtlCol="0" anchor="t"/>
          <a:lstStyle/>
          <a:p>
            <a:pPr indent="0" marL="0">
              <a:buNone/>
            </a:pPr>
            <a:r>
              <a:rPr lang="en-US" sz="1000" b="1" spc="150" kern="0" dirty="0">
                <a:solidFill>
                  <a:srgbClr val="E9B949"/>
                </a:solidFill>
                <a:latin typeface="Calibri" pitchFamily="34" charset="0"/>
                <a:ea typeface="Calibri" pitchFamily="34" charset="-122"/>
                <a:cs typeface="Calibri" pitchFamily="34" charset="-120"/>
              </a:rPr>
              <a:t>DISUSUN OLEH</a:t>
            </a:r>
            <a:endParaRPr lang="en-US" sz="1000" dirty="0"/>
          </a:p>
        </p:txBody>
      </p:sp>
      <p:sp>
        <p:nvSpPr>
          <p:cNvPr id="7" name="Text 5"/>
          <p:cNvSpPr txBox="1"/>
          <p:nvPr/>
        </p:nvSpPr>
        <p:spPr>
          <a:xfrm>
            <a:off x="548640" y="5257800"/>
            <a:ext cx="2377440" cy="1097280"/>
          </a:xfrm>
          <a:prstGeom prst="rect">
            <a:avLst/>
          </a:prstGeom>
          <a:noFill/>
          <a:ln/>
        </p:spPr>
        <p:txBody>
          <a:bodyPr wrap="square" lIns="0" tIns="0" rIns="0" bIns="0" rtlCol="0" anchor="t"/>
          <a:lstStyle/>
          <a:p>
            <a:pPr indent="0" marL="0">
              <a:buNone/>
            </a:pPr>
            <a:r>
              <a:rPr lang="en-US" sz="1200" b="1" dirty="0">
                <a:solidFill>
                  <a:srgbClr val="E6E8EE"/>
                </a:solidFill>
                <a:latin typeface="Calibri" pitchFamily="34" charset="0"/>
                <a:ea typeface="Calibri" pitchFamily="34" charset="-122"/>
                <a:cs typeface="Calibri" pitchFamily="34" charset="-120"/>
              </a:rPr>
              <a:t>Mustari Muhiddin</a:t>
            </a:r>
            <a:endParaRPr lang="en-US" sz="1200" dirty="0"/>
          </a:p>
          <a:p>
            <a:pPr indent="0" marL="0">
              <a:buNone/>
            </a:pPr>
            <a:r>
              <a:rPr lang="en-US" sz="1200" dirty="0">
                <a:solidFill>
                  <a:srgbClr val="E6E8EE"/>
                </a:solidFill>
                <a:latin typeface="Calibri" pitchFamily="34" charset="0"/>
                <a:ea typeface="Calibri" pitchFamily="34" charset="-122"/>
                <a:cs typeface="Calibri" pitchFamily="34" charset="-120"/>
              </a:rPr>
              <a:t>NIM D082241013</a:t>
            </a:r>
            <a:endParaRPr lang="en-US" sz="1200" dirty="0"/>
          </a:p>
        </p:txBody>
      </p:sp>
      <p:sp>
        <p:nvSpPr>
          <p:cNvPr id="8" name="Text 6"/>
          <p:cNvSpPr txBox="1"/>
          <p:nvPr/>
        </p:nvSpPr>
        <p:spPr>
          <a:xfrm>
            <a:off x="3200400" y="4983480"/>
            <a:ext cx="3291840" cy="228600"/>
          </a:xfrm>
          <a:prstGeom prst="rect">
            <a:avLst/>
          </a:prstGeom>
          <a:noFill/>
          <a:ln/>
        </p:spPr>
        <p:txBody>
          <a:bodyPr wrap="square" lIns="0" tIns="0" rIns="0" bIns="0" rtlCol="0" anchor="t"/>
          <a:lstStyle/>
          <a:p>
            <a:pPr indent="0" marL="0">
              <a:buNone/>
            </a:pPr>
            <a:r>
              <a:rPr lang="en-US" sz="1000" b="1" spc="150" kern="0" dirty="0">
                <a:solidFill>
                  <a:srgbClr val="E9B949"/>
                </a:solidFill>
                <a:latin typeface="Calibri" pitchFamily="34" charset="0"/>
                <a:ea typeface="Calibri" pitchFamily="34" charset="-122"/>
                <a:cs typeface="Calibri" pitchFamily="34" charset="-120"/>
              </a:rPr>
              <a:t>PEMBIMBING UTAMA</a:t>
            </a:r>
            <a:endParaRPr lang="en-US" sz="1000" dirty="0"/>
          </a:p>
        </p:txBody>
      </p:sp>
      <p:sp>
        <p:nvSpPr>
          <p:cNvPr id="9" name="Text 7"/>
          <p:cNvSpPr txBox="1"/>
          <p:nvPr/>
        </p:nvSpPr>
        <p:spPr>
          <a:xfrm>
            <a:off x="3200400" y="5257800"/>
            <a:ext cx="3291840" cy="1097280"/>
          </a:xfrm>
          <a:prstGeom prst="rect">
            <a:avLst/>
          </a:prstGeom>
          <a:noFill/>
          <a:ln/>
        </p:spPr>
        <p:txBody>
          <a:bodyPr wrap="square" lIns="0" tIns="0" rIns="0" bIns="0" rtlCol="0" anchor="t"/>
          <a:lstStyle/>
          <a:p>
            <a:pPr indent="0" marL="0">
              <a:buNone/>
            </a:pPr>
            <a:r>
              <a:rPr lang="en-US" sz="1200" dirty="0">
                <a:solidFill>
                  <a:srgbClr val="E6E8EE"/>
                </a:solidFill>
                <a:latin typeface="Calibri" pitchFamily="34" charset="0"/>
                <a:ea typeface="Calibri" pitchFamily="34" charset="-122"/>
                <a:cs typeface="Calibri" pitchFamily="34" charset="-120"/>
              </a:rPr>
              <a:t>Dr. Eng. Ir. Zulkifli Tahir, S.T., M.Sc.</a:t>
            </a:r>
            <a:endParaRPr lang="en-US" sz="1200" dirty="0"/>
          </a:p>
        </p:txBody>
      </p:sp>
      <p:sp>
        <p:nvSpPr>
          <p:cNvPr id="10" name="Text 8"/>
          <p:cNvSpPr txBox="1"/>
          <p:nvPr/>
        </p:nvSpPr>
        <p:spPr>
          <a:xfrm>
            <a:off x="6766560" y="4983480"/>
            <a:ext cx="4846320" cy="228600"/>
          </a:xfrm>
          <a:prstGeom prst="rect">
            <a:avLst/>
          </a:prstGeom>
          <a:noFill/>
          <a:ln/>
        </p:spPr>
        <p:txBody>
          <a:bodyPr wrap="square" lIns="0" tIns="0" rIns="0" bIns="0" rtlCol="0" anchor="t"/>
          <a:lstStyle/>
          <a:p>
            <a:pPr indent="0" marL="0">
              <a:buNone/>
            </a:pPr>
            <a:r>
              <a:rPr lang="en-US" sz="1000" b="1" spc="150" kern="0" dirty="0">
                <a:solidFill>
                  <a:srgbClr val="E9B949"/>
                </a:solidFill>
                <a:latin typeface="Calibri" pitchFamily="34" charset="0"/>
                <a:ea typeface="Calibri" pitchFamily="34" charset="-122"/>
                <a:cs typeface="Calibri" pitchFamily="34" charset="-120"/>
              </a:rPr>
              <a:t>DEWAN PENGUJI</a:t>
            </a:r>
            <a:endParaRPr lang="en-US" sz="1000" dirty="0"/>
          </a:p>
        </p:txBody>
      </p:sp>
      <p:sp>
        <p:nvSpPr>
          <p:cNvPr id="11" name="Text 9"/>
          <p:cNvSpPr txBox="1"/>
          <p:nvPr/>
        </p:nvSpPr>
        <p:spPr>
          <a:xfrm>
            <a:off x="6766560" y="5257800"/>
            <a:ext cx="4846320" cy="1097280"/>
          </a:xfrm>
          <a:prstGeom prst="rect">
            <a:avLst/>
          </a:prstGeom>
          <a:noFill/>
          <a:ln/>
        </p:spPr>
        <p:txBody>
          <a:bodyPr wrap="square" lIns="0" tIns="0" rIns="0" bIns="0" rtlCol="0" anchor="t"/>
          <a:lstStyle/>
          <a:p>
            <a:pPr indent="0" marL="0">
              <a:buNone/>
            </a:pPr>
            <a:r>
              <a:rPr lang="en-US" sz="1200" dirty="0">
                <a:solidFill>
                  <a:srgbClr val="E6E8EE"/>
                </a:solidFill>
                <a:latin typeface="Calibri" pitchFamily="34" charset="0"/>
                <a:ea typeface="Calibri" pitchFamily="34" charset="-122"/>
                <a:cs typeface="Calibri" pitchFamily="34" charset="-120"/>
              </a:rPr>
              <a:t>Prof. Dr. Eng. Ir. Muhammad Niswar, S.T., M.InfoTech</a:t>
            </a:r>
            <a:endParaRPr lang="en-US" sz="1200" dirty="0"/>
          </a:p>
          <a:p>
            <a:pPr indent="0" marL="0">
              <a:buNone/>
            </a:pPr>
            <a:r>
              <a:rPr lang="en-US" sz="1200" dirty="0">
                <a:solidFill>
                  <a:srgbClr val="E6E8EE"/>
                </a:solidFill>
                <a:latin typeface="Calibri" pitchFamily="34" charset="0"/>
                <a:ea typeface="Calibri" pitchFamily="34" charset="-122"/>
                <a:cs typeface="Calibri" pitchFamily="34" charset="-120"/>
              </a:rPr>
              <a:t>Dr. Eng. Ady Wahyudi Paundu, ST., MT.</a:t>
            </a:r>
            <a:endParaRPr lang="en-US" sz="1200" dirty="0"/>
          </a:p>
        </p:txBody>
      </p:sp>
      <p:sp>
        <p:nvSpPr>
          <p:cNvPr id="12" name="Shape 10"/>
          <p:cNvSpPr/>
          <p:nvPr/>
        </p:nvSpPr>
        <p:spPr>
          <a:xfrm>
            <a:off x="8412480" y="1600200"/>
            <a:ext cx="868680" cy="2834640"/>
          </a:xfrm>
          <a:prstGeom prst="roundRect">
            <a:avLst>
              <a:gd name="adj" fmla="val 6316"/>
            </a:avLst>
          </a:prstGeom>
          <a:solidFill>
            <a:srgbClr val="3A4152"/>
          </a:solidFill>
          <a:ln/>
        </p:spPr>
      </p:sp>
      <p:sp>
        <p:nvSpPr>
          <p:cNvPr id="13" name="Text 11"/>
          <p:cNvSpPr txBox="1"/>
          <p:nvPr/>
        </p:nvSpPr>
        <p:spPr>
          <a:xfrm>
            <a:off x="8412480" y="283464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346 KB</a:t>
            </a:r>
            <a:endParaRPr lang="en-US" sz="1200" dirty="0"/>
          </a:p>
        </p:txBody>
      </p:sp>
      <p:sp>
        <p:nvSpPr>
          <p:cNvPr id="14" name="Shape 12"/>
          <p:cNvSpPr/>
          <p:nvPr/>
        </p:nvSpPr>
        <p:spPr>
          <a:xfrm>
            <a:off x="9418320" y="3017520"/>
            <a:ext cx="502920" cy="91"/>
          </a:xfrm>
          <a:prstGeom prst="line">
            <a:avLst/>
          </a:prstGeom>
          <a:noFill/>
          <a:ln w="19050">
            <a:solidFill>
              <a:srgbClr val="A7AEBB"/>
            </a:solidFill>
            <a:prstDash val="solid"/>
            <a:tailEnd type="triangle"/>
          </a:ln>
        </p:spPr>
      </p:sp>
      <p:sp>
        <p:nvSpPr>
          <p:cNvPr id="15" name="Shape 13"/>
          <p:cNvSpPr/>
          <p:nvPr/>
        </p:nvSpPr>
        <p:spPr>
          <a:xfrm>
            <a:off x="10058400" y="1600200"/>
            <a:ext cx="731520" cy="1143000"/>
          </a:xfrm>
          <a:prstGeom prst="roundRect">
            <a:avLst>
              <a:gd name="adj" fmla="val 5000"/>
            </a:avLst>
          </a:prstGeom>
          <a:solidFill>
            <a:srgbClr val="D9622B"/>
          </a:solidFill>
          <a:ln/>
        </p:spPr>
      </p:sp>
      <p:sp>
        <p:nvSpPr>
          <p:cNvPr id="16" name="Shape 14"/>
          <p:cNvSpPr/>
          <p:nvPr/>
        </p:nvSpPr>
        <p:spPr>
          <a:xfrm>
            <a:off x="10058400" y="2834640"/>
            <a:ext cx="731520" cy="731520"/>
          </a:xfrm>
          <a:prstGeom prst="roundRect">
            <a:avLst>
              <a:gd name="adj" fmla="val 5000"/>
            </a:avLst>
          </a:prstGeom>
          <a:solidFill>
            <a:srgbClr val="D9622B"/>
          </a:solidFill>
          <a:ln/>
        </p:spPr>
      </p:sp>
      <p:sp>
        <p:nvSpPr>
          <p:cNvPr id="17" name="Shape 15"/>
          <p:cNvSpPr/>
          <p:nvPr/>
        </p:nvSpPr>
        <p:spPr>
          <a:xfrm>
            <a:off x="10058400" y="3657600"/>
            <a:ext cx="731520" cy="320040"/>
          </a:xfrm>
          <a:prstGeom prst="roundRect">
            <a:avLst>
              <a:gd name="adj" fmla="val 11429"/>
            </a:avLst>
          </a:prstGeom>
          <a:solidFill>
            <a:srgbClr val="D9622B"/>
          </a:solidFill>
          <a:ln/>
        </p:spPr>
      </p:sp>
      <p:sp>
        <p:nvSpPr>
          <p:cNvPr id="18" name="Shape 16"/>
          <p:cNvSpPr/>
          <p:nvPr/>
        </p:nvSpPr>
        <p:spPr>
          <a:xfrm>
            <a:off x="10927080" y="1600200"/>
            <a:ext cx="731520" cy="274320"/>
          </a:xfrm>
          <a:prstGeom prst="roundRect">
            <a:avLst>
              <a:gd name="adj" fmla="val 13333"/>
            </a:avLst>
          </a:prstGeom>
          <a:solidFill>
            <a:srgbClr val="D9622B"/>
          </a:solidFill>
          <a:ln/>
        </p:spPr>
      </p:sp>
      <p:sp>
        <p:nvSpPr>
          <p:cNvPr id="19" name="Shape 17"/>
          <p:cNvSpPr/>
          <p:nvPr/>
        </p:nvSpPr>
        <p:spPr>
          <a:xfrm>
            <a:off x="10927080" y="1965960"/>
            <a:ext cx="731520" cy="228600"/>
          </a:xfrm>
          <a:prstGeom prst="roundRect">
            <a:avLst>
              <a:gd name="adj" fmla="val 16000"/>
            </a:avLst>
          </a:prstGeom>
          <a:solidFill>
            <a:srgbClr val="D9622B"/>
          </a:solidFill>
          <a:ln/>
        </p:spPr>
      </p:sp>
      <p:sp>
        <p:nvSpPr>
          <p:cNvPr id="20" name="Shape 18"/>
          <p:cNvSpPr/>
          <p:nvPr/>
        </p:nvSpPr>
        <p:spPr>
          <a:xfrm>
            <a:off x="10927080" y="2286000"/>
            <a:ext cx="731520" cy="228600"/>
          </a:xfrm>
          <a:prstGeom prst="roundRect">
            <a:avLst>
              <a:gd name="adj" fmla="val 16000"/>
            </a:avLst>
          </a:prstGeom>
          <a:solidFill>
            <a:srgbClr val="1A9C74"/>
          </a:solidFill>
          <a:ln/>
        </p:spPr>
      </p:sp>
      <p:sp>
        <p:nvSpPr>
          <p:cNvPr id="21" name="Shape 19"/>
          <p:cNvSpPr/>
          <p:nvPr/>
        </p:nvSpPr>
        <p:spPr>
          <a:xfrm>
            <a:off x="10927080" y="2606040"/>
            <a:ext cx="731520" cy="228600"/>
          </a:xfrm>
          <a:prstGeom prst="roundRect">
            <a:avLst>
              <a:gd name="adj" fmla="val 16000"/>
            </a:avLst>
          </a:prstGeom>
          <a:solidFill>
            <a:srgbClr val="1A9C74"/>
          </a:solidFill>
          <a:ln/>
        </p:spPr>
      </p:sp>
      <p:sp>
        <p:nvSpPr>
          <p:cNvPr id="22" name="Shape 20"/>
          <p:cNvSpPr/>
          <p:nvPr/>
        </p:nvSpPr>
        <p:spPr>
          <a:xfrm>
            <a:off x="10927080" y="2926080"/>
            <a:ext cx="731520" cy="228600"/>
          </a:xfrm>
          <a:prstGeom prst="roundRect">
            <a:avLst>
              <a:gd name="adj" fmla="val 16000"/>
            </a:avLst>
          </a:prstGeom>
          <a:solidFill>
            <a:srgbClr val="59606E"/>
          </a:solidFill>
          <a:ln/>
        </p:spPr>
      </p:sp>
      <p:sp>
        <p:nvSpPr>
          <p:cNvPr id="23" name="Shape 21"/>
          <p:cNvSpPr/>
          <p:nvPr/>
        </p:nvSpPr>
        <p:spPr>
          <a:xfrm>
            <a:off x="10927080" y="3246120"/>
            <a:ext cx="731520" cy="228600"/>
          </a:xfrm>
          <a:prstGeom prst="roundRect">
            <a:avLst>
              <a:gd name="adj" fmla="val 16000"/>
            </a:avLst>
          </a:prstGeom>
          <a:solidFill>
            <a:srgbClr val="59606E"/>
          </a:solidFill>
          <a:ln/>
        </p:spPr>
      </p:sp>
      <p:sp>
        <p:nvSpPr>
          <p:cNvPr id="24" name="Text 22"/>
          <p:cNvSpPr txBox="1"/>
          <p:nvPr/>
        </p:nvSpPr>
        <p:spPr>
          <a:xfrm>
            <a:off x="8412480" y="4617720"/>
            <a:ext cx="3291840" cy="274320"/>
          </a:xfrm>
          <a:prstGeom prst="rect">
            <a:avLst/>
          </a:prstGeom>
          <a:noFill/>
          <a:ln/>
        </p:spPr>
        <p:txBody>
          <a:bodyPr wrap="square" lIns="0" tIns="0" rIns="0" bIns="0" rtlCol="0" anchor="t"/>
          <a:lstStyle/>
          <a:p>
            <a:pPr indent="0" marL="0">
              <a:buNone/>
            </a:pPr>
            <a:r>
              <a:rPr lang="en-US" sz="1000" dirty="0">
                <a:solidFill>
                  <a:srgbClr val="D9622B"/>
                </a:solidFill>
                <a:latin typeface="Calibri" pitchFamily="34" charset="0"/>
                <a:ea typeface="Calibri" pitchFamily="34" charset="-122"/>
                <a:cs typeface="Calibri" pitchFamily="34" charset="-120"/>
              </a:rPr>
              <a:t>■ </a:t>
            </a:r>
            <a:pPr indent="0" marL="0">
              <a:buNone/>
            </a:pPr>
            <a:r>
              <a:rPr lang="en-US" sz="1000" dirty="0">
                <a:solidFill>
                  <a:srgbClr val="A7AEBB"/>
                </a:solidFill>
                <a:latin typeface="Calibri" pitchFamily="34" charset="0"/>
                <a:ea typeface="Calibri" pitchFamily="34" charset="-122"/>
                <a:cs typeface="Calibri" pitchFamily="34" charset="-120"/>
              </a:rPr>
              <a:t>dimuat awal   </a:t>
            </a:r>
            <a:pPr indent="0" marL="0">
              <a:buNone/>
            </a:pPr>
            <a:r>
              <a:rPr lang="en-US" sz="1000" dirty="0">
                <a:solidFill>
                  <a:srgbClr val="1A9C74"/>
                </a:solidFill>
                <a:latin typeface="Calibri" pitchFamily="34" charset="0"/>
                <a:ea typeface="Calibri" pitchFamily="34" charset="-122"/>
                <a:cs typeface="Calibri" pitchFamily="34" charset="-120"/>
              </a:rPr>
              <a:t>■ </a:t>
            </a:r>
            <a:pPr indent="0" marL="0">
              <a:buNone/>
            </a:pPr>
            <a:r>
              <a:rPr lang="en-US" sz="1000" dirty="0">
                <a:solidFill>
                  <a:srgbClr val="A7AEBB"/>
                </a:solidFill>
                <a:latin typeface="Calibri" pitchFamily="34" charset="0"/>
                <a:ea typeface="Calibri" pitchFamily="34" charset="-122"/>
                <a:cs typeface="Calibri" pitchFamily="34" charset="-120"/>
              </a:rPr>
              <a:t>prefetch   </a:t>
            </a:r>
            <a:pPr indent="0" marL="0">
              <a:buNone/>
            </a:pPr>
            <a:r>
              <a:rPr lang="en-US" sz="1000" dirty="0">
                <a:solidFill>
                  <a:srgbClr val="59606E"/>
                </a:solidFill>
                <a:latin typeface="Calibri" pitchFamily="34" charset="0"/>
                <a:ea typeface="Calibri" pitchFamily="34" charset="-122"/>
                <a:cs typeface="Calibri" pitchFamily="34" charset="-120"/>
              </a:rPr>
              <a:t>■ </a:t>
            </a:r>
            <a:pPr indent="0" marL="0">
              <a:buNone/>
            </a:pPr>
            <a:r>
              <a:rPr lang="en-US" sz="1000" dirty="0">
                <a:solidFill>
                  <a:srgbClr val="A7AEBB"/>
                </a:solidFill>
                <a:latin typeface="Calibri" pitchFamily="34" charset="0"/>
                <a:ea typeface="Calibri" pitchFamily="34" charset="-122"/>
                <a:cs typeface="Calibri" pitchFamily="34" charset="-120"/>
              </a:rPr>
              <a:t>saat diklik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PETA REVISI</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Catatan penguji dan tindak lanjutnya</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Lampiran 2   2</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502920"/>
                <a:gridCol w="3749040"/>
                <a:gridCol w="1920240"/>
                <a:gridCol w="3977640"/>
                <a:gridCol w="941832"/>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Catatan penguji</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Penguji</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Tindak lanjut di naskah</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Slide</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r>
              <a:tr h="566928">
                <a:tc>
                  <a:txBody>
                    <a:bodyPr/>
                    <a:lstStyle/>
                    <a:p>
                      <a:pPr indent="0" marL="0">
                        <a:buNone/>
                      </a:pPr>
                      <a:r>
                        <a:rPr lang="en-US" sz="1100" b="1" dirty="0">
                          <a:solidFill>
                            <a:srgbClr val="9B1B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Jelaskan kontribusi ilmiah penelitian</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Dr. Ady</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Gap penelitian dan kontribusi dipertegas (Sub-bab 1.6, Bab IV)</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58368">
                <a:tc>
                  <a:txBody>
                    <a:bodyPr/>
                    <a:lstStyle/>
                    <a:p>
                      <a:pPr indent="0" marL="0">
                        <a:buNone/>
                      </a:pPr>
                      <a:r>
                        <a:rPr lang="en-US" sz="1100" b="1" dirty="0">
                          <a:solidFill>
                            <a:srgbClr val="9B1B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Tambahkan materi lazy loading dan code splitting: mekanisme kerja dan contohnya</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Prof. Niswar, Dr. Ady</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Teori (2.1.3–2.1.4), implementasi dengan kode dan contoh nyata pada SIMTA (3.1–3.2)</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6–9</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100" b="1" dirty="0">
                          <a:solidFill>
                            <a:srgbClr val="9B1B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Jelaskan kenapa memakai parameter FCP, LCP, TBT, dan bundle size</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Prof. Niswar, Dr. Ady</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Definisi, ambang, dan alasan pemilihan (2.1.8, 2.3.2)</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10–11</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58368">
                <a:tc>
                  <a:txBody>
                    <a:bodyPr/>
                    <a:lstStyle/>
                    <a:p>
                      <a:pPr indent="0" marL="0">
                        <a:buNone/>
                      </a:pPr>
                      <a:r>
                        <a:rPr lang="en-US" sz="1100" b="1" dirty="0">
                          <a:solidFill>
                            <a:srgbClr val="1A9C74"/>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Pengembangan dari pembahasan revisi: kelemahan lazy loading</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i="1" dirty="0">
                          <a:solidFill>
                            <a:srgbClr val="5E6573"/>
                          </a:solidFill>
                          <a:latin typeface="Calibri" pitchFamily="34" charset="0"/>
                          <a:ea typeface="Calibri" pitchFamily="34" charset="-122"/>
                          <a:cs typeface="Calibri" pitchFamily="34" charset="-120"/>
                        </a:rPr>
                        <a:t>Tindak lanjut</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Prefetching + bukti rekaman jaringan (3.2, Sub-bab 3.9 baru, Gambar 3.10–3.12)</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12–14</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58368">
                <a:tc>
                  <a:txBody>
                    <a:bodyPr/>
                    <a:lstStyle/>
                    <a:p>
                      <a:pPr indent="0" marL="0">
                        <a:buNone/>
                      </a:pPr>
                      <a:r>
                        <a:rPr lang="en-US" sz="1100" b="1" dirty="0">
                          <a:solidFill>
                            <a:srgbClr val="1A9C74"/>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Perbaikan pipeline pengukuran yang ditemukan saat revisi</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i="1" dirty="0">
                          <a:solidFill>
                            <a:srgbClr val="5E6573"/>
                          </a:solidFill>
                          <a:latin typeface="Calibri" pitchFamily="34" charset="0"/>
                          <a:ea typeface="Calibri" pitchFamily="34" charset="-122"/>
                          <a:cs typeface="Calibri" pitchFamily="34" charset="-120"/>
                        </a:rPr>
                        <a:t>Tindak lanjut</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Pengukuran ulang, grafik dibangkitkan ulang, perubahan ditandai kuning (Lampiran 2)</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15–17</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7" name="Text 4"/>
          <p:cNvSpPr txBox="1"/>
          <p:nvPr/>
        </p:nvSpPr>
        <p:spPr>
          <a:xfrm>
            <a:off x="548640" y="5623560"/>
            <a:ext cx="11094415" cy="502920"/>
          </a:xfrm>
          <a:prstGeom prst="rect">
            <a:avLst/>
          </a:prstGeom>
          <a:noFill/>
          <a:ln/>
        </p:spPr>
        <p:txBody>
          <a:bodyPr wrap="square" lIns="0" tIns="0" rIns="0" bIns="0" rtlCol="0" anchor="t"/>
          <a:lstStyle/>
          <a:p>
            <a:pPr indent="0" marL="0">
              <a:buNone/>
            </a:pPr>
            <a:r>
              <a:rPr lang="en-US" sz="1200" i="1" dirty="0">
                <a:solidFill>
                  <a:srgbClr val="5E6573"/>
                </a:solidFill>
                <a:latin typeface="Calibri" pitchFamily="34" charset="0"/>
                <a:ea typeface="Calibri" pitchFamily="34" charset="-122"/>
                <a:cs typeface="Calibri" pitchFamily="34" charset="-120"/>
              </a:rPr>
              <a:t>Butir 1–3 adalah catatan tertulis dewan penguji. Butir 4–5 adalah pengembangan yang muncul saat mengerjakan revisi dan ikut dilaporkan agar perubahan naskah dapat ditelusuri.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PENGINGAT SINGKAT</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Penelitian ini dalam satu halaman</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Bab I–II   3</a:t>
            </a:r>
            <a:endParaRPr lang="en-US" sz="900" dirty="0"/>
          </a:p>
        </p:txBody>
      </p:sp>
      <p:sp>
        <p:nvSpPr>
          <p:cNvPr id="6" name="Text 4"/>
          <p:cNvSpPr txBox="1"/>
          <p:nvPr/>
        </p:nvSpPr>
        <p:spPr>
          <a:xfrm>
            <a:off x="548640" y="1645920"/>
            <a:ext cx="3657600" cy="228600"/>
          </a:xfrm>
          <a:prstGeom prst="rect">
            <a:avLst/>
          </a:prstGeom>
          <a:noFill/>
          <a:ln/>
        </p:spPr>
        <p:txBody>
          <a:bodyPr wrap="square" lIns="0" tIns="0" rIns="0" bIns="0" rtlCol="0" anchor="t"/>
          <a:lstStyle/>
          <a:p>
            <a:pPr indent="0" marL="0">
              <a:buNone/>
            </a:pPr>
            <a:r>
              <a:rPr lang="en-US" sz="1000" b="1" spc="150" kern="0" dirty="0">
                <a:solidFill>
                  <a:srgbClr val="5E6573"/>
                </a:solidFill>
                <a:latin typeface="Calibri" pitchFamily="34" charset="0"/>
                <a:ea typeface="Calibri" pitchFamily="34" charset="-122"/>
                <a:cs typeface="Calibri" pitchFamily="34" charset="-120"/>
              </a:rPr>
              <a:t>PERTANYAAN INTI</a:t>
            </a:r>
            <a:endParaRPr lang="en-US" sz="1000" dirty="0"/>
          </a:p>
        </p:txBody>
      </p:sp>
      <p:sp>
        <p:nvSpPr>
          <p:cNvPr id="7" name="Text 5"/>
          <p:cNvSpPr txBox="1"/>
          <p:nvPr/>
        </p:nvSpPr>
        <p:spPr>
          <a:xfrm>
            <a:off x="548640" y="1920240"/>
            <a:ext cx="3566160" cy="2011680"/>
          </a:xfrm>
          <a:prstGeom prst="rect">
            <a:avLst/>
          </a:prstGeom>
          <a:noFill/>
          <a:ln/>
        </p:spPr>
        <p:txBody>
          <a:bodyPr wrap="square" lIns="0" tIns="0" rIns="0" bIns="0" rtlCol="0" anchor="t"/>
          <a:lstStyle/>
          <a:p>
            <a:pPr indent="0" marL="0">
              <a:buNone/>
            </a:pPr>
            <a:r>
              <a:rPr lang="en-US" sz="2100" dirty="0">
                <a:solidFill>
                  <a:srgbClr val="1F2430"/>
                </a:solidFill>
                <a:latin typeface="Cambria" pitchFamily="34" charset="0"/>
                <a:ea typeface="Cambria" pitchFamily="34" charset="-122"/>
                <a:cs typeface="Cambria" pitchFamily="34" charset="-120"/>
              </a:rPr>
              <a:t>Apakah efektivitas hybrid lazy loading dan code splitting pada Vue.js + Vite dipengaruhi oleh tingkat kompleksitas aplikasi?</a:t>
            </a:r>
            <a:endParaRPr lang="en-US" sz="2100" dirty="0"/>
          </a:p>
        </p:txBody>
      </p:sp>
      <p:sp>
        <p:nvSpPr>
          <p:cNvPr id="8" name="Text 6"/>
          <p:cNvSpPr txBox="1"/>
          <p:nvPr/>
        </p:nvSpPr>
        <p:spPr>
          <a:xfrm>
            <a:off x="548640" y="4160520"/>
            <a:ext cx="3566160" cy="1188720"/>
          </a:xfrm>
          <a:prstGeom prst="rect">
            <a:avLst/>
          </a:prstGeom>
          <a:noFill/>
          <a:ln/>
        </p:spPr>
        <p:txBody>
          <a:bodyPr wrap="square" lIns="0" tIns="0" rIns="0" bIns="0" rtlCol="0" anchor="t"/>
          <a:lstStyle/>
          <a:p>
            <a:pPr indent="0" marL="0">
              <a:spcAft>
                <a:spcPts val="600"/>
              </a:spcAft>
              <a:buNone/>
            </a:pPr>
            <a:r>
              <a:rPr lang="en-US" sz="1250" b="1" dirty="0">
                <a:solidFill>
                  <a:srgbClr val="1F2430"/>
                </a:solidFill>
                <a:latin typeface="Calibri" pitchFamily="34" charset="0"/>
                <a:ea typeface="Calibri" pitchFamily="34" charset="-122"/>
                <a:cs typeface="Calibri" pitchFamily="34" charset="-120"/>
              </a:rPr>
              <a:t>Dua instrumen: </a:t>
            </a:r>
            <a:pPr indent="0" marL="0">
              <a:spcAft>
                <a:spcPts val="600"/>
              </a:spcAft>
              <a:buNone/>
            </a:pPr>
            <a:r>
              <a:rPr lang="en-US" sz="1250" dirty="0">
                <a:solidFill>
                  <a:srgbClr val="1F2430"/>
                </a:solidFill>
                <a:latin typeface="Calibri" pitchFamily="34" charset="0"/>
                <a:ea typeface="Calibri" pitchFamily="34" charset="-122"/>
                <a:cs typeface="Calibri" pitchFamily="34" charset="-120"/>
              </a:rPr>
              <a:t>W3C PerformanceObserver + Google Lighthouse v11</a:t>
            </a:r>
            <a:endParaRPr lang="en-US" sz="1250" dirty="0"/>
          </a:p>
          <a:p>
            <a:pPr indent="0" marL="0">
              <a:spcAft>
                <a:spcPts val="600"/>
              </a:spcAft>
              <a:buNone/>
            </a:pPr>
            <a:r>
              <a:rPr lang="en-US" sz="1250" b="1" dirty="0">
                <a:solidFill>
                  <a:srgbClr val="1F2430"/>
                </a:solidFill>
                <a:latin typeface="Calibri" pitchFamily="34" charset="0"/>
                <a:ea typeface="Calibri" pitchFamily="34" charset="-122"/>
                <a:cs typeface="Calibri" pitchFamily="34" charset="-120"/>
              </a:rPr>
              <a:t>Dua kondisi: </a:t>
            </a:r>
            <a:pPr indent="0" marL="0">
              <a:spcAft>
                <a:spcPts val="600"/>
              </a:spcAft>
              <a:buNone/>
            </a:pPr>
            <a:r>
              <a:rPr lang="en-US" sz="1250" dirty="0">
                <a:solidFill>
                  <a:srgbClr val="1F2430"/>
                </a:solidFill>
                <a:latin typeface="Calibri" pitchFamily="34" charset="0"/>
                <a:ea typeface="Calibri" pitchFamily="34" charset="-122"/>
                <a:cs typeface="Calibri" pitchFamily="34" charset="-120"/>
              </a:rPr>
              <a:t>normal dan CPU diperlambat 4×</a:t>
            </a:r>
            <a:endParaRPr lang="en-US" sz="1250" dirty="0"/>
          </a:p>
          <a:p>
            <a:pPr indent="0" marL="0">
              <a:spcAft>
                <a:spcPts val="600"/>
              </a:spcAft>
              <a:buNone/>
            </a:pPr>
            <a:r>
              <a:rPr lang="en-US" sz="1250" b="1" dirty="0">
                <a:solidFill>
                  <a:srgbClr val="1F2430"/>
                </a:solidFill>
                <a:latin typeface="Calibri" pitchFamily="34" charset="0"/>
                <a:ea typeface="Calibri" pitchFamily="34" charset="-122"/>
                <a:cs typeface="Calibri" pitchFamily="34" charset="-120"/>
              </a:rPr>
              <a:t>Otomasi: </a:t>
            </a:r>
            <a:pPr indent="0" marL="0">
              <a:spcAft>
                <a:spcPts val="600"/>
              </a:spcAft>
              <a:buNone/>
            </a:pPr>
            <a:r>
              <a:rPr lang="en-US" sz="1250" dirty="0">
                <a:solidFill>
                  <a:srgbClr val="1F2430"/>
                </a:solidFill>
                <a:latin typeface="Calibri" pitchFamily="34" charset="0"/>
                <a:ea typeface="Calibri" pitchFamily="34" charset="-122"/>
                <a:cs typeface="Calibri" pitchFamily="34" charset="-120"/>
              </a:rPr>
              <a:t>Puppeteer, 5 repetisi per skenario</a:t>
            </a:r>
            <a:endParaRPr lang="en-US" sz="1250" dirty="0"/>
          </a:p>
        </p:txBody>
      </p:sp>
      <p:sp>
        <p:nvSpPr>
          <p:cNvPr id="9" name="Text 7"/>
          <p:cNvSpPr txBox="1"/>
          <p:nvPr/>
        </p:nvSpPr>
        <p:spPr>
          <a:xfrm>
            <a:off x="6309360" y="1645920"/>
            <a:ext cx="2606040" cy="256032"/>
          </a:xfrm>
          <a:prstGeom prst="rect">
            <a:avLst/>
          </a:prstGeom>
          <a:noFill/>
          <a:ln/>
        </p:spPr>
        <p:txBody>
          <a:bodyPr wrap="square" lIns="0" tIns="0" rIns="0" bIns="0" rtlCol="0" anchor="t"/>
          <a:lstStyle/>
          <a:p>
            <a:pPr indent="0" marL="0">
              <a:buNone/>
            </a:pPr>
            <a:r>
              <a:rPr lang="en-US" sz="1100" b="1" spc="150" kern="0" dirty="0">
                <a:solidFill>
                  <a:srgbClr val="5E6573"/>
                </a:solidFill>
                <a:latin typeface="Calibri" pitchFamily="34" charset="0"/>
                <a:ea typeface="Calibri" pitchFamily="34" charset="-122"/>
                <a:cs typeface="Calibri" pitchFamily="34" charset="-120"/>
              </a:rPr>
              <a:t>BASELINE</a:t>
            </a:r>
            <a:endParaRPr lang="en-US" sz="1100" dirty="0"/>
          </a:p>
        </p:txBody>
      </p:sp>
      <p:sp>
        <p:nvSpPr>
          <p:cNvPr id="10" name="Text 8"/>
          <p:cNvSpPr txBox="1"/>
          <p:nvPr/>
        </p:nvSpPr>
        <p:spPr>
          <a:xfrm>
            <a:off x="6309360" y="1920240"/>
            <a:ext cx="2606040" cy="502920"/>
          </a:xfrm>
          <a:prstGeom prst="rect">
            <a:avLst/>
          </a:prstGeom>
          <a:noFill/>
          <a:ln/>
        </p:spPr>
        <p:txBody>
          <a:bodyPr wrap="square" lIns="0" tIns="0" rIns="0" bIns="0" rtlCol="0" anchor="t"/>
          <a:lstStyle/>
          <a:p>
            <a:pPr indent="0" marL="0">
              <a:buNone/>
            </a:pPr>
            <a:r>
              <a:rPr lang="en-US" sz="1100" dirty="0">
                <a:solidFill>
                  <a:srgbClr val="5E6573"/>
                </a:solidFill>
                <a:latin typeface="Calibri" pitchFamily="34" charset="0"/>
                <a:ea typeface="Calibri" pitchFamily="34" charset="-122"/>
                <a:cs typeface="Calibri" pitchFamily="34" charset="-120"/>
              </a:rPr>
              <a:t>Eager loading, satu bundle monolitik</a:t>
            </a:r>
            <a:endParaRPr lang="en-US" sz="1100" dirty="0"/>
          </a:p>
        </p:txBody>
      </p:sp>
      <p:sp>
        <p:nvSpPr>
          <p:cNvPr id="11" name="Text 9"/>
          <p:cNvSpPr txBox="1"/>
          <p:nvPr/>
        </p:nvSpPr>
        <p:spPr>
          <a:xfrm>
            <a:off x="9006840" y="1645920"/>
            <a:ext cx="2606040" cy="256032"/>
          </a:xfrm>
          <a:prstGeom prst="rect">
            <a:avLst/>
          </a:prstGeom>
          <a:noFill/>
          <a:ln/>
        </p:spPr>
        <p:txBody>
          <a:bodyPr wrap="square" lIns="0" tIns="0" rIns="0" bIns="0" rtlCol="0" anchor="t"/>
          <a:lstStyle/>
          <a:p>
            <a:pPr indent="0" marL="0">
              <a:buNone/>
            </a:pPr>
            <a:r>
              <a:rPr lang="en-US" sz="1100" b="1" spc="150" kern="0" dirty="0">
                <a:solidFill>
                  <a:srgbClr val="9B1B30"/>
                </a:solidFill>
                <a:latin typeface="Calibri" pitchFamily="34" charset="0"/>
                <a:ea typeface="Calibri" pitchFamily="34" charset="-122"/>
                <a:cs typeface="Calibri" pitchFamily="34" charset="-120"/>
              </a:rPr>
              <a:t>OPTIMIZED</a:t>
            </a:r>
            <a:endParaRPr lang="en-US" sz="1100" dirty="0"/>
          </a:p>
        </p:txBody>
      </p:sp>
      <p:sp>
        <p:nvSpPr>
          <p:cNvPr id="12" name="Text 10"/>
          <p:cNvSpPr txBox="1"/>
          <p:nvPr/>
        </p:nvSpPr>
        <p:spPr>
          <a:xfrm>
            <a:off x="9006840" y="1920240"/>
            <a:ext cx="2606040" cy="502920"/>
          </a:xfrm>
          <a:prstGeom prst="rect">
            <a:avLst/>
          </a:prstGeom>
          <a:noFill/>
          <a:ln/>
        </p:spPr>
        <p:txBody>
          <a:bodyPr wrap="square" lIns="0" tIns="0" rIns="0" bIns="0" rtlCol="0" anchor="t"/>
          <a:lstStyle/>
          <a:p>
            <a:pPr indent="0" marL="0">
              <a:buNone/>
            </a:pPr>
            <a:r>
              <a:rPr lang="en-US" sz="1100" dirty="0">
                <a:solidFill>
                  <a:srgbClr val="5E6573"/>
                </a:solidFill>
                <a:latin typeface="Calibri" pitchFamily="34" charset="0"/>
                <a:ea typeface="Calibri" pitchFamily="34" charset="-122"/>
                <a:cs typeface="Calibri" pitchFamily="34" charset="-120"/>
              </a:rPr>
              <a:t>manualChunks + dynamic import + prefetch + Brotli/Gzip</a:t>
            </a:r>
            <a:endParaRPr lang="en-US" sz="1100" dirty="0"/>
          </a:p>
        </p:txBody>
      </p:sp>
      <p:sp>
        <p:nvSpPr>
          <p:cNvPr id="13" name="Shape 11"/>
          <p:cNvSpPr/>
          <p:nvPr/>
        </p:nvSpPr>
        <p:spPr>
          <a:xfrm>
            <a:off x="4663440" y="2468880"/>
            <a:ext cx="1554480" cy="1783080"/>
          </a:xfrm>
          <a:prstGeom prst="roundRect">
            <a:avLst>
              <a:gd name="adj" fmla="val 3529"/>
            </a:avLst>
          </a:prstGeom>
          <a:solidFill>
            <a:srgbClr val="161B26"/>
          </a:solidFill>
          <a:ln/>
        </p:spPr>
      </p:sp>
      <p:sp>
        <p:nvSpPr>
          <p:cNvPr id="14" name="Text 12"/>
          <p:cNvSpPr txBox="1"/>
          <p:nvPr/>
        </p:nvSpPr>
        <p:spPr>
          <a:xfrm>
            <a:off x="4800600" y="2651760"/>
            <a:ext cx="128016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SIMTA</a:t>
            </a:r>
            <a:endParaRPr lang="en-US" sz="1500" dirty="0"/>
          </a:p>
        </p:txBody>
      </p:sp>
      <p:sp>
        <p:nvSpPr>
          <p:cNvPr id="15" name="Text 13"/>
          <p:cNvSpPr txBox="1"/>
          <p:nvPr/>
        </p:nvSpPr>
        <p:spPr>
          <a:xfrm>
            <a:off x="4800600" y="3246120"/>
            <a:ext cx="1280160" cy="274320"/>
          </a:xfrm>
          <a:prstGeom prst="rect">
            <a:avLst/>
          </a:prstGeom>
          <a:noFill/>
          <a:ln/>
        </p:spPr>
        <p:txBody>
          <a:bodyPr wrap="square" lIns="0" tIns="0" rIns="0" bIns="0" rtlCol="0" anchor="t"/>
          <a:lstStyle/>
          <a:p>
            <a:pPr indent="0" marL="0">
              <a:buNone/>
            </a:pPr>
            <a:r>
              <a:rPr lang="en-US" sz="1050" dirty="0">
                <a:solidFill>
                  <a:srgbClr val="E9B949"/>
                </a:solidFill>
                <a:latin typeface="Calibri" pitchFamily="34" charset="0"/>
                <a:ea typeface="Calibri" pitchFamily="34" charset="-122"/>
                <a:cs typeface="Calibri" pitchFamily="34" charset="-120"/>
              </a:rPr>
              <a:t>Kompleksitas tinggi</a:t>
            </a:r>
            <a:endParaRPr lang="en-US" sz="1050" dirty="0"/>
          </a:p>
        </p:txBody>
      </p:sp>
      <p:sp>
        <p:nvSpPr>
          <p:cNvPr id="16" name="Text 14"/>
          <p:cNvSpPr txBox="1"/>
          <p:nvPr/>
        </p:nvSpPr>
        <p:spPr>
          <a:xfrm>
            <a:off x="4800600" y="3520440"/>
            <a:ext cx="1280160" cy="685800"/>
          </a:xfrm>
          <a:prstGeom prst="rect">
            <a:avLst/>
          </a:prstGeom>
          <a:noFill/>
          <a:ln/>
        </p:spPr>
        <p:txBody>
          <a:bodyPr wrap="square" lIns="0" tIns="0" rIns="0" bIns="0" rtlCol="0" anchor="t"/>
          <a:lstStyle/>
          <a:p>
            <a:pPr indent="0" marL="0">
              <a:buNone/>
            </a:pPr>
            <a:r>
              <a:rPr lang="en-US" sz="950" dirty="0">
                <a:solidFill>
                  <a:srgbClr val="C9CED8"/>
                </a:solidFill>
                <a:latin typeface="Calibri" pitchFamily="34" charset="0"/>
                <a:ea typeface="Calibri" pitchFamily="34" charset="-122"/>
                <a:cs typeface="Calibri" pitchFamily="34" charset="-120"/>
              </a:rPr>
              <a:t>15+ rute · Pinia · Chart.js · bundle 346,53 KB</a:t>
            </a:r>
            <a:endParaRPr lang="en-US" sz="950" dirty="0"/>
          </a:p>
        </p:txBody>
      </p:sp>
      <p:sp>
        <p:nvSpPr>
          <p:cNvPr id="17" name="Shape 15"/>
          <p:cNvSpPr/>
          <p:nvPr/>
        </p:nvSpPr>
        <p:spPr>
          <a:xfrm>
            <a:off x="6309360" y="2468880"/>
            <a:ext cx="2606040" cy="1783080"/>
          </a:xfrm>
          <a:prstGeom prst="roundRect">
            <a:avLst>
              <a:gd name="adj" fmla="val 3077"/>
            </a:avLst>
          </a:prstGeom>
          <a:solidFill>
            <a:srgbClr val="F3F4F7"/>
          </a:solidFill>
          <a:ln/>
        </p:spPr>
      </p:sp>
      <p:sp>
        <p:nvSpPr>
          <p:cNvPr id="18" name="Shape 16"/>
          <p:cNvSpPr/>
          <p:nvPr/>
        </p:nvSpPr>
        <p:spPr>
          <a:xfrm>
            <a:off x="9006840" y="2468880"/>
            <a:ext cx="2606040" cy="1783080"/>
          </a:xfrm>
          <a:prstGeom prst="roundRect">
            <a:avLst>
              <a:gd name="adj" fmla="val 3077"/>
            </a:avLst>
          </a:prstGeom>
          <a:solidFill>
            <a:srgbClr val="F6E7EA"/>
          </a:solidFill>
          <a:ln/>
        </p:spPr>
      </p:sp>
      <p:sp>
        <p:nvSpPr>
          <p:cNvPr id="19" name="Shape 17"/>
          <p:cNvSpPr/>
          <p:nvPr/>
        </p:nvSpPr>
        <p:spPr>
          <a:xfrm>
            <a:off x="4663440" y="4343400"/>
            <a:ext cx="1554480" cy="1783080"/>
          </a:xfrm>
          <a:prstGeom prst="roundRect">
            <a:avLst>
              <a:gd name="adj" fmla="val 3529"/>
            </a:avLst>
          </a:prstGeom>
          <a:solidFill>
            <a:srgbClr val="161B26"/>
          </a:solidFill>
          <a:ln/>
        </p:spPr>
      </p:sp>
      <p:sp>
        <p:nvSpPr>
          <p:cNvPr id="20" name="Text 18"/>
          <p:cNvSpPr txBox="1"/>
          <p:nvPr/>
        </p:nvSpPr>
        <p:spPr>
          <a:xfrm>
            <a:off x="4800600" y="4526280"/>
            <a:ext cx="128016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Company Profile</a:t>
            </a:r>
            <a:endParaRPr lang="en-US" sz="1500" dirty="0"/>
          </a:p>
        </p:txBody>
      </p:sp>
      <p:sp>
        <p:nvSpPr>
          <p:cNvPr id="21" name="Text 19"/>
          <p:cNvSpPr txBox="1"/>
          <p:nvPr/>
        </p:nvSpPr>
        <p:spPr>
          <a:xfrm>
            <a:off x="4800600" y="5120640"/>
            <a:ext cx="1280160" cy="274320"/>
          </a:xfrm>
          <a:prstGeom prst="rect">
            <a:avLst/>
          </a:prstGeom>
          <a:noFill/>
          <a:ln/>
        </p:spPr>
        <p:txBody>
          <a:bodyPr wrap="square" lIns="0" tIns="0" rIns="0" bIns="0" rtlCol="0" anchor="t"/>
          <a:lstStyle/>
          <a:p>
            <a:pPr indent="0" marL="0">
              <a:buNone/>
            </a:pPr>
            <a:r>
              <a:rPr lang="en-US" sz="1050" dirty="0">
                <a:solidFill>
                  <a:srgbClr val="E9B949"/>
                </a:solidFill>
                <a:latin typeface="Calibri" pitchFamily="34" charset="0"/>
                <a:ea typeface="Calibri" pitchFamily="34" charset="-122"/>
                <a:cs typeface="Calibri" pitchFamily="34" charset="-120"/>
              </a:rPr>
              <a:t>Kompleksitas rendah</a:t>
            </a:r>
            <a:endParaRPr lang="en-US" sz="1050" dirty="0"/>
          </a:p>
        </p:txBody>
      </p:sp>
      <p:sp>
        <p:nvSpPr>
          <p:cNvPr id="22" name="Text 20"/>
          <p:cNvSpPr txBox="1"/>
          <p:nvPr/>
        </p:nvSpPr>
        <p:spPr>
          <a:xfrm>
            <a:off x="4800600" y="5394960"/>
            <a:ext cx="1280160" cy="685800"/>
          </a:xfrm>
          <a:prstGeom prst="rect">
            <a:avLst/>
          </a:prstGeom>
          <a:noFill/>
          <a:ln/>
        </p:spPr>
        <p:txBody>
          <a:bodyPr wrap="square" lIns="0" tIns="0" rIns="0" bIns="0" rtlCol="0" anchor="t"/>
          <a:lstStyle/>
          <a:p>
            <a:pPr indent="0" marL="0">
              <a:buNone/>
            </a:pPr>
            <a:r>
              <a:rPr lang="en-US" sz="950" dirty="0">
                <a:solidFill>
                  <a:srgbClr val="C9CED8"/>
                </a:solidFill>
                <a:latin typeface="Calibri" pitchFamily="34" charset="0"/>
                <a:ea typeface="Calibri" pitchFamily="34" charset="-122"/>
                <a:cs typeface="Calibri" pitchFamily="34" charset="-120"/>
              </a:rPr>
              <a:t>Konten statis, tanpa pustaka berat</a:t>
            </a:r>
            <a:endParaRPr lang="en-US" sz="950" dirty="0"/>
          </a:p>
        </p:txBody>
      </p:sp>
      <p:sp>
        <p:nvSpPr>
          <p:cNvPr id="23" name="Shape 21"/>
          <p:cNvSpPr/>
          <p:nvPr/>
        </p:nvSpPr>
        <p:spPr>
          <a:xfrm>
            <a:off x="6309360" y="4343400"/>
            <a:ext cx="2606040" cy="1783080"/>
          </a:xfrm>
          <a:prstGeom prst="roundRect">
            <a:avLst>
              <a:gd name="adj" fmla="val 3077"/>
            </a:avLst>
          </a:prstGeom>
          <a:solidFill>
            <a:srgbClr val="F3F4F7"/>
          </a:solidFill>
          <a:ln/>
        </p:spPr>
      </p:sp>
      <p:sp>
        <p:nvSpPr>
          <p:cNvPr id="24" name="Shape 22"/>
          <p:cNvSpPr/>
          <p:nvPr/>
        </p:nvSpPr>
        <p:spPr>
          <a:xfrm>
            <a:off x="9006840" y="4343400"/>
            <a:ext cx="2606040" cy="1783080"/>
          </a:xfrm>
          <a:prstGeom prst="roundRect">
            <a:avLst>
              <a:gd name="adj" fmla="val 3077"/>
            </a:avLst>
          </a:prstGeom>
          <a:solidFill>
            <a:srgbClr val="F6E7EA"/>
          </a:solidFill>
          <a:ln/>
        </p:spPr>
      </p:sp>
      <p:sp>
        <p:nvSpPr>
          <p:cNvPr id="25" name="Text 23"/>
          <p:cNvSpPr txBox="1"/>
          <p:nvPr/>
        </p:nvSpPr>
        <p:spPr>
          <a:xfrm>
            <a:off x="6492240" y="2651760"/>
            <a:ext cx="2240280" cy="141732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Semua halaman dan pustaka diunduh serta di-parse sekaligus</a:t>
            </a:r>
            <a:endParaRPr lang="en-US" sz="1300" dirty="0"/>
          </a:p>
        </p:txBody>
      </p:sp>
      <p:sp>
        <p:nvSpPr>
          <p:cNvPr id="26" name="Text 24"/>
          <p:cNvSpPr txBox="1"/>
          <p:nvPr/>
        </p:nvSpPr>
        <p:spPr>
          <a:xfrm>
            <a:off x="9189720" y="2651760"/>
            <a:ext cx="2240280" cy="141732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Chunk vendor, chunk per rute, prefetch dua rute saat idle</a:t>
            </a:r>
            <a:endParaRPr lang="en-US" sz="1300" dirty="0"/>
          </a:p>
        </p:txBody>
      </p:sp>
      <p:sp>
        <p:nvSpPr>
          <p:cNvPr id="27" name="Text 25"/>
          <p:cNvSpPr txBox="1"/>
          <p:nvPr/>
        </p:nvSpPr>
        <p:spPr>
          <a:xfrm>
            <a:off x="6492240" y="4526280"/>
            <a:ext cx="2240280" cy="141732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Satu berkas kecil, tanpa grafik</a:t>
            </a:r>
            <a:endParaRPr lang="en-US" sz="1300" dirty="0"/>
          </a:p>
        </p:txBody>
      </p:sp>
      <p:sp>
        <p:nvSpPr>
          <p:cNvPr id="28" name="Text 26"/>
          <p:cNvSpPr txBox="1"/>
          <p:nvPr/>
        </p:nvSpPr>
        <p:spPr>
          <a:xfrm>
            <a:off x="9189720" y="4526280"/>
            <a:ext cx="2240280" cy="141732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Dipecah per rute, tanpa kompresi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REVISI 1 · DR. ADY WAHYUDI PAUNDU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Posisi penelitian terhadap penelitian terdahulu</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1.6, Tabel 1.1   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246120"/>
                <a:gridCol w="1234440"/>
                <a:gridCol w="1234440"/>
                <a:gridCol w="1325880"/>
                <a:gridCol w="1463040"/>
                <a:gridCol w="1554480"/>
                <a:gridCol w="1033272"/>
              </a:tblGrid>
              <a:tr h="566928">
                <a:tc>
                  <a:txBody>
                    <a:bodyPr/>
                    <a:lstStyle/>
                    <a:p>
                      <a:pPr indent="0" marL="0">
                        <a:buNone/>
                      </a:pPr>
                      <a:endParaRPr lang="en-US" sz="12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3F4F7"/>
                    </a:solidFill>
                  </a:tcPr>
                </a:tc>
                <a:tc>
                  <a:txBody>
                    <a:bodyPr/>
                    <a:lstStyle/>
                    <a:p>
                      <a:pPr algn="ctr" indent="0" marL="0">
                        <a:buNone/>
                      </a:pPr>
                      <a:r>
                        <a:rPr lang="en-US" sz="1100" b="1" dirty="0">
                          <a:solidFill>
                            <a:srgbClr val="1F2430"/>
                          </a:solidFill>
                          <a:latin typeface="Calibri" pitchFamily="34" charset="0"/>
                          <a:ea typeface="Calibri" pitchFamily="34" charset="-122"/>
                          <a:cs typeface="Calibri" pitchFamily="34" charset="-120"/>
                        </a:rPr>
                        <a:t>Lazy loading</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3F4F7"/>
                    </a:solidFill>
                  </a:tcPr>
                </a:tc>
                <a:tc>
                  <a:txBody>
                    <a:bodyPr/>
                    <a:lstStyle/>
                    <a:p>
                      <a:pPr algn="ctr" indent="0" marL="0">
                        <a:buNone/>
                      </a:pPr>
                      <a:r>
                        <a:rPr lang="en-US" sz="1100" b="1" dirty="0">
                          <a:solidFill>
                            <a:srgbClr val="1F2430"/>
                          </a:solidFill>
                          <a:latin typeface="Calibri" pitchFamily="34" charset="0"/>
                          <a:ea typeface="Calibri" pitchFamily="34" charset="-122"/>
                          <a:cs typeface="Calibri" pitchFamily="34" charset="-120"/>
                        </a:rPr>
                        <a:t>Code splitting</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3F4F7"/>
                    </a:solidFill>
                  </a:tcPr>
                </a:tc>
                <a:tc>
                  <a:txBody>
                    <a:bodyPr/>
                    <a:lstStyle/>
                    <a:p>
                      <a:pPr algn="ctr" indent="0" marL="0">
                        <a:buNone/>
                      </a:pPr>
                      <a:r>
                        <a:rPr lang="en-US" sz="1100" b="1" dirty="0">
                          <a:solidFill>
                            <a:srgbClr val="1F2430"/>
                          </a:solidFill>
                          <a:latin typeface="Calibri" pitchFamily="34" charset="0"/>
                          <a:ea typeface="Calibri" pitchFamily="34" charset="-122"/>
                          <a:cs typeface="Calibri" pitchFamily="34" charset="-120"/>
                        </a:rPr>
                        <a:t>Fokus Vue.js + Vite</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3F4F7"/>
                    </a:solidFill>
                  </a:tcPr>
                </a:tc>
                <a:tc>
                  <a:txBody>
                    <a:bodyPr/>
                    <a:lstStyle/>
                    <a:p>
                      <a:pPr algn="ctr" indent="0" marL="0">
                        <a:buNone/>
                      </a:pPr>
                      <a:r>
                        <a:rPr lang="en-US" sz="1100" b="1" dirty="0">
                          <a:solidFill>
                            <a:srgbClr val="1F2430"/>
                          </a:solidFill>
                          <a:latin typeface="Calibri" pitchFamily="34" charset="0"/>
                          <a:ea typeface="Calibri" pitchFamily="34" charset="-122"/>
                          <a:cs typeface="Calibri" pitchFamily="34" charset="-120"/>
                        </a:rPr>
                        <a:t>Kompleksitas sebagai faktor</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3F4F7"/>
                    </a:solidFill>
                  </a:tcPr>
                </a:tc>
                <a:tc>
                  <a:txBody>
                    <a:bodyPr/>
                    <a:lstStyle/>
                    <a:p>
                      <a:pPr algn="ctr" indent="0" marL="0">
                        <a:buNone/>
                      </a:pPr>
                      <a:r>
                        <a:rPr lang="en-US" sz="1100" b="1" dirty="0">
                          <a:solidFill>
                            <a:srgbClr val="1F2430"/>
                          </a:solidFill>
                          <a:latin typeface="Calibri" pitchFamily="34" charset="0"/>
                          <a:ea typeface="Calibri" pitchFamily="34" charset="-122"/>
                          <a:cs typeface="Calibri" pitchFamily="34" charset="-120"/>
                        </a:rPr>
                        <a:t>PerformanceObserver + Lighthouse</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3F4F7"/>
                    </a:solidFill>
                  </a:tcPr>
                </a:tc>
                <a:tc>
                  <a:txBody>
                    <a:bodyPr/>
                    <a:lstStyle/>
                    <a:p>
                      <a:pPr algn="ctr" indent="0" marL="0">
                        <a:buNone/>
                      </a:pPr>
                      <a:r>
                        <a:rPr lang="en-US" sz="1100" b="1" dirty="0">
                          <a:solidFill>
                            <a:srgbClr val="1F2430"/>
                          </a:solidFill>
                          <a:latin typeface="Calibri" pitchFamily="34" charset="0"/>
                          <a:ea typeface="Calibri" pitchFamily="34" charset="-122"/>
                          <a:cs typeface="Calibri" pitchFamily="34" charset="-120"/>
                        </a:rPr>
                        <a:t>CPU throttling</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3F4F7"/>
                    </a:solidFill>
                  </a:tcPr>
                </a:tc>
              </a:tr>
              <a:tr h="603504">
                <a:tc>
                  <a:txBody>
                    <a:bodyPr/>
                    <a:lstStyle/>
                    <a:p>
                      <a:pPr indent="0" marL="0">
                        <a:buNone/>
                      </a:pPr>
                      <a:r>
                        <a:rPr lang="en-US" sz="1200" b="1" dirty="0">
                          <a:solidFill>
                            <a:srgbClr val="1F2430"/>
                          </a:solidFill>
                          <a:latin typeface="Calibri" pitchFamily="34" charset="0"/>
                          <a:ea typeface="Calibri" pitchFamily="34" charset="-122"/>
                          <a:cs typeface="Calibri" pitchFamily="34" charset="-120"/>
                        </a:rPr>
                        <a:t>Bara, Boiangiu &amp; Tudose (2024)</a:t>
                      </a:r>
                      <a:endParaRPr lang="en-US" sz="1200" dirty="0">
                        <a:latin typeface="Calibri" charset="0"/>
                        <a:ea typeface="Calibri" charset="0"/>
                        <a:cs typeface="Calibri" charset="0"/>
                      </a:endParaRPr>
                    </a:p>
                    <a:p>
                      <a:pPr indent="0" marL="0">
                        <a:buNone/>
                      </a:pPr>
                      <a:r>
                        <a:rPr lang="en-US" sz="950" dirty="0">
                          <a:solidFill>
                            <a:srgbClr val="5E6573"/>
                          </a:solidFill>
                          <a:latin typeface="Calibri" pitchFamily="34" charset="0"/>
                          <a:ea typeface="Calibri" pitchFamily="34" charset="-122"/>
                          <a:cs typeface="Calibri" pitchFamily="34" charset="-120"/>
                        </a:rPr>
                        <a:t>Dampak lazy loading, variasi jaringan</a:t>
                      </a:r>
                      <a:endParaRPr lang="en-US" sz="12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1F24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03504">
                <a:tc>
                  <a:txBody>
                    <a:bodyPr/>
                    <a:lstStyle/>
                    <a:p>
                      <a:pPr indent="0" marL="0">
                        <a:buNone/>
                      </a:pPr>
                      <a:r>
                        <a:rPr lang="en-US" sz="1200" b="1" dirty="0">
                          <a:solidFill>
                            <a:srgbClr val="1F2430"/>
                          </a:solidFill>
                          <a:latin typeface="Calibri" pitchFamily="34" charset="0"/>
                          <a:ea typeface="Calibri" pitchFamily="34" charset="-122"/>
                          <a:cs typeface="Calibri" pitchFamily="34" charset="-120"/>
                        </a:rPr>
                        <a:t>Kumar, Singh &amp; Sharma (2024)</a:t>
                      </a:r>
                      <a:endParaRPr lang="en-US" sz="1200" dirty="0">
                        <a:latin typeface="Calibri" charset="0"/>
                        <a:ea typeface="Calibri" charset="0"/>
                        <a:cs typeface="Calibri" charset="0"/>
                      </a:endParaRPr>
                    </a:p>
                    <a:p>
                      <a:pPr indent="0" marL="0">
                        <a:buNone/>
                      </a:pPr>
                      <a:r>
                        <a:rPr lang="en-US" sz="950" dirty="0">
                          <a:solidFill>
                            <a:srgbClr val="5E6573"/>
                          </a:solidFill>
                          <a:latin typeface="Calibri" pitchFamily="34" charset="0"/>
                          <a:ea typeface="Calibri" pitchFamily="34" charset="-122"/>
                          <a:cs typeface="Calibri" pitchFamily="34" charset="-120"/>
                        </a:rPr>
                        <a:t>Lintas framework, load time turun ±40%</a:t>
                      </a:r>
                      <a:endParaRPr lang="en-US" sz="12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1F24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1F24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03504">
                <a:tc>
                  <a:txBody>
                    <a:bodyPr/>
                    <a:lstStyle/>
                    <a:p>
                      <a:pPr indent="0" marL="0">
                        <a:buNone/>
                      </a:pPr>
                      <a:r>
                        <a:rPr lang="en-US" sz="1200" b="1" dirty="0">
                          <a:solidFill>
                            <a:srgbClr val="1F2430"/>
                          </a:solidFill>
                          <a:latin typeface="Calibri" pitchFamily="34" charset="0"/>
                          <a:ea typeface="Calibri" pitchFamily="34" charset="-122"/>
                          <a:cs typeface="Calibri" pitchFamily="34" charset="-120"/>
                        </a:rPr>
                        <a:t>Setiawan &amp; Fauzi (2025)</a:t>
                      </a:r>
                      <a:endParaRPr lang="en-US" sz="1200" dirty="0">
                        <a:latin typeface="Calibri" charset="0"/>
                        <a:ea typeface="Calibri" charset="0"/>
                        <a:cs typeface="Calibri" charset="0"/>
                      </a:endParaRPr>
                    </a:p>
                    <a:p>
                      <a:pPr indent="0" marL="0">
                        <a:buNone/>
                      </a:pPr>
                      <a:r>
                        <a:rPr lang="en-US" sz="950" dirty="0">
                          <a:solidFill>
                            <a:srgbClr val="5E6573"/>
                          </a:solidFill>
                          <a:latin typeface="Calibri" pitchFamily="34" charset="0"/>
                          <a:ea typeface="Calibri" pitchFamily="34" charset="-122"/>
                          <a:cs typeface="Calibri" pitchFamily="34" charset="-120"/>
                        </a:rPr>
                        <a:t>React/Vue/Angular, skor Lighthouse saja</a:t>
                      </a:r>
                      <a:endParaRPr lang="en-US" sz="12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1F24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1F24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dirty="0">
                          <a:solidFill>
                            <a:srgbClr val="B8BDC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03504">
                <a:tc>
                  <a:txBody>
                    <a:bodyPr/>
                    <a:lstStyle/>
                    <a:p>
                      <a:pPr indent="0" marL="0">
                        <a:buNone/>
                      </a:pPr>
                      <a:r>
                        <a:rPr lang="en-US" sz="1200" b="1" dirty="0">
                          <a:solidFill>
                            <a:srgbClr val="9B1B30"/>
                          </a:solidFill>
                          <a:latin typeface="Calibri" pitchFamily="34" charset="0"/>
                          <a:ea typeface="Calibri" pitchFamily="34" charset="-122"/>
                          <a:cs typeface="Calibri" pitchFamily="34" charset="-120"/>
                        </a:rPr>
                        <a:t>Penelitian ini</a:t>
                      </a:r>
                      <a:endParaRPr lang="en-US" sz="1200" dirty="0">
                        <a:latin typeface="Calibri" charset="0"/>
                        <a:ea typeface="Calibri" charset="0"/>
                        <a:cs typeface="Calibri" charset="0"/>
                      </a:endParaRPr>
                    </a:p>
                    <a:p>
                      <a:pPr indent="0" marL="0">
                        <a:buNone/>
                      </a:pPr>
                      <a:r>
                        <a:rPr lang="en-US" sz="950" dirty="0">
                          <a:solidFill>
                            <a:srgbClr val="5E6573"/>
                          </a:solidFill>
                          <a:latin typeface="Calibri" pitchFamily="34" charset="0"/>
                          <a:ea typeface="Calibri" pitchFamily="34" charset="-122"/>
                          <a:cs typeface="Calibri" pitchFamily="34" charset="-120"/>
                        </a:rPr>
                        <a:t>SIMTA vs Company Profile</a:t>
                      </a:r>
                      <a:endParaRPr lang="en-US" sz="12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9B1B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9B1B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9B1B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9B1B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9B1B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400" b="1" dirty="0">
                          <a:solidFill>
                            <a:srgbClr val="9B1B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7" name="Text 4"/>
          <p:cNvSpPr txBox="1"/>
          <p:nvPr/>
        </p:nvSpPr>
        <p:spPr>
          <a:xfrm>
            <a:off x="548640" y="4681728"/>
            <a:ext cx="7315200" cy="228600"/>
          </a:xfrm>
          <a:prstGeom prst="rect">
            <a:avLst/>
          </a:prstGeom>
          <a:noFill/>
          <a:ln/>
        </p:spPr>
        <p:txBody>
          <a:bodyPr wrap="square" lIns="0" tIns="0" rIns="0" bIns="0" rtlCol="0" anchor="t"/>
          <a:lstStyle/>
          <a:p>
            <a:pPr indent="0" marL="0">
              <a:buNone/>
            </a:pPr>
            <a:r>
              <a:rPr lang="en-US" sz="950" i="1" dirty="0">
                <a:solidFill>
                  <a:srgbClr val="5E6573"/>
                </a:solidFill>
                <a:latin typeface="Calibri" pitchFamily="34" charset="0"/>
                <a:ea typeface="Calibri" pitchFamily="34" charset="-122"/>
                <a:cs typeface="Calibri" pitchFamily="34" charset="-120"/>
              </a:rPr>
              <a:t>– = bukan fokus kajian pada penelitian tersebut (sesuai Tabel 1.1 naskah)</a:t>
            </a:r>
            <a:endParaRPr lang="en-US" sz="950" dirty="0"/>
          </a:p>
        </p:txBody>
      </p:sp>
      <p:sp>
        <p:nvSpPr>
          <p:cNvPr id="8" name="Shape 5"/>
          <p:cNvSpPr/>
          <p:nvPr/>
        </p:nvSpPr>
        <p:spPr>
          <a:xfrm>
            <a:off x="548640" y="5074920"/>
            <a:ext cx="11094415" cy="1051560"/>
          </a:xfrm>
          <a:prstGeom prst="roundRect">
            <a:avLst>
              <a:gd name="adj" fmla="val 5217"/>
            </a:avLst>
          </a:prstGeom>
          <a:solidFill>
            <a:srgbClr val="F6E7EA"/>
          </a:solidFill>
          <a:ln/>
        </p:spPr>
      </p:sp>
      <p:sp>
        <p:nvSpPr>
          <p:cNvPr id="9" name="Text 6"/>
          <p:cNvSpPr txBox="1"/>
          <p:nvPr/>
        </p:nvSpPr>
        <p:spPr>
          <a:xfrm>
            <a:off x="822960" y="5074920"/>
            <a:ext cx="10545775" cy="1051560"/>
          </a:xfrm>
          <a:prstGeom prst="rect">
            <a:avLst/>
          </a:prstGeom>
          <a:noFill/>
          <a:ln/>
        </p:spPr>
        <p:txBody>
          <a:bodyPr wrap="square" lIns="0" tIns="0" rIns="0" bIns="0" rtlCol="0" anchor="ctr"/>
          <a:lstStyle/>
          <a:p>
            <a:pPr indent="0" marL="0">
              <a:buNone/>
            </a:pPr>
            <a:r>
              <a:rPr lang="en-US" sz="1350" b="1" dirty="0">
                <a:solidFill>
                  <a:srgbClr val="9B1B30"/>
                </a:solidFill>
                <a:latin typeface="Calibri" pitchFamily="34" charset="0"/>
                <a:ea typeface="Calibri" pitchFamily="34" charset="-122"/>
                <a:cs typeface="Calibri" pitchFamily="34" charset="-120"/>
              </a:rPr>
              <a:t>Celah yang diisi: </a:t>
            </a:r>
            <a:pPr indent="0" marL="0">
              <a:buNone/>
            </a:pPr>
            <a:r>
              <a:rPr lang="en-US" sz="1350" dirty="0">
                <a:solidFill>
                  <a:srgbClr val="1F2430"/>
                </a:solidFill>
                <a:latin typeface="Calibri" pitchFamily="34" charset="0"/>
                <a:ea typeface="Calibri" pitchFamily="34" charset="-122"/>
                <a:cs typeface="Calibri" pitchFamily="34" charset="-120"/>
              </a:rPr>
              <a:t>penelitian terdahulu menunjukkan bahwa teknik ini mempercepat, tetapi belum menguji kapan teknik ini tidak layak dipakai. Penelitian ini menjadikan tingkat kompleksitas aplikasi sebagai variabel, lalu mengujinya dengan dua instrumen pada kondisi perangkat lemah.</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REVISI 1 · DR. ADY WAHYUDI PAUNDU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Kontribusi ilmiah: kapan teknik ini layak dipakai</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1.5, Bab IV   5</a:t>
            </a:r>
            <a:endParaRPr lang="en-US" sz="900" dirty="0"/>
          </a:p>
        </p:txBody>
      </p:sp>
      <p:sp>
        <p:nvSpPr>
          <p:cNvPr id="6" name="Shape 4"/>
          <p:cNvSpPr/>
          <p:nvPr/>
        </p:nvSpPr>
        <p:spPr>
          <a:xfrm>
            <a:off x="548640" y="1645920"/>
            <a:ext cx="5387188" cy="2148840"/>
          </a:xfrm>
          <a:prstGeom prst="roundRect">
            <a:avLst>
              <a:gd name="adj" fmla="val 2553"/>
            </a:avLst>
          </a:prstGeom>
          <a:solidFill>
            <a:srgbClr val="F3F4F7"/>
          </a:solidFill>
          <a:ln/>
        </p:spPr>
      </p:sp>
      <p:sp>
        <p:nvSpPr>
          <p:cNvPr id="7" name="Text 5"/>
          <p:cNvSpPr txBox="1"/>
          <p:nvPr/>
        </p:nvSpPr>
        <p:spPr>
          <a:xfrm>
            <a:off x="822960" y="1874520"/>
            <a:ext cx="822960" cy="640080"/>
          </a:xfrm>
          <a:prstGeom prst="rect">
            <a:avLst/>
          </a:prstGeom>
          <a:noFill/>
          <a:ln/>
        </p:spPr>
        <p:txBody>
          <a:bodyPr wrap="square" lIns="0" tIns="0" rIns="0" bIns="0" rtlCol="0" anchor="t"/>
          <a:lstStyle/>
          <a:p>
            <a:pPr indent="0" marL="0">
              <a:buNone/>
            </a:pPr>
            <a:r>
              <a:rPr lang="en-US" sz="3400" b="1" dirty="0">
                <a:solidFill>
                  <a:srgbClr val="9B1B30"/>
                </a:solidFill>
                <a:latin typeface="Cambria" pitchFamily="34" charset="0"/>
                <a:ea typeface="Cambria" pitchFamily="34" charset="-122"/>
                <a:cs typeface="Cambria" pitchFamily="34" charset="-120"/>
              </a:rPr>
              <a:t>01</a:t>
            </a:r>
            <a:endParaRPr lang="en-US" sz="3400" dirty="0"/>
          </a:p>
        </p:txBody>
      </p:sp>
      <p:sp>
        <p:nvSpPr>
          <p:cNvPr id="8" name="Text 6"/>
          <p:cNvSpPr txBox="1"/>
          <p:nvPr/>
        </p:nvSpPr>
        <p:spPr>
          <a:xfrm>
            <a:off x="1737360" y="1920240"/>
            <a:ext cx="3924148" cy="228600"/>
          </a:xfrm>
          <a:prstGeom prst="rect">
            <a:avLst/>
          </a:prstGeom>
          <a:noFill/>
          <a:ln/>
        </p:spPr>
        <p:txBody>
          <a:bodyPr wrap="square" lIns="0" tIns="0" rIns="0" bIns="0" rtlCol="0" anchor="t"/>
          <a:lstStyle/>
          <a:p>
            <a:pPr indent="0" marL="0">
              <a:buNone/>
            </a:pPr>
            <a:r>
              <a:rPr lang="en-US" sz="1000" b="1" spc="150" kern="0" dirty="0">
                <a:solidFill>
                  <a:srgbClr val="5E6573"/>
                </a:solidFill>
                <a:latin typeface="Calibri" pitchFamily="34" charset="0"/>
                <a:ea typeface="Calibri" pitchFamily="34" charset="-122"/>
                <a:cs typeface="Calibri" pitchFamily="34" charset="-120"/>
              </a:rPr>
              <a:t>EMPIRIS</a:t>
            </a:r>
            <a:endParaRPr lang="en-US" sz="1000" dirty="0"/>
          </a:p>
        </p:txBody>
      </p:sp>
      <p:sp>
        <p:nvSpPr>
          <p:cNvPr id="9" name="Text 7"/>
          <p:cNvSpPr txBox="1"/>
          <p:nvPr/>
        </p:nvSpPr>
        <p:spPr>
          <a:xfrm>
            <a:off x="1737360" y="2176272"/>
            <a:ext cx="3924148" cy="41148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Kompleksitas aplikasi menentukan arah hasil</a:t>
            </a:r>
            <a:endParaRPr lang="en-US" sz="1600" dirty="0"/>
          </a:p>
        </p:txBody>
      </p:sp>
      <p:sp>
        <p:nvSpPr>
          <p:cNvPr id="10" name="Text 8"/>
          <p:cNvSpPr txBox="1"/>
          <p:nvPr/>
        </p:nvSpPr>
        <p:spPr>
          <a:xfrm>
            <a:off x="1737360" y="2651760"/>
            <a:ext cx="3924148" cy="1005840"/>
          </a:xfrm>
          <a:prstGeom prst="rect">
            <a:avLst/>
          </a:prstGeom>
          <a:noFill/>
          <a:ln/>
        </p:spPr>
        <p:txBody>
          <a:bodyPr wrap="square" lIns="0" tIns="0" rIns="0" bIns="0" rtlCol="0" anchor="t"/>
          <a:lstStyle/>
          <a:p>
            <a:pPr indent="0" marL="0">
              <a:buNone/>
            </a:pPr>
            <a:r>
              <a:rPr lang="en-US" sz="1250" dirty="0">
                <a:solidFill>
                  <a:srgbClr val="1F2430"/>
                </a:solidFill>
                <a:latin typeface="Calibri" pitchFamily="34" charset="0"/>
                <a:ea typeface="Calibri" pitchFamily="34" charset="-122"/>
                <a:cs typeface="Calibri" pitchFamily="34" charset="-120"/>
              </a:rPr>
              <a:t>Teknik yang sama menaikkan skor Lighthouse SIMTA 32,0%, tetapi memperlambat FCP dan LCP Company Profile sebesar 15,9% dan 18,0%.</a:t>
            </a:r>
            <a:endParaRPr lang="en-US" sz="1250" dirty="0"/>
          </a:p>
        </p:txBody>
      </p:sp>
      <p:sp>
        <p:nvSpPr>
          <p:cNvPr id="11" name="Shape 9"/>
          <p:cNvSpPr/>
          <p:nvPr/>
        </p:nvSpPr>
        <p:spPr>
          <a:xfrm>
            <a:off x="6255868" y="1645920"/>
            <a:ext cx="5387188" cy="2148840"/>
          </a:xfrm>
          <a:prstGeom prst="roundRect">
            <a:avLst>
              <a:gd name="adj" fmla="val 2553"/>
            </a:avLst>
          </a:prstGeom>
          <a:solidFill>
            <a:srgbClr val="F3F4F7"/>
          </a:solidFill>
          <a:ln/>
        </p:spPr>
      </p:sp>
      <p:sp>
        <p:nvSpPr>
          <p:cNvPr id="12" name="Text 10"/>
          <p:cNvSpPr txBox="1"/>
          <p:nvPr/>
        </p:nvSpPr>
        <p:spPr>
          <a:xfrm>
            <a:off x="6530188" y="1874520"/>
            <a:ext cx="822960" cy="640080"/>
          </a:xfrm>
          <a:prstGeom prst="rect">
            <a:avLst/>
          </a:prstGeom>
          <a:noFill/>
          <a:ln/>
        </p:spPr>
        <p:txBody>
          <a:bodyPr wrap="square" lIns="0" tIns="0" rIns="0" bIns="0" rtlCol="0" anchor="t"/>
          <a:lstStyle/>
          <a:p>
            <a:pPr indent="0" marL="0">
              <a:buNone/>
            </a:pPr>
            <a:r>
              <a:rPr lang="en-US" sz="3400" b="1" dirty="0">
                <a:solidFill>
                  <a:srgbClr val="9B1B30"/>
                </a:solidFill>
                <a:latin typeface="Cambria" pitchFamily="34" charset="0"/>
                <a:ea typeface="Cambria" pitchFamily="34" charset="-122"/>
                <a:cs typeface="Cambria" pitchFamily="34" charset="-120"/>
              </a:rPr>
              <a:t>02</a:t>
            </a:r>
            <a:endParaRPr lang="en-US" sz="3400" dirty="0"/>
          </a:p>
        </p:txBody>
      </p:sp>
      <p:sp>
        <p:nvSpPr>
          <p:cNvPr id="13" name="Text 11"/>
          <p:cNvSpPr txBox="1"/>
          <p:nvPr/>
        </p:nvSpPr>
        <p:spPr>
          <a:xfrm>
            <a:off x="7444588" y="1920240"/>
            <a:ext cx="3924148" cy="228600"/>
          </a:xfrm>
          <a:prstGeom prst="rect">
            <a:avLst/>
          </a:prstGeom>
          <a:noFill/>
          <a:ln/>
        </p:spPr>
        <p:txBody>
          <a:bodyPr wrap="square" lIns="0" tIns="0" rIns="0" bIns="0" rtlCol="0" anchor="t"/>
          <a:lstStyle/>
          <a:p>
            <a:pPr indent="0" marL="0">
              <a:buNone/>
            </a:pPr>
            <a:r>
              <a:rPr lang="en-US" sz="1000" b="1" spc="150" kern="0" dirty="0">
                <a:solidFill>
                  <a:srgbClr val="5E6573"/>
                </a:solidFill>
                <a:latin typeface="Calibri" pitchFamily="34" charset="0"/>
                <a:ea typeface="Calibri" pitchFamily="34" charset="-122"/>
                <a:cs typeface="Calibri" pitchFamily="34" charset="-120"/>
              </a:rPr>
              <a:t>PRAKTIS</a:t>
            </a:r>
            <a:endParaRPr lang="en-US" sz="1000" dirty="0"/>
          </a:p>
        </p:txBody>
      </p:sp>
      <p:sp>
        <p:nvSpPr>
          <p:cNvPr id="14" name="Text 12"/>
          <p:cNvSpPr txBox="1"/>
          <p:nvPr/>
        </p:nvSpPr>
        <p:spPr>
          <a:xfrm>
            <a:off x="7444588" y="2176272"/>
            <a:ext cx="3924148" cy="41148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Ambang penerapan yang terukur</a:t>
            </a:r>
            <a:endParaRPr lang="en-US" sz="1600" dirty="0"/>
          </a:p>
        </p:txBody>
      </p:sp>
      <p:sp>
        <p:nvSpPr>
          <p:cNvPr id="15" name="Text 13"/>
          <p:cNvSpPr txBox="1"/>
          <p:nvPr/>
        </p:nvSpPr>
        <p:spPr>
          <a:xfrm>
            <a:off x="7444588" y="2651760"/>
            <a:ext cx="3924148" cy="1005840"/>
          </a:xfrm>
          <a:prstGeom prst="rect">
            <a:avLst/>
          </a:prstGeom>
          <a:noFill/>
          <a:ln/>
        </p:spPr>
        <p:txBody>
          <a:bodyPr wrap="square" lIns="0" tIns="0" rIns="0" bIns="0" rtlCol="0" anchor="t"/>
          <a:lstStyle/>
          <a:p>
            <a:pPr indent="0" marL="0">
              <a:buNone/>
            </a:pPr>
            <a:r>
              <a:rPr lang="en-US" sz="1250" dirty="0">
                <a:solidFill>
                  <a:srgbClr val="1F2430"/>
                </a:solidFill>
                <a:latin typeface="Calibri" pitchFamily="34" charset="0"/>
                <a:ea typeface="Calibri" pitchFamily="34" charset="-122"/>
                <a:cs typeface="Calibri" pitchFamily="34" charset="-120"/>
              </a:rPr>
              <a:t>Code splitting layak diterapkan bila bundle awal &gt; 200 KB terkompresi dan memuat pustaka berat yang tidak dibutuhkan halaman pertama.</a:t>
            </a:r>
            <a:endParaRPr lang="en-US" sz="1250" dirty="0"/>
          </a:p>
        </p:txBody>
      </p:sp>
      <p:sp>
        <p:nvSpPr>
          <p:cNvPr id="16" name="Shape 14"/>
          <p:cNvSpPr/>
          <p:nvPr/>
        </p:nvSpPr>
        <p:spPr>
          <a:xfrm>
            <a:off x="548640" y="4069080"/>
            <a:ext cx="5387188" cy="2148840"/>
          </a:xfrm>
          <a:prstGeom prst="roundRect">
            <a:avLst>
              <a:gd name="adj" fmla="val 2553"/>
            </a:avLst>
          </a:prstGeom>
          <a:solidFill>
            <a:srgbClr val="F3F4F7"/>
          </a:solidFill>
          <a:ln/>
        </p:spPr>
      </p:sp>
      <p:sp>
        <p:nvSpPr>
          <p:cNvPr id="17" name="Text 15"/>
          <p:cNvSpPr txBox="1"/>
          <p:nvPr/>
        </p:nvSpPr>
        <p:spPr>
          <a:xfrm>
            <a:off x="822960" y="4297680"/>
            <a:ext cx="822960" cy="640080"/>
          </a:xfrm>
          <a:prstGeom prst="rect">
            <a:avLst/>
          </a:prstGeom>
          <a:noFill/>
          <a:ln/>
        </p:spPr>
        <p:txBody>
          <a:bodyPr wrap="square" lIns="0" tIns="0" rIns="0" bIns="0" rtlCol="0" anchor="t"/>
          <a:lstStyle/>
          <a:p>
            <a:pPr indent="0" marL="0">
              <a:buNone/>
            </a:pPr>
            <a:r>
              <a:rPr lang="en-US" sz="3400" b="1" dirty="0">
                <a:solidFill>
                  <a:srgbClr val="9B1B30"/>
                </a:solidFill>
                <a:latin typeface="Cambria" pitchFamily="34" charset="0"/>
                <a:ea typeface="Cambria" pitchFamily="34" charset="-122"/>
                <a:cs typeface="Cambria" pitchFamily="34" charset="-120"/>
              </a:rPr>
              <a:t>03</a:t>
            </a:r>
            <a:endParaRPr lang="en-US" sz="3400" dirty="0"/>
          </a:p>
        </p:txBody>
      </p:sp>
      <p:sp>
        <p:nvSpPr>
          <p:cNvPr id="18" name="Text 16"/>
          <p:cNvSpPr txBox="1"/>
          <p:nvPr/>
        </p:nvSpPr>
        <p:spPr>
          <a:xfrm>
            <a:off x="1737360" y="4343400"/>
            <a:ext cx="3924148" cy="228600"/>
          </a:xfrm>
          <a:prstGeom prst="rect">
            <a:avLst/>
          </a:prstGeom>
          <a:noFill/>
          <a:ln/>
        </p:spPr>
        <p:txBody>
          <a:bodyPr wrap="square" lIns="0" tIns="0" rIns="0" bIns="0" rtlCol="0" anchor="t"/>
          <a:lstStyle/>
          <a:p>
            <a:pPr indent="0" marL="0">
              <a:buNone/>
            </a:pPr>
            <a:r>
              <a:rPr lang="en-US" sz="1000" b="1" spc="150" kern="0" dirty="0">
                <a:solidFill>
                  <a:srgbClr val="5E6573"/>
                </a:solidFill>
                <a:latin typeface="Calibri" pitchFamily="34" charset="0"/>
                <a:ea typeface="Calibri" pitchFamily="34" charset="-122"/>
                <a:cs typeface="Calibri" pitchFamily="34" charset="-120"/>
              </a:rPr>
              <a:t>TEKNIS</a:t>
            </a:r>
            <a:endParaRPr lang="en-US" sz="1000" dirty="0"/>
          </a:p>
        </p:txBody>
      </p:sp>
      <p:sp>
        <p:nvSpPr>
          <p:cNvPr id="19" name="Text 17"/>
          <p:cNvSpPr txBox="1"/>
          <p:nvPr/>
        </p:nvSpPr>
        <p:spPr>
          <a:xfrm>
            <a:off x="1737360" y="4599432"/>
            <a:ext cx="3924148" cy="41148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Prefetch selektif menutup jeda navigasi</a:t>
            </a:r>
            <a:endParaRPr lang="en-US" sz="1600" dirty="0"/>
          </a:p>
        </p:txBody>
      </p:sp>
      <p:sp>
        <p:nvSpPr>
          <p:cNvPr id="20" name="Text 18"/>
          <p:cNvSpPr txBox="1"/>
          <p:nvPr/>
        </p:nvSpPr>
        <p:spPr>
          <a:xfrm>
            <a:off x="1737360" y="5074920"/>
            <a:ext cx="3924148" cy="1005840"/>
          </a:xfrm>
          <a:prstGeom prst="rect">
            <a:avLst/>
          </a:prstGeom>
          <a:noFill/>
          <a:ln/>
        </p:spPr>
        <p:txBody>
          <a:bodyPr wrap="square" lIns="0" tIns="0" rIns="0" bIns="0" rtlCol="0" anchor="t"/>
          <a:lstStyle/>
          <a:p>
            <a:pPr indent="0" marL="0">
              <a:buNone/>
            </a:pPr>
            <a:r>
              <a:rPr lang="en-US" sz="1250" dirty="0">
                <a:solidFill>
                  <a:srgbClr val="1F2430"/>
                </a:solidFill>
                <a:latin typeface="Calibri" pitchFamily="34" charset="0"/>
                <a:ea typeface="Calibri" pitchFamily="34" charset="-122"/>
                <a:cs typeface="Calibri" pitchFamily="34" charset="-120"/>
              </a:rPr>
              <a:t>requestIdleCallback memuat dua rute yang paling sering dituju saat main thread senggang, dibuktikan dengan rekaman jaringan.</a:t>
            </a:r>
            <a:endParaRPr lang="en-US" sz="1250" dirty="0"/>
          </a:p>
        </p:txBody>
      </p:sp>
      <p:sp>
        <p:nvSpPr>
          <p:cNvPr id="21" name="Shape 19"/>
          <p:cNvSpPr/>
          <p:nvPr/>
        </p:nvSpPr>
        <p:spPr>
          <a:xfrm>
            <a:off x="6255868" y="4069080"/>
            <a:ext cx="5387188" cy="2148840"/>
          </a:xfrm>
          <a:prstGeom prst="roundRect">
            <a:avLst>
              <a:gd name="adj" fmla="val 2553"/>
            </a:avLst>
          </a:prstGeom>
          <a:solidFill>
            <a:srgbClr val="F3F4F7"/>
          </a:solidFill>
          <a:ln/>
        </p:spPr>
      </p:sp>
      <p:sp>
        <p:nvSpPr>
          <p:cNvPr id="22" name="Text 20"/>
          <p:cNvSpPr txBox="1"/>
          <p:nvPr/>
        </p:nvSpPr>
        <p:spPr>
          <a:xfrm>
            <a:off x="6530188" y="4297680"/>
            <a:ext cx="822960" cy="640080"/>
          </a:xfrm>
          <a:prstGeom prst="rect">
            <a:avLst/>
          </a:prstGeom>
          <a:noFill/>
          <a:ln/>
        </p:spPr>
        <p:txBody>
          <a:bodyPr wrap="square" lIns="0" tIns="0" rIns="0" bIns="0" rtlCol="0" anchor="t"/>
          <a:lstStyle/>
          <a:p>
            <a:pPr indent="0" marL="0">
              <a:buNone/>
            </a:pPr>
            <a:r>
              <a:rPr lang="en-US" sz="3400" b="1" dirty="0">
                <a:solidFill>
                  <a:srgbClr val="9B1B30"/>
                </a:solidFill>
                <a:latin typeface="Cambria" pitchFamily="34" charset="0"/>
                <a:ea typeface="Cambria" pitchFamily="34" charset="-122"/>
                <a:cs typeface="Cambria" pitchFamily="34" charset="-120"/>
              </a:rPr>
              <a:t>04</a:t>
            </a:r>
            <a:endParaRPr lang="en-US" sz="3400" dirty="0"/>
          </a:p>
        </p:txBody>
      </p:sp>
      <p:sp>
        <p:nvSpPr>
          <p:cNvPr id="23" name="Text 21"/>
          <p:cNvSpPr txBox="1"/>
          <p:nvPr/>
        </p:nvSpPr>
        <p:spPr>
          <a:xfrm>
            <a:off x="7444588" y="4343400"/>
            <a:ext cx="3924148" cy="228600"/>
          </a:xfrm>
          <a:prstGeom prst="rect">
            <a:avLst/>
          </a:prstGeom>
          <a:noFill/>
          <a:ln/>
        </p:spPr>
        <p:txBody>
          <a:bodyPr wrap="square" lIns="0" tIns="0" rIns="0" bIns="0" rtlCol="0" anchor="t"/>
          <a:lstStyle/>
          <a:p>
            <a:pPr indent="0" marL="0">
              <a:buNone/>
            </a:pPr>
            <a:r>
              <a:rPr lang="en-US" sz="1000" b="1" spc="150" kern="0" dirty="0">
                <a:solidFill>
                  <a:srgbClr val="5E6573"/>
                </a:solidFill>
                <a:latin typeface="Calibri" pitchFamily="34" charset="0"/>
                <a:ea typeface="Calibri" pitchFamily="34" charset="-122"/>
                <a:cs typeface="Calibri" pitchFamily="34" charset="-120"/>
              </a:rPr>
              <a:t>METODOLOGIS</a:t>
            </a:r>
            <a:endParaRPr lang="en-US" sz="1000" dirty="0"/>
          </a:p>
        </p:txBody>
      </p:sp>
      <p:sp>
        <p:nvSpPr>
          <p:cNvPr id="24" name="Text 22"/>
          <p:cNvSpPr txBox="1"/>
          <p:nvPr/>
        </p:nvSpPr>
        <p:spPr>
          <a:xfrm>
            <a:off x="7444588" y="4599432"/>
            <a:ext cx="3924148" cy="41148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Protokol ukur yang dapat direproduksi</a:t>
            </a:r>
            <a:endParaRPr lang="en-US" sz="1600" dirty="0"/>
          </a:p>
        </p:txBody>
      </p:sp>
      <p:sp>
        <p:nvSpPr>
          <p:cNvPr id="25" name="Text 23"/>
          <p:cNvSpPr txBox="1"/>
          <p:nvPr/>
        </p:nvSpPr>
        <p:spPr>
          <a:xfrm>
            <a:off x="7444588" y="5074920"/>
            <a:ext cx="3924148" cy="1005840"/>
          </a:xfrm>
          <a:prstGeom prst="rect">
            <a:avLst/>
          </a:prstGeom>
          <a:noFill/>
          <a:ln/>
        </p:spPr>
        <p:txBody>
          <a:bodyPr wrap="square" lIns="0" tIns="0" rIns="0" bIns="0" rtlCol="0" anchor="t"/>
          <a:lstStyle/>
          <a:p>
            <a:pPr indent="0" marL="0">
              <a:buNone/>
            </a:pPr>
            <a:r>
              <a:rPr lang="en-US" sz="1250" dirty="0">
                <a:solidFill>
                  <a:srgbClr val="1F2430"/>
                </a:solidFill>
                <a:latin typeface="Calibri" pitchFamily="34" charset="0"/>
                <a:ea typeface="Calibri" pitchFamily="34" charset="-122"/>
                <a:cs typeface="Calibri" pitchFamily="34" charset="-120"/>
              </a:rPr>
              <a:t>Triangulasi PerformanceObserver dan Lighthouse, CPU 4×, 5 repetisi, dengan skrip dan data mentah terbuka (Lampiran 1).</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REVISI 2 · PROF. NISWAR &amp; DR. ADY</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Code splitting dan lazy loading: dua keputusan pada waktu berbeda</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2.1.3–2.1.4   6</a:t>
            </a:r>
            <a:endParaRPr lang="en-US" sz="900" dirty="0"/>
          </a:p>
        </p:txBody>
      </p:sp>
      <p:sp>
        <p:nvSpPr>
          <p:cNvPr id="6" name="Shape 4"/>
          <p:cNvSpPr/>
          <p:nvPr/>
        </p:nvSpPr>
        <p:spPr>
          <a:xfrm>
            <a:off x="548640" y="1691640"/>
            <a:ext cx="4937760" cy="2651760"/>
          </a:xfrm>
          <a:prstGeom prst="roundRect">
            <a:avLst>
              <a:gd name="adj" fmla="val 2069"/>
            </a:avLst>
          </a:prstGeom>
          <a:solidFill>
            <a:srgbClr val="F6E7EA"/>
          </a:solidFill>
          <a:ln/>
        </p:spPr>
      </p:sp>
      <p:sp>
        <p:nvSpPr>
          <p:cNvPr id="7" name="Text 5"/>
          <p:cNvSpPr txBox="1"/>
          <p:nvPr/>
        </p:nvSpPr>
        <p:spPr>
          <a:xfrm>
            <a:off x="868680" y="1965960"/>
            <a:ext cx="4297680" cy="228600"/>
          </a:xfrm>
          <a:prstGeom prst="rect">
            <a:avLst/>
          </a:prstGeom>
          <a:noFill/>
          <a:ln/>
        </p:spPr>
        <p:txBody>
          <a:bodyPr wrap="square" lIns="0" tIns="0" rIns="0" bIns="0" rtlCol="0" anchor="t"/>
          <a:lstStyle/>
          <a:p>
            <a:pPr indent="0" marL="0">
              <a:buNone/>
            </a:pPr>
            <a:r>
              <a:rPr lang="en-US" sz="1050" b="1" spc="150" kern="0" dirty="0">
                <a:solidFill>
                  <a:srgbClr val="9B1B30"/>
                </a:solidFill>
                <a:latin typeface="Calibri" pitchFamily="34" charset="0"/>
                <a:ea typeface="Calibri" pitchFamily="34" charset="-122"/>
                <a:cs typeface="Calibri" pitchFamily="34" charset="-120"/>
              </a:rPr>
              <a:t>SAAT BUILD · VITE / ROLLUP</a:t>
            </a:r>
            <a:endParaRPr lang="en-US" sz="1050" dirty="0"/>
          </a:p>
        </p:txBody>
      </p:sp>
      <p:sp>
        <p:nvSpPr>
          <p:cNvPr id="8" name="Text 6"/>
          <p:cNvSpPr txBox="1"/>
          <p:nvPr/>
        </p:nvSpPr>
        <p:spPr>
          <a:xfrm>
            <a:off x="868680" y="2240280"/>
            <a:ext cx="4297680" cy="457200"/>
          </a:xfrm>
          <a:prstGeom prst="rect">
            <a:avLst/>
          </a:prstGeom>
          <a:noFill/>
          <a:ln/>
        </p:spPr>
        <p:txBody>
          <a:bodyPr wrap="square" lIns="0" tIns="0" rIns="0" bIns="0" rtlCol="0" anchor="t"/>
          <a:lstStyle/>
          <a:p>
            <a:pPr indent="0" marL="0">
              <a:buNone/>
            </a:pPr>
            <a:r>
              <a:rPr lang="en-US" sz="2400" b="1" dirty="0">
                <a:solidFill>
                  <a:srgbClr val="1F2430"/>
                </a:solidFill>
                <a:latin typeface="Cambria" pitchFamily="34" charset="0"/>
                <a:ea typeface="Cambria" pitchFamily="34" charset="-122"/>
                <a:cs typeface="Cambria" pitchFamily="34" charset="-120"/>
              </a:rPr>
              <a:t>Code splitting</a:t>
            </a:r>
            <a:endParaRPr lang="en-US" sz="2400" dirty="0"/>
          </a:p>
        </p:txBody>
      </p:sp>
      <p:sp>
        <p:nvSpPr>
          <p:cNvPr id="9" name="Text 7"/>
          <p:cNvSpPr txBox="1"/>
          <p:nvPr/>
        </p:nvSpPr>
        <p:spPr>
          <a:xfrm>
            <a:off x="868680" y="2743200"/>
            <a:ext cx="4297680" cy="365760"/>
          </a:xfrm>
          <a:prstGeom prst="rect">
            <a:avLst/>
          </a:prstGeom>
          <a:noFill/>
          <a:ln/>
        </p:spPr>
        <p:txBody>
          <a:bodyPr wrap="square" lIns="0" tIns="0" rIns="0" bIns="0" rtlCol="0" anchor="t"/>
          <a:lstStyle/>
          <a:p>
            <a:pPr indent="0" marL="0">
              <a:buNone/>
            </a:pPr>
            <a:r>
              <a:rPr lang="en-US" sz="1500" i="1" dirty="0">
                <a:solidFill>
                  <a:srgbClr val="9B1B30"/>
                </a:solidFill>
                <a:latin typeface="Calibri" pitchFamily="34" charset="0"/>
                <a:ea typeface="Calibri" pitchFamily="34" charset="-122"/>
                <a:cs typeface="Calibri" pitchFamily="34" charset="-120"/>
              </a:rPr>
              <a:t>Bagaimana kode dipotong?</a:t>
            </a:r>
            <a:endParaRPr lang="en-US" sz="1500" dirty="0"/>
          </a:p>
        </p:txBody>
      </p:sp>
      <p:sp>
        <p:nvSpPr>
          <p:cNvPr id="10" name="Text 8"/>
          <p:cNvSpPr txBox="1"/>
          <p:nvPr/>
        </p:nvSpPr>
        <p:spPr>
          <a:xfrm>
            <a:off x="868680" y="3200400"/>
            <a:ext cx="4297680" cy="13716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Rollup membaca graf dependensi. Setiap import() dan aturan manualChunks menjadi batas potongan. Hasilnya beberapa berkas .js kecil, bukan satu bundle besar.</a:t>
            </a:r>
            <a:endParaRPr lang="en-US" sz="1300" dirty="0"/>
          </a:p>
        </p:txBody>
      </p:sp>
      <p:sp>
        <p:nvSpPr>
          <p:cNvPr id="11" name="Shape 9"/>
          <p:cNvSpPr/>
          <p:nvPr/>
        </p:nvSpPr>
        <p:spPr>
          <a:xfrm>
            <a:off x="6705295" y="1691640"/>
            <a:ext cx="4937760" cy="2651760"/>
          </a:xfrm>
          <a:prstGeom prst="roundRect">
            <a:avLst>
              <a:gd name="adj" fmla="val 2069"/>
            </a:avLst>
          </a:prstGeom>
          <a:solidFill>
            <a:srgbClr val="FBEDE5"/>
          </a:solidFill>
          <a:ln/>
        </p:spPr>
      </p:sp>
      <p:sp>
        <p:nvSpPr>
          <p:cNvPr id="12" name="Text 10"/>
          <p:cNvSpPr txBox="1"/>
          <p:nvPr/>
        </p:nvSpPr>
        <p:spPr>
          <a:xfrm>
            <a:off x="7025335" y="1965960"/>
            <a:ext cx="4297680" cy="228600"/>
          </a:xfrm>
          <a:prstGeom prst="rect">
            <a:avLst/>
          </a:prstGeom>
          <a:noFill/>
          <a:ln/>
        </p:spPr>
        <p:txBody>
          <a:bodyPr wrap="square" lIns="0" tIns="0" rIns="0" bIns="0" rtlCol="0" anchor="t"/>
          <a:lstStyle/>
          <a:p>
            <a:pPr indent="0" marL="0">
              <a:buNone/>
            </a:pPr>
            <a:r>
              <a:rPr lang="en-US" sz="1050" b="1" spc="150" kern="0" dirty="0">
                <a:solidFill>
                  <a:srgbClr val="D9622B"/>
                </a:solidFill>
                <a:latin typeface="Calibri" pitchFamily="34" charset="0"/>
                <a:ea typeface="Calibri" pitchFamily="34" charset="-122"/>
                <a:cs typeface="Calibri" pitchFamily="34" charset="-120"/>
              </a:rPr>
              <a:t>SAAT RUNTIME · BROWSER</a:t>
            </a:r>
            <a:endParaRPr lang="en-US" sz="1050" dirty="0"/>
          </a:p>
        </p:txBody>
      </p:sp>
      <p:sp>
        <p:nvSpPr>
          <p:cNvPr id="13" name="Text 11"/>
          <p:cNvSpPr txBox="1"/>
          <p:nvPr/>
        </p:nvSpPr>
        <p:spPr>
          <a:xfrm>
            <a:off x="7025335" y="2240280"/>
            <a:ext cx="4297680" cy="457200"/>
          </a:xfrm>
          <a:prstGeom prst="rect">
            <a:avLst/>
          </a:prstGeom>
          <a:noFill/>
          <a:ln/>
        </p:spPr>
        <p:txBody>
          <a:bodyPr wrap="square" lIns="0" tIns="0" rIns="0" bIns="0" rtlCol="0" anchor="t"/>
          <a:lstStyle/>
          <a:p>
            <a:pPr indent="0" marL="0">
              <a:buNone/>
            </a:pPr>
            <a:r>
              <a:rPr lang="en-US" sz="2400" b="1" dirty="0">
                <a:solidFill>
                  <a:srgbClr val="1F2430"/>
                </a:solidFill>
                <a:latin typeface="Cambria" pitchFamily="34" charset="0"/>
                <a:ea typeface="Cambria" pitchFamily="34" charset="-122"/>
                <a:cs typeface="Cambria" pitchFamily="34" charset="-120"/>
              </a:rPr>
              <a:t>Lazy loading</a:t>
            </a:r>
            <a:endParaRPr lang="en-US" sz="2400" dirty="0"/>
          </a:p>
        </p:txBody>
      </p:sp>
      <p:sp>
        <p:nvSpPr>
          <p:cNvPr id="14" name="Text 12"/>
          <p:cNvSpPr txBox="1"/>
          <p:nvPr/>
        </p:nvSpPr>
        <p:spPr>
          <a:xfrm>
            <a:off x="7025335" y="2743200"/>
            <a:ext cx="4297680" cy="365760"/>
          </a:xfrm>
          <a:prstGeom prst="rect">
            <a:avLst/>
          </a:prstGeom>
          <a:noFill/>
          <a:ln/>
        </p:spPr>
        <p:txBody>
          <a:bodyPr wrap="square" lIns="0" tIns="0" rIns="0" bIns="0" rtlCol="0" anchor="t"/>
          <a:lstStyle/>
          <a:p>
            <a:pPr indent="0" marL="0">
              <a:buNone/>
            </a:pPr>
            <a:r>
              <a:rPr lang="en-US" sz="1500" i="1" dirty="0">
                <a:solidFill>
                  <a:srgbClr val="D9622B"/>
                </a:solidFill>
                <a:latin typeface="Calibri" pitchFamily="34" charset="0"/>
                <a:ea typeface="Calibri" pitchFamily="34" charset="-122"/>
                <a:cs typeface="Calibri" pitchFamily="34" charset="-120"/>
              </a:rPr>
              <a:t>Kapan potongan itu dimuat?</a:t>
            </a:r>
            <a:endParaRPr lang="en-US" sz="1500" dirty="0"/>
          </a:p>
        </p:txBody>
      </p:sp>
      <p:sp>
        <p:nvSpPr>
          <p:cNvPr id="15" name="Text 13"/>
          <p:cNvSpPr txBox="1"/>
          <p:nvPr/>
        </p:nvSpPr>
        <p:spPr>
          <a:xfrm>
            <a:off x="7025335" y="3200400"/>
            <a:ext cx="4297680" cy="13716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Chunk sebuah rute baru diunduh dan di-parse ketika rute itu diakses. import() mengembalikan Promise, sehingga main thread tidak menunggu di awal.</a:t>
            </a:r>
            <a:endParaRPr lang="en-US" sz="1300" dirty="0"/>
          </a:p>
        </p:txBody>
      </p:sp>
      <p:sp>
        <p:nvSpPr>
          <p:cNvPr id="16" name="Shape 14"/>
          <p:cNvSpPr/>
          <p:nvPr/>
        </p:nvSpPr>
        <p:spPr>
          <a:xfrm>
            <a:off x="5596128" y="3017520"/>
            <a:ext cx="999439" cy="91"/>
          </a:xfrm>
          <a:prstGeom prst="line">
            <a:avLst/>
          </a:prstGeom>
          <a:noFill/>
          <a:ln w="19050">
            <a:solidFill>
              <a:srgbClr val="5E6573"/>
            </a:solidFill>
            <a:prstDash val="solid"/>
            <a:tailEnd type="triangle"/>
          </a:ln>
        </p:spPr>
      </p:sp>
      <p:sp>
        <p:nvSpPr>
          <p:cNvPr id="17" name="Text 15"/>
          <p:cNvSpPr txBox="1"/>
          <p:nvPr/>
        </p:nvSpPr>
        <p:spPr>
          <a:xfrm>
            <a:off x="5486400" y="2651760"/>
            <a:ext cx="1218895" cy="274320"/>
          </a:xfrm>
          <a:prstGeom prst="rect">
            <a:avLst/>
          </a:prstGeom>
          <a:noFill/>
          <a:ln/>
        </p:spPr>
        <p:txBody>
          <a:bodyPr wrap="square" lIns="0" tIns="0" rIns="0" bIns="0" rtlCol="0" anchor="t"/>
          <a:lstStyle/>
          <a:p>
            <a:pPr algn="ctr" indent="0" marL="0">
              <a:buNone/>
            </a:pPr>
            <a:r>
              <a:rPr lang="en-US" sz="1100" dirty="0">
                <a:solidFill>
                  <a:srgbClr val="5E6573"/>
                </a:solidFill>
                <a:latin typeface="Calibri" pitchFamily="34" charset="0"/>
                <a:ea typeface="Calibri" pitchFamily="34" charset="-122"/>
                <a:cs typeface="Calibri" pitchFamily="34" charset="-120"/>
              </a:rPr>
              <a:t>chunk</a:t>
            </a:r>
            <a:endParaRPr lang="en-US" sz="1100" dirty="0"/>
          </a:p>
        </p:txBody>
      </p:sp>
      <p:sp>
        <p:nvSpPr>
          <p:cNvPr id="18" name="Text 16"/>
          <p:cNvSpPr txBox="1"/>
          <p:nvPr/>
        </p:nvSpPr>
        <p:spPr>
          <a:xfrm>
            <a:off x="548640" y="4754880"/>
            <a:ext cx="11094415" cy="82296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Keduanya saling membutuhkan. </a:t>
            </a:r>
            <a:pPr indent="0" marL="0">
              <a:buNone/>
            </a:pPr>
            <a:r>
              <a:rPr lang="en-US" sz="1500" dirty="0">
                <a:solidFill>
                  <a:srgbClr val="1F2430"/>
                </a:solidFill>
                <a:latin typeface="Calibri" pitchFamily="34" charset="0"/>
                <a:ea typeface="Calibri" pitchFamily="34" charset="-122"/>
                <a:cs typeface="Calibri" pitchFamily="34" charset="-120"/>
              </a:rPr>
              <a:t>Tanpa splitting, tidak ada potongan yang bisa ditunda. Tanpa lazy loading, semua potongan tetap diunduh di awal. Istilah </a:t>
            </a:r>
            <a:pPr indent="0" marL="0">
              <a:buNone/>
            </a:pPr>
            <a:r>
              <a:rPr lang="en-US" sz="1500" i="1" dirty="0">
                <a:solidFill>
                  <a:srgbClr val="1F2430"/>
                </a:solidFill>
                <a:latin typeface="Calibri" pitchFamily="34" charset="0"/>
                <a:ea typeface="Calibri" pitchFamily="34" charset="-122"/>
                <a:cs typeface="Calibri" pitchFamily="34" charset="-120"/>
              </a:rPr>
              <a:t>hybrid</a:t>
            </a:r>
            <a:pPr indent="0" marL="0">
              <a:buNone/>
            </a:pPr>
            <a:r>
              <a:rPr lang="en-US" sz="1500" dirty="0">
                <a:solidFill>
                  <a:srgbClr val="1F2430"/>
                </a:solidFill>
                <a:latin typeface="Calibri" pitchFamily="34" charset="0"/>
                <a:ea typeface="Calibri" pitchFamily="34" charset="-122"/>
                <a:cs typeface="Calibri" pitchFamily="34" charset="-120"/>
              </a:rPr>
              <a:t> pada judul berarti keduanya digabung dengan prefetching dan kompresi Brotli/Gzip.</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REVISI 2 · MEKANISME CODE SPLITTING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Satu bundle 346,53 KB menjadi sembilan chunk</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3.1   7</a:t>
            </a:r>
            <a:endParaRPr lang="en-US" sz="900" dirty="0"/>
          </a:p>
        </p:txBody>
      </p:sp>
      <p:sp>
        <p:nvSpPr>
          <p:cNvPr id="6" name="Text 4"/>
          <p:cNvSpPr txBox="1"/>
          <p:nvPr/>
        </p:nvSpPr>
        <p:spPr>
          <a:xfrm>
            <a:off x="548640" y="1645920"/>
            <a:ext cx="4572000" cy="228600"/>
          </a:xfrm>
          <a:prstGeom prst="rect">
            <a:avLst/>
          </a:prstGeom>
          <a:noFill/>
          <a:ln/>
        </p:spPr>
        <p:txBody>
          <a:bodyPr wrap="square" lIns="0" tIns="0" rIns="0" bIns="0" rtlCol="0" anchor="t"/>
          <a:lstStyle/>
          <a:p>
            <a:pPr indent="0" marL="0">
              <a:buNone/>
            </a:pPr>
            <a:r>
              <a:rPr lang="en-US" sz="1000" b="1" spc="150" kern="0" dirty="0">
                <a:solidFill>
                  <a:srgbClr val="5E6573"/>
                </a:solidFill>
                <a:latin typeface="Calibri" pitchFamily="34" charset="0"/>
                <a:ea typeface="Calibri" pitchFamily="34" charset="-122"/>
                <a:cs typeface="Calibri" pitchFamily="34" charset="-120"/>
              </a:rPr>
              <a:t>BASELINE · 1 BERKAS</a:t>
            </a:r>
            <a:endParaRPr lang="en-US" sz="1000" dirty="0"/>
          </a:p>
        </p:txBody>
      </p:sp>
      <p:sp>
        <p:nvSpPr>
          <p:cNvPr id="7" name="Shape 5"/>
          <p:cNvSpPr/>
          <p:nvPr/>
        </p:nvSpPr>
        <p:spPr>
          <a:xfrm>
            <a:off x="548640" y="1920240"/>
            <a:ext cx="5990089" cy="502920"/>
          </a:xfrm>
          <a:prstGeom prst="roundRect">
            <a:avLst>
              <a:gd name="adj" fmla="val 7273"/>
            </a:avLst>
          </a:prstGeom>
          <a:solidFill>
            <a:srgbClr val="59606E"/>
          </a:solidFill>
          <a:ln/>
        </p:spPr>
      </p:sp>
      <p:sp>
        <p:nvSpPr>
          <p:cNvPr id="8" name="Text 6"/>
          <p:cNvSpPr txBox="1"/>
          <p:nvPr/>
        </p:nvSpPr>
        <p:spPr>
          <a:xfrm>
            <a:off x="685800" y="1920240"/>
            <a:ext cx="457200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index.baseline.js · 346,53 KB</a:t>
            </a:r>
            <a:endParaRPr lang="en-US" sz="1200" dirty="0"/>
          </a:p>
        </p:txBody>
      </p:sp>
      <p:sp>
        <p:nvSpPr>
          <p:cNvPr id="9" name="Text 7"/>
          <p:cNvSpPr txBox="1"/>
          <p:nvPr/>
        </p:nvSpPr>
        <p:spPr>
          <a:xfrm>
            <a:off x="548640" y="2697480"/>
            <a:ext cx="6309360" cy="228600"/>
          </a:xfrm>
          <a:prstGeom prst="rect">
            <a:avLst/>
          </a:prstGeom>
          <a:noFill/>
          <a:ln/>
        </p:spPr>
        <p:txBody>
          <a:bodyPr wrap="square" lIns="0" tIns="0" rIns="0" bIns="0" rtlCol="0" anchor="t"/>
          <a:lstStyle/>
          <a:p>
            <a:pPr indent="0" marL="0">
              <a:buNone/>
            </a:pPr>
            <a:r>
              <a:rPr lang="en-US" sz="1000" b="1" spc="150" kern="0" dirty="0">
                <a:solidFill>
                  <a:srgbClr val="9B1B30"/>
                </a:solidFill>
                <a:latin typeface="Calibri" pitchFamily="34" charset="0"/>
                <a:ea typeface="Calibri" pitchFamily="34" charset="-122"/>
                <a:cs typeface="Calibri" pitchFamily="34" charset="-120"/>
              </a:rPr>
              <a:t>OPTIMIZED · 9 CHUNK (UKURAN SEBELUM KOMPRESI)</a:t>
            </a:r>
            <a:endParaRPr lang="en-US" sz="1000" dirty="0"/>
          </a:p>
        </p:txBody>
      </p:sp>
      <p:sp>
        <p:nvSpPr>
          <p:cNvPr id="10" name="Shape 8"/>
          <p:cNvSpPr/>
          <p:nvPr/>
        </p:nvSpPr>
        <p:spPr>
          <a:xfrm>
            <a:off x="2331720" y="2999232"/>
            <a:ext cx="3450096" cy="219456"/>
          </a:xfrm>
          <a:prstGeom prst="rect">
            <a:avLst/>
          </a:prstGeom>
          <a:solidFill>
            <a:srgbClr val="D9622B"/>
          </a:solidFill>
          <a:ln/>
        </p:spPr>
      </p:sp>
      <p:sp>
        <p:nvSpPr>
          <p:cNvPr id="11" name="Text 9"/>
          <p:cNvSpPr txBox="1"/>
          <p:nvPr/>
        </p:nvSpPr>
        <p:spPr>
          <a:xfrm>
            <a:off x="548640" y="2980944"/>
            <a:ext cx="1691640" cy="256032"/>
          </a:xfrm>
          <a:prstGeom prst="rect">
            <a:avLst/>
          </a:prstGeom>
          <a:noFill/>
          <a:ln/>
        </p:spPr>
        <p:txBody>
          <a:bodyPr wrap="square" lIns="0" tIns="0" rIns="0" bIns="0" rtlCol="0" anchor="ctr"/>
          <a:lstStyle/>
          <a:p>
            <a:pPr algn="r" indent="0" marL="0">
              <a:buNone/>
            </a:pPr>
            <a:r>
              <a:rPr lang="en-US" sz="1000" dirty="0">
                <a:solidFill>
                  <a:srgbClr val="1F2430"/>
                </a:solidFill>
                <a:latin typeface="Calibri" pitchFamily="34" charset="0"/>
                <a:ea typeface="Calibri" pitchFamily="34" charset="-122"/>
                <a:cs typeface="Calibri" pitchFamily="34" charset="-120"/>
              </a:rPr>
              <a:t>vendor-chart.js</a:t>
            </a:r>
            <a:endParaRPr lang="en-US" sz="1000" dirty="0"/>
          </a:p>
        </p:txBody>
      </p:sp>
      <p:sp>
        <p:nvSpPr>
          <p:cNvPr id="12" name="Text 10"/>
          <p:cNvSpPr txBox="1"/>
          <p:nvPr/>
        </p:nvSpPr>
        <p:spPr>
          <a:xfrm>
            <a:off x="5854968" y="2980944"/>
            <a:ext cx="914400" cy="256032"/>
          </a:xfrm>
          <a:prstGeom prst="rect">
            <a:avLst/>
          </a:prstGeom>
          <a:noFill/>
          <a:ln/>
        </p:spPr>
        <p:txBody>
          <a:bodyPr wrap="square" lIns="0" tIns="0" rIns="0" bIns="0" rtlCol="0" anchor="ctr"/>
          <a:lstStyle/>
          <a:p>
            <a:pPr indent="0" marL="0">
              <a:buNone/>
            </a:pPr>
            <a:r>
              <a:rPr lang="en-US" sz="1000" dirty="0">
                <a:solidFill>
                  <a:srgbClr val="5E6573"/>
                </a:solidFill>
                <a:latin typeface="Calibri" pitchFamily="34" charset="0"/>
                <a:ea typeface="Calibri" pitchFamily="34" charset="-122"/>
                <a:cs typeface="Calibri" pitchFamily="34" charset="-120"/>
              </a:rPr>
              <a:t>199,6 KB</a:t>
            </a:r>
            <a:endParaRPr lang="en-US" sz="1000" dirty="0"/>
          </a:p>
        </p:txBody>
      </p:sp>
      <p:sp>
        <p:nvSpPr>
          <p:cNvPr id="13" name="Shape 11"/>
          <p:cNvSpPr/>
          <p:nvPr/>
        </p:nvSpPr>
        <p:spPr>
          <a:xfrm>
            <a:off x="2331720" y="3282696"/>
            <a:ext cx="1787364" cy="219456"/>
          </a:xfrm>
          <a:prstGeom prst="rect">
            <a:avLst/>
          </a:prstGeom>
          <a:solidFill>
            <a:srgbClr val="D9622B"/>
          </a:solidFill>
          <a:ln/>
        </p:spPr>
      </p:sp>
      <p:sp>
        <p:nvSpPr>
          <p:cNvPr id="14" name="Text 12"/>
          <p:cNvSpPr txBox="1"/>
          <p:nvPr/>
        </p:nvSpPr>
        <p:spPr>
          <a:xfrm>
            <a:off x="548640" y="3264408"/>
            <a:ext cx="1691640" cy="256032"/>
          </a:xfrm>
          <a:prstGeom prst="rect">
            <a:avLst/>
          </a:prstGeom>
          <a:noFill/>
          <a:ln/>
        </p:spPr>
        <p:txBody>
          <a:bodyPr wrap="square" lIns="0" tIns="0" rIns="0" bIns="0" rtlCol="0" anchor="ctr"/>
          <a:lstStyle/>
          <a:p>
            <a:pPr algn="r" indent="0" marL="0">
              <a:buNone/>
            </a:pPr>
            <a:r>
              <a:rPr lang="en-US" sz="1000" dirty="0">
                <a:solidFill>
                  <a:srgbClr val="1F2430"/>
                </a:solidFill>
                <a:latin typeface="Calibri" pitchFamily="34" charset="0"/>
                <a:ea typeface="Calibri" pitchFamily="34" charset="-122"/>
                <a:cs typeface="Calibri" pitchFamily="34" charset="-120"/>
              </a:rPr>
              <a:t>vendor-vue.js</a:t>
            </a:r>
            <a:endParaRPr lang="en-US" sz="1000" dirty="0"/>
          </a:p>
        </p:txBody>
      </p:sp>
      <p:sp>
        <p:nvSpPr>
          <p:cNvPr id="15" name="Text 13"/>
          <p:cNvSpPr txBox="1"/>
          <p:nvPr/>
        </p:nvSpPr>
        <p:spPr>
          <a:xfrm>
            <a:off x="4192236" y="3264408"/>
            <a:ext cx="914400" cy="256032"/>
          </a:xfrm>
          <a:prstGeom prst="rect">
            <a:avLst/>
          </a:prstGeom>
          <a:noFill/>
          <a:ln/>
        </p:spPr>
        <p:txBody>
          <a:bodyPr wrap="square" lIns="0" tIns="0" rIns="0" bIns="0" rtlCol="0" anchor="ctr"/>
          <a:lstStyle/>
          <a:p>
            <a:pPr indent="0" marL="0">
              <a:buNone/>
            </a:pPr>
            <a:r>
              <a:rPr lang="en-US" sz="1000" dirty="0">
                <a:solidFill>
                  <a:srgbClr val="5E6573"/>
                </a:solidFill>
                <a:latin typeface="Calibri" pitchFamily="34" charset="0"/>
                <a:ea typeface="Calibri" pitchFamily="34" charset="-122"/>
                <a:cs typeface="Calibri" pitchFamily="34" charset="-120"/>
              </a:rPr>
              <a:t>103,4 KB</a:t>
            </a:r>
            <a:endParaRPr lang="en-US" sz="1000" dirty="0"/>
          </a:p>
        </p:txBody>
      </p:sp>
      <p:sp>
        <p:nvSpPr>
          <p:cNvPr id="16" name="Shape 14"/>
          <p:cNvSpPr/>
          <p:nvPr/>
        </p:nvSpPr>
        <p:spPr>
          <a:xfrm>
            <a:off x="2331720" y="3566160"/>
            <a:ext cx="297145" cy="219456"/>
          </a:xfrm>
          <a:prstGeom prst="rect">
            <a:avLst/>
          </a:prstGeom>
          <a:solidFill>
            <a:srgbClr val="D9622B"/>
          </a:solidFill>
          <a:ln/>
        </p:spPr>
      </p:sp>
      <p:sp>
        <p:nvSpPr>
          <p:cNvPr id="17" name="Text 15"/>
          <p:cNvSpPr txBox="1"/>
          <p:nvPr/>
        </p:nvSpPr>
        <p:spPr>
          <a:xfrm>
            <a:off x="548640" y="3547872"/>
            <a:ext cx="1691640" cy="256032"/>
          </a:xfrm>
          <a:prstGeom prst="rect">
            <a:avLst/>
          </a:prstGeom>
          <a:noFill/>
          <a:ln/>
        </p:spPr>
        <p:txBody>
          <a:bodyPr wrap="square" lIns="0" tIns="0" rIns="0" bIns="0" rtlCol="0" anchor="ctr"/>
          <a:lstStyle/>
          <a:p>
            <a:pPr algn="r" indent="0" marL="0">
              <a:buNone/>
            </a:pPr>
            <a:r>
              <a:rPr lang="en-US" sz="1000" dirty="0">
                <a:solidFill>
                  <a:srgbClr val="1F2430"/>
                </a:solidFill>
                <a:latin typeface="Calibri" pitchFamily="34" charset="0"/>
                <a:ea typeface="Calibri" pitchFamily="34" charset="-122"/>
                <a:cs typeface="Calibri" pitchFamily="34" charset="-120"/>
              </a:rPr>
              <a:t>supabase.js</a:t>
            </a:r>
            <a:endParaRPr lang="en-US" sz="1000" dirty="0"/>
          </a:p>
        </p:txBody>
      </p:sp>
      <p:sp>
        <p:nvSpPr>
          <p:cNvPr id="18" name="Text 16"/>
          <p:cNvSpPr txBox="1"/>
          <p:nvPr/>
        </p:nvSpPr>
        <p:spPr>
          <a:xfrm>
            <a:off x="2702017" y="3547872"/>
            <a:ext cx="914400" cy="256032"/>
          </a:xfrm>
          <a:prstGeom prst="rect">
            <a:avLst/>
          </a:prstGeom>
          <a:noFill/>
          <a:ln/>
        </p:spPr>
        <p:txBody>
          <a:bodyPr wrap="square" lIns="0" tIns="0" rIns="0" bIns="0" rtlCol="0" anchor="ctr"/>
          <a:lstStyle/>
          <a:p>
            <a:pPr indent="0" marL="0">
              <a:buNone/>
            </a:pPr>
            <a:r>
              <a:rPr lang="en-US" sz="1000" dirty="0">
                <a:solidFill>
                  <a:srgbClr val="5E6573"/>
                </a:solidFill>
                <a:latin typeface="Calibri" pitchFamily="34" charset="0"/>
                <a:ea typeface="Calibri" pitchFamily="34" charset="-122"/>
                <a:cs typeface="Calibri" pitchFamily="34" charset="-120"/>
              </a:rPr>
              <a:t>17,2 KB</a:t>
            </a:r>
            <a:endParaRPr lang="en-US" sz="1000" dirty="0"/>
          </a:p>
        </p:txBody>
      </p:sp>
      <p:sp>
        <p:nvSpPr>
          <p:cNvPr id="19" name="Shape 17"/>
          <p:cNvSpPr/>
          <p:nvPr/>
        </p:nvSpPr>
        <p:spPr>
          <a:xfrm>
            <a:off x="2331720" y="3849624"/>
            <a:ext cx="201727" cy="219456"/>
          </a:xfrm>
          <a:prstGeom prst="rect">
            <a:avLst/>
          </a:prstGeom>
          <a:solidFill>
            <a:srgbClr val="D9622B"/>
          </a:solidFill>
          <a:ln/>
        </p:spPr>
      </p:sp>
      <p:sp>
        <p:nvSpPr>
          <p:cNvPr id="20" name="Text 18"/>
          <p:cNvSpPr txBox="1"/>
          <p:nvPr/>
        </p:nvSpPr>
        <p:spPr>
          <a:xfrm>
            <a:off x="548640" y="3831336"/>
            <a:ext cx="1691640" cy="256032"/>
          </a:xfrm>
          <a:prstGeom prst="rect">
            <a:avLst/>
          </a:prstGeom>
          <a:noFill/>
          <a:ln/>
        </p:spPr>
        <p:txBody>
          <a:bodyPr wrap="square" lIns="0" tIns="0" rIns="0" bIns="0" rtlCol="0" anchor="ctr"/>
          <a:lstStyle/>
          <a:p>
            <a:pPr algn="r" indent="0" marL="0">
              <a:buNone/>
            </a:pPr>
            <a:r>
              <a:rPr lang="en-US" sz="1000" dirty="0">
                <a:solidFill>
                  <a:srgbClr val="1F2430"/>
                </a:solidFill>
                <a:latin typeface="Calibri" pitchFamily="34" charset="0"/>
                <a:ea typeface="Calibri" pitchFamily="34" charset="-122"/>
                <a:cs typeface="Calibri" pitchFamily="34" charset="-120"/>
              </a:rPr>
              <a:t>index.optimized.js</a:t>
            </a:r>
            <a:endParaRPr lang="en-US" sz="1000" dirty="0"/>
          </a:p>
        </p:txBody>
      </p:sp>
      <p:sp>
        <p:nvSpPr>
          <p:cNvPr id="21" name="Text 19"/>
          <p:cNvSpPr txBox="1"/>
          <p:nvPr/>
        </p:nvSpPr>
        <p:spPr>
          <a:xfrm>
            <a:off x="2606599" y="3831336"/>
            <a:ext cx="914400" cy="256032"/>
          </a:xfrm>
          <a:prstGeom prst="rect">
            <a:avLst/>
          </a:prstGeom>
          <a:noFill/>
          <a:ln/>
        </p:spPr>
        <p:txBody>
          <a:bodyPr wrap="square" lIns="0" tIns="0" rIns="0" bIns="0" rtlCol="0" anchor="ctr"/>
          <a:lstStyle/>
          <a:p>
            <a:pPr indent="0" marL="0">
              <a:buNone/>
            </a:pPr>
            <a:r>
              <a:rPr lang="en-US" sz="1000" dirty="0">
                <a:solidFill>
                  <a:srgbClr val="5E6573"/>
                </a:solidFill>
                <a:latin typeface="Calibri" pitchFamily="34" charset="0"/>
                <a:ea typeface="Calibri" pitchFamily="34" charset="-122"/>
                <a:cs typeface="Calibri" pitchFamily="34" charset="-120"/>
              </a:rPr>
              <a:t>11,7 KB</a:t>
            </a:r>
            <a:endParaRPr lang="en-US" sz="1000" dirty="0"/>
          </a:p>
        </p:txBody>
      </p:sp>
      <p:sp>
        <p:nvSpPr>
          <p:cNvPr id="22" name="Shape 20"/>
          <p:cNvSpPr/>
          <p:nvPr/>
        </p:nvSpPr>
        <p:spPr>
          <a:xfrm>
            <a:off x="2331720" y="4133088"/>
            <a:ext cx="138114" cy="219456"/>
          </a:xfrm>
          <a:prstGeom prst="rect">
            <a:avLst/>
          </a:prstGeom>
          <a:solidFill>
            <a:srgbClr val="D9622B"/>
          </a:solidFill>
          <a:ln/>
        </p:spPr>
      </p:sp>
      <p:sp>
        <p:nvSpPr>
          <p:cNvPr id="23" name="Text 21"/>
          <p:cNvSpPr txBox="1"/>
          <p:nvPr/>
        </p:nvSpPr>
        <p:spPr>
          <a:xfrm>
            <a:off x="548640" y="4114800"/>
            <a:ext cx="1691640" cy="256032"/>
          </a:xfrm>
          <a:prstGeom prst="rect">
            <a:avLst/>
          </a:prstGeom>
          <a:noFill/>
          <a:ln/>
        </p:spPr>
        <p:txBody>
          <a:bodyPr wrap="square" lIns="0" tIns="0" rIns="0" bIns="0" rtlCol="0" anchor="ctr"/>
          <a:lstStyle/>
          <a:p>
            <a:pPr algn="r" indent="0" marL="0">
              <a:buNone/>
            </a:pPr>
            <a:r>
              <a:rPr lang="en-US" sz="1000" dirty="0">
                <a:solidFill>
                  <a:srgbClr val="1F2430"/>
                </a:solidFill>
                <a:latin typeface="Calibri" pitchFamily="34" charset="0"/>
                <a:ea typeface="Calibri" pitchFamily="34" charset="-122"/>
                <a:cs typeface="Calibri" pitchFamily="34" charset="-120"/>
              </a:rPr>
              <a:t>DashboardView.js</a:t>
            </a:r>
            <a:endParaRPr lang="en-US" sz="1000" dirty="0"/>
          </a:p>
        </p:txBody>
      </p:sp>
      <p:sp>
        <p:nvSpPr>
          <p:cNvPr id="24" name="Text 22"/>
          <p:cNvSpPr txBox="1"/>
          <p:nvPr/>
        </p:nvSpPr>
        <p:spPr>
          <a:xfrm>
            <a:off x="2542986" y="4114800"/>
            <a:ext cx="914400" cy="256032"/>
          </a:xfrm>
          <a:prstGeom prst="rect">
            <a:avLst/>
          </a:prstGeom>
          <a:noFill/>
          <a:ln/>
        </p:spPr>
        <p:txBody>
          <a:bodyPr wrap="square" lIns="0" tIns="0" rIns="0" bIns="0" rtlCol="0" anchor="ctr"/>
          <a:lstStyle/>
          <a:p>
            <a:pPr indent="0" marL="0">
              <a:buNone/>
            </a:pPr>
            <a:r>
              <a:rPr lang="en-US" sz="1000" dirty="0">
                <a:solidFill>
                  <a:srgbClr val="5E6573"/>
                </a:solidFill>
                <a:latin typeface="Calibri" pitchFamily="34" charset="0"/>
                <a:ea typeface="Calibri" pitchFamily="34" charset="-122"/>
                <a:cs typeface="Calibri" pitchFamily="34" charset="-120"/>
              </a:rPr>
              <a:t>8,0 KB</a:t>
            </a:r>
            <a:endParaRPr lang="en-US" sz="1000" dirty="0"/>
          </a:p>
        </p:txBody>
      </p:sp>
      <p:sp>
        <p:nvSpPr>
          <p:cNvPr id="25" name="Shape 23"/>
          <p:cNvSpPr/>
          <p:nvPr/>
        </p:nvSpPr>
        <p:spPr>
          <a:xfrm>
            <a:off x="2331720" y="4416552"/>
            <a:ext cx="133966" cy="219456"/>
          </a:xfrm>
          <a:prstGeom prst="rect">
            <a:avLst/>
          </a:prstGeom>
          <a:solidFill>
            <a:srgbClr val="1A9C74"/>
          </a:solidFill>
          <a:ln/>
        </p:spPr>
      </p:sp>
      <p:sp>
        <p:nvSpPr>
          <p:cNvPr id="26" name="Text 24"/>
          <p:cNvSpPr txBox="1"/>
          <p:nvPr/>
        </p:nvSpPr>
        <p:spPr>
          <a:xfrm>
            <a:off x="548640" y="4398264"/>
            <a:ext cx="1691640" cy="256032"/>
          </a:xfrm>
          <a:prstGeom prst="rect">
            <a:avLst/>
          </a:prstGeom>
          <a:noFill/>
          <a:ln/>
        </p:spPr>
        <p:txBody>
          <a:bodyPr wrap="square" lIns="0" tIns="0" rIns="0" bIns="0" rtlCol="0" anchor="ctr"/>
          <a:lstStyle/>
          <a:p>
            <a:pPr algn="r" indent="0" marL="0">
              <a:buNone/>
            </a:pPr>
            <a:r>
              <a:rPr lang="en-US" sz="1000" dirty="0">
                <a:solidFill>
                  <a:srgbClr val="1F2430"/>
                </a:solidFill>
                <a:latin typeface="Calibri" pitchFamily="34" charset="0"/>
                <a:ea typeface="Calibri" pitchFamily="34" charset="-122"/>
                <a:cs typeface="Calibri" pitchFamily="34" charset="-120"/>
              </a:rPr>
              <a:t>DetailBimbinganView.js</a:t>
            </a:r>
            <a:endParaRPr lang="en-US" sz="1000" dirty="0"/>
          </a:p>
        </p:txBody>
      </p:sp>
      <p:sp>
        <p:nvSpPr>
          <p:cNvPr id="27" name="Text 25"/>
          <p:cNvSpPr txBox="1"/>
          <p:nvPr/>
        </p:nvSpPr>
        <p:spPr>
          <a:xfrm>
            <a:off x="2538838" y="4398264"/>
            <a:ext cx="914400" cy="256032"/>
          </a:xfrm>
          <a:prstGeom prst="rect">
            <a:avLst/>
          </a:prstGeom>
          <a:noFill/>
          <a:ln/>
        </p:spPr>
        <p:txBody>
          <a:bodyPr wrap="square" lIns="0" tIns="0" rIns="0" bIns="0" rtlCol="0" anchor="ctr"/>
          <a:lstStyle/>
          <a:p>
            <a:pPr indent="0" marL="0">
              <a:buNone/>
            </a:pPr>
            <a:r>
              <a:rPr lang="en-US" sz="1000" dirty="0">
                <a:solidFill>
                  <a:srgbClr val="5E6573"/>
                </a:solidFill>
                <a:latin typeface="Calibri" pitchFamily="34" charset="0"/>
                <a:ea typeface="Calibri" pitchFamily="34" charset="-122"/>
                <a:cs typeface="Calibri" pitchFamily="34" charset="-120"/>
              </a:rPr>
              <a:t>7,8 KB</a:t>
            </a:r>
            <a:endParaRPr lang="en-US" sz="1000" dirty="0"/>
          </a:p>
        </p:txBody>
      </p:sp>
      <p:sp>
        <p:nvSpPr>
          <p:cNvPr id="28" name="Shape 26"/>
          <p:cNvSpPr/>
          <p:nvPr/>
        </p:nvSpPr>
        <p:spPr>
          <a:xfrm>
            <a:off x="2331720" y="4700016"/>
            <a:ext cx="109593" cy="219456"/>
          </a:xfrm>
          <a:prstGeom prst="rect">
            <a:avLst/>
          </a:prstGeom>
          <a:solidFill>
            <a:srgbClr val="B8BDC7"/>
          </a:solidFill>
          <a:ln/>
        </p:spPr>
      </p:sp>
      <p:sp>
        <p:nvSpPr>
          <p:cNvPr id="29" name="Text 27"/>
          <p:cNvSpPr txBox="1"/>
          <p:nvPr/>
        </p:nvSpPr>
        <p:spPr>
          <a:xfrm>
            <a:off x="548640" y="4681728"/>
            <a:ext cx="1691640" cy="256032"/>
          </a:xfrm>
          <a:prstGeom prst="rect">
            <a:avLst/>
          </a:prstGeom>
          <a:noFill/>
          <a:ln/>
        </p:spPr>
        <p:txBody>
          <a:bodyPr wrap="square" lIns="0" tIns="0" rIns="0" bIns="0" rtlCol="0" anchor="ctr"/>
          <a:lstStyle/>
          <a:p>
            <a:pPr algn="r" indent="0" marL="0">
              <a:buNone/>
            </a:pPr>
            <a:r>
              <a:rPr lang="en-US" sz="1000" dirty="0">
                <a:solidFill>
                  <a:srgbClr val="1F2430"/>
                </a:solidFill>
                <a:latin typeface="Calibri" pitchFamily="34" charset="0"/>
                <a:ea typeface="Calibri" pitchFamily="34" charset="-122"/>
                <a:cs typeface="Calibri" pitchFamily="34" charset="-120"/>
              </a:rPr>
              <a:t>JadwalSeminarView.js</a:t>
            </a:r>
            <a:endParaRPr lang="en-US" sz="1000" dirty="0"/>
          </a:p>
        </p:txBody>
      </p:sp>
      <p:sp>
        <p:nvSpPr>
          <p:cNvPr id="30" name="Text 28"/>
          <p:cNvSpPr txBox="1"/>
          <p:nvPr/>
        </p:nvSpPr>
        <p:spPr>
          <a:xfrm>
            <a:off x="2514465" y="4681728"/>
            <a:ext cx="914400" cy="256032"/>
          </a:xfrm>
          <a:prstGeom prst="rect">
            <a:avLst/>
          </a:prstGeom>
          <a:noFill/>
          <a:ln/>
        </p:spPr>
        <p:txBody>
          <a:bodyPr wrap="square" lIns="0" tIns="0" rIns="0" bIns="0" rtlCol="0" anchor="ctr"/>
          <a:lstStyle/>
          <a:p>
            <a:pPr indent="0" marL="0">
              <a:buNone/>
            </a:pPr>
            <a:r>
              <a:rPr lang="en-US" sz="1000" dirty="0">
                <a:solidFill>
                  <a:srgbClr val="5E6573"/>
                </a:solidFill>
                <a:latin typeface="Calibri" pitchFamily="34" charset="0"/>
                <a:ea typeface="Calibri" pitchFamily="34" charset="-122"/>
                <a:cs typeface="Calibri" pitchFamily="34" charset="-120"/>
              </a:rPr>
              <a:t>6,3 KB</a:t>
            </a:r>
            <a:endParaRPr lang="en-US" sz="1000" dirty="0"/>
          </a:p>
        </p:txBody>
      </p:sp>
      <p:sp>
        <p:nvSpPr>
          <p:cNvPr id="31" name="Shape 29"/>
          <p:cNvSpPr/>
          <p:nvPr/>
        </p:nvSpPr>
        <p:spPr>
          <a:xfrm>
            <a:off x="2331720" y="4983480"/>
            <a:ext cx="96628" cy="219456"/>
          </a:xfrm>
          <a:prstGeom prst="rect">
            <a:avLst/>
          </a:prstGeom>
          <a:solidFill>
            <a:srgbClr val="1A9C74"/>
          </a:solidFill>
          <a:ln/>
        </p:spPr>
      </p:sp>
      <p:sp>
        <p:nvSpPr>
          <p:cNvPr id="32" name="Text 30"/>
          <p:cNvSpPr txBox="1"/>
          <p:nvPr/>
        </p:nvSpPr>
        <p:spPr>
          <a:xfrm>
            <a:off x="548640" y="4965192"/>
            <a:ext cx="1691640" cy="256032"/>
          </a:xfrm>
          <a:prstGeom prst="rect">
            <a:avLst/>
          </a:prstGeom>
          <a:noFill/>
          <a:ln/>
        </p:spPr>
        <p:txBody>
          <a:bodyPr wrap="square" lIns="0" tIns="0" rIns="0" bIns="0" rtlCol="0" anchor="ctr"/>
          <a:lstStyle/>
          <a:p>
            <a:pPr algn="r" indent="0" marL="0">
              <a:buNone/>
            </a:pPr>
            <a:r>
              <a:rPr lang="en-US" sz="1000" dirty="0">
                <a:solidFill>
                  <a:srgbClr val="1F2430"/>
                </a:solidFill>
                <a:latin typeface="Calibri" pitchFamily="34" charset="0"/>
                <a:ea typeface="Calibri" pitchFamily="34" charset="-122"/>
                <a:cs typeface="Calibri" pitchFamily="34" charset="-120"/>
              </a:rPr>
              <a:t>DaftarJudulView.js</a:t>
            </a:r>
            <a:endParaRPr lang="en-US" sz="1000" dirty="0"/>
          </a:p>
        </p:txBody>
      </p:sp>
      <p:sp>
        <p:nvSpPr>
          <p:cNvPr id="33" name="Text 31"/>
          <p:cNvSpPr txBox="1"/>
          <p:nvPr/>
        </p:nvSpPr>
        <p:spPr>
          <a:xfrm>
            <a:off x="2501500" y="4965192"/>
            <a:ext cx="914400" cy="256032"/>
          </a:xfrm>
          <a:prstGeom prst="rect">
            <a:avLst/>
          </a:prstGeom>
          <a:noFill/>
          <a:ln/>
        </p:spPr>
        <p:txBody>
          <a:bodyPr wrap="square" lIns="0" tIns="0" rIns="0" bIns="0" rtlCol="0" anchor="ctr"/>
          <a:lstStyle/>
          <a:p>
            <a:pPr indent="0" marL="0">
              <a:buNone/>
            </a:pPr>
            <a:r>
              <a:rPr lang="en-US" sz="1000" dirty="0">
                <a:solidFill>
                  <a:srgbClr val="5E6573"/>
                </a:solidFill>
                <a:latin typeface="Calibri" pitchFamily="34" charset="0"/>
                <a:ea typeface="Calibri" pitchFamily="34" charset="-122"/>
                <a:cs typeface="Calibri" pitchFamily="34" charset="-120"/>
              </a:rPr>
              <a:t>5,6 KB</a:t>
            </a:r>
            <a:endParaRPr lang="en-US" sz="1000" dirty="0"/>
          </a:p>
        </p:txBody>
      </p:sp>
      <p:sp>
        <p:nvSpPr>
          <p:cNvPr id="34" name="Shape 32"/>
          <p:cNvSpPr/>
          <p:nvPr/>
        </p:nvSpPr>
        <p:spPr>
          <a:xfrm>
            <a:off x="2331720" y="5266944"/>
            <a:ext cx="87294" cy="219456"/>
          </a:xfrm>
          <a:prstGeom prst="rect">
            <a:avLst/>
          </a:prstGeom>
          <a:solidFill>
            <a:srgbClr val="B8BDC7"/>
          </a:solidFill>
          <a:ln/>
        </p:spPr>
      </p:sp>
      <p:sp>
        <p:nvSpPr>
          <p:cNvPr id="35" name="Text 33"/>
          <p:cNvSpPr txBox="1"/>
          <p:nvPr/>
        </p:nvSpPr>
        <p:spPr>
          <a:xfrm>
            <a:off x="548640" y="5248656"/>
            <a:ext cx="1691640" cy="256032"/>
          </a:xfrm>
          <a:prstGeom prst="rect">
            <a:avLst/>
          </a:prstGeom>
          <a:noFill/>
          <a:ln/>
        </p:spPr>
        <p:txBody>
          <a:bodyPr wrap="square" lIns="0" tIns="0" rIns="0" bIns="0" rtlCol="0" anchor="ctr"/>
          <a:lstStyle/>
          <a:p>
            <a:pPr algn="r" indent="0" marL="0">
              <a:buNone/>
            </a:pPr>
            <a:r>
              <a:rPr lang="en-US" sz="1000" dirty="0">
                <a:solidFill>
                  <a:srgbClr val="1F2430"/>
                </a:solidFill>
                <a:latin typeface="Calibri" pitchFamily="34" charset="0"/>
                <a:ea typeface="Calibri" pitchFamily="34" charset="-122"/>
                <a:cs typeface="Calibri" pitchFamily="34" charset="-120"/>
              </a:rPr>
              <a:t>PengaturanView.js</a:t>
            </a:r>
            <a:endParaRPr lang="en-US" sz="1000" dirty="0"/>
          </a:p>
        </p:txBody>
      </p:sp>
      <p:sp>
        <p:nvSpPr>
          <p:cNvPr id="36" name="Text 34"/>
          <p:cNvSpPr txBox="1"/>
          <p:nvPr/>
        </p:nvSpPr>
        <p:spPr>
          <a:xfrm>
            <a:off x="2492166" y="5248656"/>
            <a:ext cx="914400" cy="256032"/>
          </a:xfrm>
          <a:prstGeom prst="rect">
            <a:avLst/>
          </a:prstGeom>
          <a:noFill/>
          <a:ln/>
        </p:spPr>
        <p:txBody>
          <a:bodyPr wrap="square" lIns="0" tIns="0" rIns="0" bIns="0" rtlCol="0" anchor="ctr"/>
          <a:lstStyle/>
          <a:p>
            <a:pPr indent="0" marL="0">
              <a:buNone/>
            </a:pPr>
            <a:r>
              <a:rPr lang="en-US" sz="1000" dirty="0">
                <a:solidFill>
                  <a:srgbClr val="5E6573"/>
                </a:solidFill>
                <a:latin typeface="Calibri" pitchFamily="34" charset="0"/>
                <a:ea typeface="Calibri" pitchFamily="34" charset="-122"/>
                <a:cs typeface="Calibri" pitchFamily="34" charset="-120"/>
              </a:rPr>
              <a:t>5,0 KB</a:t>
            </a:r>
            <a:endParaRPr lang="en-US" sz="1000" dirty="0"/>
          </a:p>
        </p:txBody>
      </p:sp>
      <p:sp>
        <p:nvSpPr>
          <p:cNvPr id="37" name="Shape 35"/>
          <p:cNvSpPr/>
          <p:nvPr/>
        </p:nvSpPr>
        <p:spPr>
          <a:xfrm>
            <a:off x="7543800" y="1645920"/>
            <a:ext cx="4099255" cy="2377440"/>
          </a:xfrm>
          <a:prstGeom prst="roundRect">
            <a:avLst>
              <a:gd name="adj" fmla="val 3077"/>
            </a:avLst>
          </a:prstGeom>
          <a:solidFill>
            <a:srgbClr val="1E2330"/>
          </a:solidFill>
          <a:ln/>
        </p:spPr>
      </p:sp>
      <p:sp>
        <p:nvSpPr>
          <p:cNvPr id="38" name="Text 36"/>
          <p:cNvSpPr txBox="1"/>
          <p:nvPr/>
        </p:nvSpPr>
        <p:spPr>
          <a:xfrm>
            <a:off x="7772400" y="1810512"/>
            <a:ext cx="3642055" cy="228600"/>
          </a:xfrm>
          <a:prstGeom prst="rect">
            <a:avLst/>
          </a:prstGeom>
          <a:noFill/>
          <a:ln/>
        </p:spPr>
        <p:txBody>
          <a:bodyPr wrap="square" lIns="0" tIns="0" rIns="0" bIns="0" rtlCol="0" anchor="t"/>
          <a:lstStyle/>
          <a:p>
            <a:pPr indent="0" marL="0">
              <a:buNone/>
            </a:pPr>
            <a:r>
              <a:rPr lang="en-US" sz="950" b="1" spc="150" kern="0" dirty="0">
                <a:solidFill>
                  <a:srgbClr val="8A93A3"/>
                </a:solidFill>
                <a:latin typeface="Calibri" pitchFamily="34" charset="0"/>
                <a:ea typeface="Calibri" pitchFamily="34" charset="-122"/>
                <a:cs typeface="Calibri" pitchFamily="34" charset="-120"/>
              </a:rPr>
              <a:t>KONFIGURASI</a:t>
            </a:r>
            <a:endParaRPr lang="en-US" sz="950" dirty="0"/>
          </a:p>
        </p:txBody>
      </p:sp>
      <p:sp>
        <p:nvSpPr>
          <p:cNvPr id="39" name="Text 37"/>
          <p:cNvSpPr txBox="1"/>
          <p:nvPr/>
        </p:nvSpPr>
        <p:spPr>
          <a:xfrm>
            <a:off x="7772400" y="2103120"/>
            <a:ext cx="3642055" cy="1783080"/>
          </a:xfrm>
          <a:prstGeom prst="rect">
            <a:avLst/>
          </a:prstGeom>
          <a:noFill/>
          <a:ln/>
        </p:spPr>
        <p:txBody>
          <a:bodyPr wrap="square" lIns="0" tIns="0" rIns="0" bIns="0" rtlCol="0" anchor="t"/>
          <a:lstStyle/>
          <a:p>
            <a:pPr indent="0" marL="0">
              <a:lnSpc>
                <a:spcPct val="105000"/>
              </a:lnSpc>
              <a:buNone/>
            </a:pPr>
            <a:r>
              <a:rPr lang="en-US" sz="1100" dirty="0">
                <a:solidFill>
                  <a:srgbClr val="8A93A3"/>
                </a:solidFill>
                <a:latin typeface="Consolas" pitchFamily="34" charset="0"/>
                <a:ea typeface="Consolas" pitchFamily="34" charset="-122"/>
                <a:cs typeface="Consolas" pitchFamily="34" charset="-120"/>
              </a:rPr>
              <a:t>// vite.config.optimized.js</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manualChunks(id) {</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if (id.includes(</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'node_modules/chart.js'</a:t>
            </a:r>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return </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'vendor-chart'</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if (id.includes(</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'node_modules/vue'</a:t>
            </a:r>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id.includes(</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'node_modules/pinia'</a:t>
            </a:r>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return </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'vendor-vue'</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8A93A3"/>
                </a:solidFill>
                <a:latin typeface="Consolas" pitchFamily="34" charset="0"/>
                <a:ea typeface="Consolas" pitchFamily="34" charset="-122"/>
                <a:cs typeface="Consolas" pitchFamily="34" charset="-120"/>
              </a:rPr>
              <a:t>// + compressAssets(): .gz dan .br per chunk</a:t>
            </a:r>
            <a:endParaRPr lang="en-US" sz="1100" dirty="0"/>
          </a:p>
        </p:txBody>
      </p:sp>
      <p:sp>
        <p:nvSpPr>
          <p:cNvPr id="40" name="Shape 38"/>
          <p:cNvSpPr/>
          <p:nvPr/>
        </p:nvSpPr>
        <p:spPr>
          <a:xfrm>
            <a:off x="7543800" y="4297680"/>
            <a:ext cx="310896" cy="310896"/>
          </a:xfrm>
          <a:prstGeom prst="ellipse">
            <a:avLst/>
          </a:prstGeom>
          <a:solidFill>
            <a:srgbClr val="9B1B30"/>
          </a:solidFill>
          <a:ln/>
        </p:spPr>
      </p:sp>
      <p:sp>
        <p:nvSpPr>
          <p:cNvPr id="41" name="Text 39"/>
          <p:cNvSpPr txBox="1"/>
          <p:nvPr/>
        </p:nvSpPr>
        <p:spPr>
          <a:xfrm>
            <a:off x="7543800" y="4297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2" name="Text 40"/>
          <p:cNvSpPr txBox="1"/>
          <p:nvPr/>
        </p:nvSpPr>
        <p:spPr>
          <a:xfrm>
            <a:off x="7973568" y="4279392"/>
            <a:ext cx="3669487" cy="347472"/>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Rollup menyusun graf modul dari seluruh import</a:t>
            </a:r>
            <a:endParaRPr lang="en-US" sz="1200" dirty="0"/>
          </a:p>
        </p:txBody>
      </p:sp>
      <p:sp>
        <p:nvSpPr>
          <p:cNvPr id="43" name="Shape 41"/>
          <p:cNvSpPr/>
          <p:nvPr/>
        </p:nvSpPr>
        <p:spPr>
          <a:xfrm>
            <a:off x="7543800" y="4773168"/>
            <a:ext cx="310896" cy="310896"/>
          </a:xfrm>
          <a:prstGeom prst="ellipse">
            <a:avLst/>
          </a:prstGeom>
          <a:solidFill>
            <a:srgbClr val="9B1B30"/>
          </a:solidFill>
          <a:ln/>
        </p:spPr>
      </p:sp>
      <p:sp>
        <p:nvSpPr>
          <p:cNvPr id="44" name="Text 42"/>
          <p:cNvSpPr txBox="1"/>
          <p:nvPr/>
        </p:nvSpPr>
        <p:spPr>
          <a:xfrm>
            <a:off x="7543800" y="47731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5" name="Text 43"/>
          <p:cNvSpPr txBox="1"/>
          <p:nvPr/>
        </p:nvSpPr>
        <p:spPr>
          <a:xfrm>
            <a:off x="7973568" y="4754880"/>
            <a:ext cx="3669487" cy="347472"/>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manualChunks memisahkan pustaka pihak ketiga</a:t>
            </a:r>
            <a:endParaRPr lang="en-US" sz="1200" dirty="0"/>
          </a:p>
        </p:txBody>
      </p:sp>
      <p:sp>
        <p:nvSpPr>
          <p:cNvPr id="46" name="Shape 44"/>
          <p:cNvSpPr/>
          <p:nvPr/>
        </p:nvSpPr>
        <p:spPr>
          <a:xfrm>
            <a:off x="7543800" y="5248656"/>
            <a:ext cx="310896" cy="310896"/>
          </a:xfrm>
          <a:prstGeom prst="ellipse">
            <a:avLst/>
          </a:prstGeom>
          <a:solidFill>
            <a:srgbClr val="9B1B30"/>
          </a:solidFill>
          <a:ln/>
        </p:spPr>
      </p:sp>
      <p:sp>
        <p:nvSpPr>
          <p:cNvPr id="47" name="Text 45"/>
          <p:cNvSpPr txBox="1"/>
          <p:nvPr/>
        </p:nvSpPr>
        <p:spPr>
          <a:xfrm>
            <a:off x="7543800" y="52486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8" name="Text 46"/>
          <p:cNvSpPr txBox="1"/>
          <p:nvPr/>
        </p:nvSpPr>
        <p:spPr>
          <a:xfrm>
            <a:off x="7973568" y="5230368"/>
            <a:ext cx="3669487" cy="347472"/>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Setiap import() rute menjadi chunk sendiri</a:t>
            </a:r>
            <a:endParaRPr lang="en-US" sz="1200" dirty="0"/>
          </a:p>
        </p:txBody>
      </p:sp>
      <p:sp>
        <p:nvSpPr>
          <p:cNvPr id="49" name="Shape 47"/>
          <p:cNvSpPr/>
          <p:nvPr/>
        </p:nvSpPr>
        <p:spPr>
          <a:xfrm>
            <a:off x="7543800" y="5724144"/>
            <a:ext cx="310896" cy="310896"/>
          </a:xfrm>
          <a:prstGeom prst="ellipse">
            <a:avLst/>
          </a:prstGeom>
          <a:solidFill>
            <a:srgbClr val="9B1B30"/>
          </a:solidFill>
          <a:ln/>
        </p:spPr>
      </p:sp>
      <p:sp>
        <p:nvSpPr>
          <p:cNvPr id="50" name="Text 48"/>
          <p:cNvSpPr txBox="1"/>
          <p:nvPr/>
        </p:nvSpPr>
        <p:spPr>
          <a:xfrm>
            <a:off x="7543800" y="57241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1" name="Text 49"/>
          <p:cNvSpPr txBox="1"/>
          <p:nvPr/>
        </p:nvSpPr>
        <p:spPr>
          <a:xfrm>
            <a:off x="7973568" y="5705856"/>
            <a:ext cx="3669487" cy="347472"/>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Tiap chunk dikompresi Gzip dan Brotli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REVISI 2 · MEKANISME LAZY LOADING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Dari import statis ke import() dinamis</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3.2   8</a:t>
            </a:r>
            <a:endParaRPr lang="en-US" sz="900" dirty="0"/>
          </a:p>
        </p:txBody>
      </p:sp>
      <p:sp>
        <p:nvSpPr>
          <p:cNvPr id="6" name="Shape 4"/>
          <p:cNvSpPr/>
          <p:nvPr/>
        </p:nvSpPr>
        <p:spPr>
          <a:xfrm>
            <a:off x="548640" y="1645920"/>
            <a:ext cx="5410048" cy="2011680"/>
          </a:xfrm>
          <a:prstGeom prst="roundRect">
            <a:avLst>
              <a:gd name="adj" fmla="val 3636"/>
            </a:avLst>
          </a:prstGeom>
          <a:solidFill>
            <a:srgbClr val="1E2330"/>
          </a:solidFill>
          <a:ln/>
        </p:spPr>
      </p:sp>
      <p:sp>
        <p:nvSpPr>
          <p:cNvPr id="7" name="Text 5"/>
          <p:cNvSpPr txBox="1"/>
          <p:nvPr/>
        </p:nvSpPr>
        <p:spPr>
          <a:xfrm>
            <a:off x="777240" y="1810512"/>
            <a:ext cx="4952848" cy="228600"/>
          </a:xfrm>
          <a:prstGeom prst="rect">
            <a:avLst/>
          </a:prstGeom>
          <a:noFill/>
          <a:ln/>
        </p:spPr>
        <p:txBody>
          <a:bodyPr wrap="square" lIns="0" tIns="0" rIns="0" bIns="0" rtlCol="0" anchor="t"/>
          <a:lstStyle/>
          <a:p>
            <a:pPr indent="0" marL="0">
              <a:buNone/>
            </a:pPr>
            <a:r>
              <a:rPr lang="en-US" sz="950" b="1" spc="150" kern="0" dirty="0">
                <a:solidFill>
                  <a:srgbClr val="8A93A3"/>
                </a:solidFill>
                <a:latin typeface="Calibri" pitchFamily="34" charset="0"/>
                <a:ea typeface="Calibri" pitchFamily="34" charset="-122"/>
                <a:cs typeface="Calibri" pitchFamily="34" charset="-120"/>
              </a:rPr>
              <a:t>BASELINE · SEMUA DIMUAT DI AWAL</a:t>
            </a:r>
            <a:endParaRPr lang="en-US" sz="950" dirty="0"/>
          </a:p>
        </p:txBody>
      </p:sp>
      <p:sp>
        <p:nvSpPr>
          <p:cNvPr id="8" name="Text 6"/>
          <p:cNvSpPr txBox="1"/>
          <p:nvPr/>
        </p:nvSpPr>
        <p:spPr>
          <a:xfrm>
            <a:off x="777240" y="2103120"/>
            <a:ext cx="4952848" cy="1417320"/>
          </a:xfrm>
          <a:prstGeom prst="rect">
            <a:avLst/>
          </a:prstGeom>
          <a:noFill/>
          <a:ln/>
        </p:spPr>
        <p:txBody>
          <a:bodyPr wrap="square" lIns="0" tIns="0" rIns="0" bIns="0" rtlCol="0" anchor="t"/>
          <a:lstStyle/>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import Dashboard from </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'../views/Dashboard.vue'</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import JadwalDosen from </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'../views/JadwalDosen.vue'</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const routes = [</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 path: </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component: Dashboard },</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 path: </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'/jadwal'</a:t>
            </a:r>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component: JadwalDosen }</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a:t>
            </a:r>
            <a:endParaRPr lang="en-US" sz="1100" dirty="0"/>
          </a:p>
        </p:txBody>
      </p:sp>
      <p:sp>
        <p:nvSpPr>
          <p:cNvPr id="9" name="Shape 7"/>
          <p:cNvSpPr/>
          <p:nvPr/>
        </p:nvSpPr>
        <p:spPr>
          <a:xfrm>
            <a:off x="6233008" y="1645920"/>
            <a:ext cx="5410048" cy="2011680"/>
          </a:xfrm>
          <a:prstGeom prst="roundRect">
            <a:avLst>
              <a:gd name="adj" fmla="val 3636"/>
            </a:avLst>
          </a:prstGeom>
          <a:solidFill>
            <a:srgbClr val="1E2330"/>
          </a:solidFill>
          <a:ln/>
        </p:spPr>
      </p:sp>
      <p:sp>
        <p:nvSpPr>
          <p:cNvPr id="10" name="Text 8"/>
          <p:cNvSpPr txBox="1"/>
          <p:nvPr/>
        </p:nvSpPr>
        <p:spPr>
          <a:xfrm>
            <a:off x="6461608" y="1810512"/>
            <a:ext cx="4952848" cy="228600"/>
          </a:xfrm>
          <a:prstGeom prst="rect">
            <a:avLst/>
          </a:prstGeom>
          <a:noFill/>
          <a:ln/>
        </p:spPr>
        <p:txBody>
          <a:bodyPr wrap="square" lIns="0" tIns="0" rIns="0" bIns="0" rtlCol="0" anchor="t"/>
          <a:lstStyle/>
          <a:p>
            <a:pPr indent="0" marL="0">
              <a:buNone/>
            </a:pPr>
            <a:r>
              <a:rPr lang="en-US" sz="950" b="1" spc="150" kern="0" dirty="0">
                <a:solidFill>
                  <a:srgbClr val="8A93A3"/>
                </a:solidFill>
                <a:latin typeface="Calibri" pitchFamily="34" charset="0"/>
                <a:ea typeface="Calibri" pitchFamily="34" charset="-122"/>
                <a:cs typeface="Calibri" pitchFamily="34" charset="-120"/>
              </a:rPr>
              <a:t>OPTIMIZED · DIMUAT SAAT DIBUTUHKAN</a:t>
            </a:r>
            <a:endParaRPr lang="en-US" sz="950" dirty="0"/>
          </a:p>
        </p:txBody>
      </p:sp>
      <p:sp>
        <p:nvSpPr>
          <p:cNvPr id="11" name="Text 9"/>
          <p:cNvSpPr txBox="1"/>
          <p:nvPr/>
        </p:nvSpPr>
        <p:spPr>
          <a:xfrm>
            <a:off x="6461608" y="2103120"/>
            <a:ext cx="4952848" cy="1417320"/>
          </a:xfrm>
          <a:prstGeom prst="rect">
            <a:avLst/>
          </a:prstGeom>
          <a:noFill/>
          <a:ln/>
        </p:spPr>
        <p:txBody>
          <a:bodyPr wrap="square" lIns="0" tIns="0" rIns="0" bIns="0" rtlCol="0" anchor="t"/>
          <a:lstStyle/>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const routes = [</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 path: </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component: () =&gt; import(</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'../views/Dashboard.vue'</a:t>
            </a:r>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 path: </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'/jadwal'</a:t>
            </a:r>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component: () =&gt; import(</a:t>
            </a:r>
            <a:pPr indent="0" marL="0">
              <a:lnSpc>
                <a:spcPct val="105000"/>
              </a:lnSpc>
              <a:buNone/>
            </a:pPr>
            <a:r>
              <a:rPr lang="en-US" sz="1100" dirty="0">
                <a:solidFill>
                  <a:srgbClr val="E9B949"/>
                </a:solidFill>
                <a:latin typeface="Consolas" pitchFamily="34" charset="0"/>
                <a:ea typeface="Consolas" pitchFamily="34" charset="-122"/>
                <a:cs typeface="Consolas" pitchFamily="34" charset="-120"/>
              </a:rPr>
              <a:t>'../views/JadwalDosen.vue'</a:t>
            </a:r>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D7DAE0"/>
                </a:solidFill>
                <a:latin typeface="Consolas" pitchFamily="34" charset="0"/>
                <a:ea typeface="Consolas" pitchFamily="34" charset="-122"/>
                <a:cs typeface="Consolas" pitchFamily="34" charset="-120"/>
              </a:rPr>
              <a:t>]</a:t>
            </a:r>
            <a:endParaRPr lang="en-US" sz="1100" dirty="0"/>
          </a:p>
        </p:txBody>
      </p:sp>
      <p:sp>
        <p:nvSpPr>
          <p:cNvPr id="12" name="Text 10"/>
          <p:cNvSpPr txBox="1"/>
          <p:nvPr/>
        </p:nvSpPr>
        <p:spPr>
          <a:xfrm>
            <a:off x="548640" y="3931920"/>
            <a:ext cx="7315200" cy="228600"/>
          </a:xfrm>
          <a:prstGeom prst="rect">
            <a:avLst/>
          </a:prstGeom>
          <a:noFill/>
          <a:ln/>
        </p:spPr>
        <p:txBody>
          <a:bodyPr wrap="square" lIns="0" tIns="0" rIns="0" bIns="0" rtlCol="0" anchor="t"/>
          <a:lstStyle/>
          <a:p>
            <a:pPr indent="0" marL="0">
              <a:buNone/>
            </a:pPr>
            <a:r>
              <a:rPr lang="en-US" sz="1000" b="1" spc="150" kern="0" dirty="0">
                <a:solidFill>
                  <a:srgbClr val="5E6573"/>
                </a:solidFill>
                <a:latin typeface="Calibri" pitchFamily="34" charset="0"/>
                <a:ea typeface="Calibri" pitchFamily="34" charset="-122"/>
                <a:cs typeface="Calibri" pitchFamily="34" charset="-120"/>
              </a:rPr>
              <a:t>APA YANG TERJADI SAAT PENGGUNA MEMBUKA MENU BARU</a:t>
            </a:r>
            <a:endParaRPr lang="en-US" sz="1000" dirty="0"/>
          </a:p>
        </p:txBody>
      </p:sp>
      <p:sp>
        <p:nvSpPr>
          <p:cNvPr id="13" name="Shape 11"/>
          <p:cNvSpPr/>
          <p:nvPr/>
        </p:nvSpPr>
        <p:spPr>
          <a:xfrm>
            <a:off x="548640" y="4251960"/>
            <a:ext cx="1947672" cy="1188720"/>
          </a:xfrm>
          <a:prstGeom prst="roundRect">
            <a:avLst>
              <a:gd name="adj" fmla="val 4615"/>
            </a:avLst>
          </a:prstGeom>
          <a:solidFill>
            <a:srgbClr val="F3F4F7"/>
          </a:solidFill>
          <a:ln/>
        </p:spPr>
      </p:sp>
      <p:sp>
        <p:nvSpPr>
          <p:cNvPr id="14" name="Text 12"/>
          <p:cNvSpPr txBox="1"/>
          <p:nvPr/>
        </p:nvSpPr>
        <p:spPr>
          <a:xfrm>
            <a:off x="713232" y="4389120"/>
            <a:ext cx="1618488" cy="320040"/>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Klik menu</a:t>
            </a:r>
            <a:endParaRPr lang="en-US" sz="1400" dirty="0"/>
          </a:p>
        </p:txBody>
      </p:sp>
      <p:sp>
        <p:nvSpPr>
          <p:cNvPr id="15" name="Text 13"/>
          <p:cNvSpPr txBox="1"/>
          <p:nvPr/>
        </p:nvSpPr>
        <p:spPr>
          <a:xfrm>
            <a:off x="713232" y="4736592"/>
            <a:ext cx="1618488" cy="640080"/>
          </a:xfrm>
          <a:prstGeom prst="rect">
            <a:avLst/>
          </a:prstGeom>
          <a:noFill/>
          <a:ln/>
        </p:spPr>
        <p:txBody>
          <a:bodyPr wrap="square" lIns="0" tIns="0" rIns="0" bIns="0" rtlCol="0" anchor="t"/>
          <a:lstStyle/>
          <a:p>
            <a:pPr indent="0" marL="0">
              <a:buNone/>
            </a:pPr>
            <a:r>
              <a:rPr lang="en-US" sz="1150" dirty="0">
                <a:solidFill>
                  <a:srgbClr val="1F2430"/>
                </a:solidFill>
                <a:latin typeface="Calibri" pitchFamily="34" charset="0"/>
                <a:ea typeface="Calibri" pitchFamily="34" charset="-122"/>
                <a:cs typeface="Calibri" pitchFamily="34" charset="-120"/>
              </a:rPr>
              <a:t>Pengguna membuka Jadwal Seminar</a:t>
            </a:r>
            <a:endParaRPr lang="en-US" sz="1150" dirty="0"/>
          </a:p>
        </p:txBody>
      </p:sp>
      <p:sp>
        <p:nvSpPr>
          <p:cNvPr id="16" name="Shape 14"/>
          <p:cNvSpPr/>
          <p:nvPr/>
        </p:nvSpPr>
        <p:spPr>
          <a:xfrm>
            <a:off x="2542032" y="4846320"/>
            <a:ext cx="246888" cy="91"/>
          </a:xfrm>
          <a:prstGeom prst="line">
            <a:avLst/>
          </a:prstGeom>
          <a:noFill/>
          <a:ln w="19050">
            <a:solidFill>
              <a:srgbClr val="5E6573"/>
            </a:solidFill>
            <a:prstDash val="solid"/>
            <a:tailEnd type="triangle"/>
          </a:ln>
        </p:spPr>
      </p:sp>
      <p:sp>
        <p:nvSpPr>
          <p:cNvPr id="17" name="Shape 15"/>
          <p:cNvSpPr/>
          <p:nvPr/>
        </p:nvSpPr>
        <p:spPr>
          <a:xfrm>
            <a:off x="2834640" y="4251960"/>
            <a:ext cx="1947672" cy="1188720"/>
          </a:xfrm>
          <a:prstGeom prst="roundRect">
            <a:avLst>
              <a:gd name="adj" fmla="val 4615"/>
            </a:avLst>
          </a:prstGeom>
          <a:solidFill>
            <a:srgbClr val="F3F4F7"/>
          </a:solidFill>
          <a:ln/>
        </p:spPr>
      </p:sp>
      <p:sp>
        <p:nvSpPr>
          <p:cNvPr id="18" name="Text 16"/>
          <p:cNvSpPr txBox="1"/>
          <p:nvPr/>
        </p:nvSpPr>
        <p:spPr>
          <a:xfrm>
            <a:off x="2999232" y="4389120"/>
            <a:ext cx="1618488" cy="320040"/>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Router</a:t>
            </a:r>
            <a:endParaRPr lang="en-US" sz="1400" dirty="0"/>
          </a:p>
        </p:txBody>
      </p:sp>
      <p:sp>
        <p:nvSpPr>
          <p:cNvPr id="19" name="Text 17"/>
          <p:cNvSpPr txBox="1"/>
          <p:nvPr/>
        </p:nvSpPr>
        <p:spPr>
          <a:xfrm>
            <a:off x="2999232" y="4736592"/>
            <a:ext cx="1618488" cy="640080"/>
          </a:xfrm>
          <a:prstGeom prst="rect">
            <a:avLst/>
          </a:prstGeom>
          <a:noFill/>
          <a:ln/>
        </p:spPr>
        <p:txBody>
          <a:bodyPr wrap="square" lIns="0" tIns="0" rIns="0" bIns="0" rtlCol="0" anchor="t"/>
          <a:lstStyle/>
          <a:p>
            <a:pPr indent="0" marL="0">
              <a:buNone/>
            </a:pPr>
            <a:r>
              <a:rPr lang="en-US" sz="1150" dirty="0">
                <a:solidFill>
                  <a:srgbClr val="1F2430"/>
                </a:solidFill>
                <a:latin typeface="Calibri" pitchFamily="34" charset="0"/>
                <a:ea typeface="Calibri" pitchFamily="34" charset="-122"/>
                <a:cs typeface="Calibri" pitchFamily="34" charset="-120"/>
              </a:rPr>
              <a:t>menjalankan import() milik rute tersebut</a:t>
            </a:r>
            <a:endParaRPr lang="en-US" sz="1150" dirty="0"/>
          </a:p>
        </p:txBody>
      </p:sp>
      <p:sp>
        <p:nvSpPr>
          <p:cNvPr id="20" name="Shape 18"/>
          <p:cNvSpPr/>
          <p:nvPr/>
        </p:nvSpPr>
        <p:spPr>
          <a:xfrm>
            <a:off x="4828032" y="4846320"/>
            <a:ext cx="246888" cy="91"/>
          </a:xfrm>
          <a:prstGeom prst="line">
            <a:avLst/>
          </a:prstGeom>
          <a:noFill/>
          <a:ln w="19050">
            <a:solidFill>
              <a:srgbClr val="5E6573"/>
            </a:solidFill>
            <a:prstDash val="solid"/>
            <a:tailEnd type="triangle"/>
          </a:ln>
        </p:spPr>
      </p:sp>
      <p:sp>
        <p:nvSpPr>
          <p:cNvPr id="21" name="Shape 19"/>
          <p:cNvSpPr/>
          <p:nvPr/>
        </p:nvSpPr>
        <p:spPr>
          <a:xfrm>
            <a:off x="5120640" y="4251960"/>
            <a:ext cx="1947672" cy="1188720"/>
          </a:xfrm>
          <a:prstGeom prst="roundRect">
            <a:avLst>
              <a:gd name="adj" fmla="val 4615"/>
            </a:avLst>
          </a:prstGeom>
          <a:solidFill>
            <a:srgbClr val="FBEDE5"/>
          </a:solidFill>
          <a:ln/>
        </p:spPr>
      </p:sp>
      <p:sp>
        <p:nvSpPr>
          <p:cNvPr id="22" name="Text 20"/>
          <p:cNvSpPr txBox="1"/>
          <p:nvPr/>
        </p:nvSpPr>
        <p:spPr>
          <a:xfrm>
            <a:off x="5285232" y="4389120"/>
            <a:ext cx="1618488" cy="320040"/>
          </a:xfrm>
          <a:prstGeom prst="rect">
            <a:avLst/>
          </a:prstGeom>
          <a:noFill/>
          <a:ln/>
        </p:spPr>
        <p:txBody>
          <a:bodyPr wrap="square" lIns="0" tIns="0" rIns="0" bIns="0" rtlCol="0" anchor="t"/>
          <a:lstStyle/>
          <a:p>
            <a:pPr indent="0" marL="0">
              <a:buNone/>
            </a:pPr>
            <a:r>
              <a:rPr lang="en-US" sz="1400" b="1" dirty="0">
                <a:solidFill>
                  <a:srgbClr val="D9622B"/>
                </a:solidFill>
                <a:latin typeface="Calibri" pitchFamily="34" charset="0"/>
                <a:ea typeface="Calibri" pitchFamily="34" charset="-122"/>
                <a:cs typeface="Calibri" pitchFamily="34" charset="-120"/>
              </a:rPr>
              <a:t>Unduh</a:t>
            </a:r>
            <a:endParaRPr lang="en-US" sz="1400" dirty="0"/>
          </a:p>
        </p:txBody>
      </p:sp>
      <p:sp>
        <p:nvSpPr>
          <p:cNvPr id="23" name="Text 21"/>
          <p:cNvSpPr txBox="1"/>
          <p:nvPr/>
        </p:nvSpPr>
        <p:spPr>
          <a:xfrm>
            <a:off x="5285232" y="4736592"/>
            <a:ext cx="1618488" cy="640080"/>
          </a:xfrm>
          <a:prstGeom prst="rect">
            <a:avLst/>
          </a:prstGeom>
          <a:noFill/>
          <a:ln/>
        </p:spPr>
        <p:txBody>
          <a:bodyPr wrap="square" lIns="0" tIns="0" rIns="0" bIns="0" rtlCol="0" anchor="t"/>
          <a:lstStyle/>
          <a:p>
            <a:pPr indent="0" marL="0">
              <a:buNone/>
            </a:pPr>
            <a:r>
              <a:rPr lang="en-US" sz="1150" dirty="0">
                <a:solidFill>
                  <a:srgbClr val="1F2430"/>
                </a:solidFill>
                <a:latin typeface="Calibri" pitchFamily="34" charset="0"/>
                <a:ea typeface="Calibri" pitchFamily="34" charset="-122"/>
                <a:cs typeface="Calibri" pitchFamily="34" charset="-120"/>
              </a:rPr>
              <a:t>JadwalSeminarView.js, 2,5 KB (gzip)</a:t>
            </a:r>
            <a:endParaRPr lang="en-US" sz="1150" dirty="0"/>
          </a:p>
        </p:txBody>
      </p:sp>
      <p:sp>
        <p:nvSpPr>
          <p:cNvPr id="24" name="Shape 22"/>
          <p:cNvSpPr/>
          <p:nvPr/>
        </p:nvSpPr>
        <p:spPr>
          <a:xfrm>
            <a:off x="7114032" y="4846320"/>
            <a:ext cx="246888" cy="91"/>
          </a:xfrm>
          <a:prstGeom prst="line">
            <a:avLst/>
          </a:prstGeom>
          <a:noFill/>
          <a:ln w="19050">
            <a:solidFill>
              <a:srgbClr val="5E6573"/>
            </a:solidFill>
            <a:prstDash val="solid"/>
            <a:tailEnd type="triangle"/>
          </a:ln>
        </p:spPr>
      </p:sp>
      <p:sp>
        <p:nvSpPr>
          <p:cNvPr id="25" name="Shape 23"/>
          <p:cNvSpPr/>
          <p:nvPr/>
        </p:nvSpPr>
        <p:spPr>
          <a:xfrm>
            <a:off x="7406640" y="4251960"/>
            <a:ext cx="1947672" cy="1188720"/>
          </a:xfrm>
          <a:prstGeom prst="roundRect">
            <a:avLst>
              <a:gd name="adj" fmla="val 4615"/>
            </a:avLst>
          </a:prstGeom>
          <a:solidFill>
            <a:srgbClr val="F3F4F7"/>
          </a:solidFill>
          <a:ln/>
        </p:spPr>
      </p:sp>
      <p:sp>
        <p:nvSpPr>
          <p:cNvPr id="26" name="Text 24"/>
          <p:cNvSpPr txBox="1"/>
          <p:nvPr/>
        </p:nvSpPr>
        <p:spPr>
          <a:xfrm>
            <a:off x="7571232" y="4389120"/>
            <a:ext cx="1618488" cy="320040"/>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Parse + eksekusi</a:t>
            </a:r>
            <a:endParaRPr lang="en-US" sz="1400" dirty="0"/>
          </a:p>
        </p:txBody>
      </p:sp>
      <p:sp>
        <p:nvSpPr>
          <p:cNvPr id="27" name="Text 25"/>
          <p:cNvSpPr txBox="1"/>
          <p:nvPr/>
        </p:nvSpPr>
        <p:spPr>
          <a:xfrm>
            <a:off x="7571232" y="4736592"/>
            <a:ext cx="1618488" cy="640080"/>
          </a:xfrm>
          <a:prstGeom prst="rect">
            <a:avLst/>
          </a:prstGeom>
          <a:noFill/>
          <a:ln/>
        </p:spPr>
        <p:txBody>
          <a:bodyPr wrap="square" lIns="0" tIns="0" rIns="0" bIns="0" rtlCol="0" anchor="t"/>
          <a:lstStyle/>
          <a:p>
            <a:pPr indent="0" marL="0">
              <a:buNone/>
            </a:pPr>
            <a:r>
              <a:rPr lang="en-US" sz="1150" dirty="0">
                <a:solidFill>
                  <a:srgbClr val="1F2430"/>
                </a:solidFill>
                <a:latin typeface="Calibri" pitchFamily="34" charset="0"/>
                <a:ea typeface="Calibri" pitchFamily="34" charset="-122"/>
                <a:cs typeface="Calibri" pitchFamily="34" charset="-120"/>
              </a:rPr>
              <a:t>V8 hanya memproses chunk ini</a:t>
            </a:r>
            <a:endParaRPr lang="en-US" sz="1150" dirty="0"/>
          </a:p>
        </p:txBody>
      </p:sp>
      <p:sp>
        <p:nvSpPr>
          <p:cNvPr id="28" name="Shape 26"/>
          <p:cNvSpPr/>
          <p:nvPr/>
        </p:nvSpPr>
        <p:spPr>
          <a:xfrm>
            <a:off x="9400032" y="4846320"/>
            <a:ext cx="246888" cy="91"/>
          </a:xfrm>
          <a:prstGeom prst="line">
            <a:avLst/>
          </a:prstGeom>
          <a:noFill/>
          <a:ln w="19050">
            <a:solidFill>
              <a:srgbClr val="5E6573"/>
            </a:solidFill>
            <a:prstDash val="solid"/>
            <a:tailEnd type="triangle"/>
          </a:ln>
        </p:spPr>
      </p:sp>
      <p:sp>
        <p:nvSpPr>
          <p:cNvPr id="29" name="Shape 27"/>
          <p:cNvSpPr/>
          <p:nvPr/>
        </p:nvSpPr>
        <p:spPr>
          <a:xfrm>
            <a:off x="9692640" y="4251960"/>
            <a:ext cx="1947672" cy="1188720"/>
          </a:xfrm>
          <a:prstGeom prst="roundRect">
            <a:avLst>
              <a:gd name="adj" fmla="val 4615"/>
            </a:avLst>
          </a:prstGeom>
          <a:solidFill>
            <a:srgbClr val="F3F4F7"/>
          </a:solidFill>
          <a:ln/>
        </p:spPr>
      </p:sp>
      <p:sp>
        <p:nvSpPr>
          <p:cNvPr id="30" name="Text 28"/>
          <p:cNvSpPr txBox="1"/>
          <p:nvPr/>
        </p:nvSpPr>
        <p:spPr>
          <a:xfrm>
            <a:off x="9857232" y="4389120"/>
            <a:ext cx="1618488" cy="320040"/>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Render</a:t>
            </a:r>
            <a:endParaRPr lang="en-US" sz="1400" dirty="0"/>
          </a:p>
        </p:txBody>
      </p:sp>
      <p:sp>
        <p:nvSpPr>
          <p:cNvPr id="31" name="Text 29"/>
          <p:cNvSpPr txBox="1"/>
          <p:nvPr/>
        </p:nvSpPr>
        <p:spPr>
          <a:xfrm>
            <a:off x="9857232" y="4736592"/>
            <a:ext cx="1618488" cy="640080"/>
          </a:xfrm>
          <a:prstGeom prst="rect">
            <a:avLst/>
          </a:prstGeom>
          <a:noFill/>
          <a:ln/>
        </p:spPr>
        <p:txBody>
          <a:bodyPr wrap="square" lIns="0" tIns="0" rIns="0" bIns="0" rtlCol="0" anchor="t"/>
          <a:lstStyle/>
          <a:p>
            <a:pPr indent="0" marL="0">
              <a:buNone/>
            </a:pPr>
            <a:r>
              <a:rPr lang="en-US" sz="1150" dirty="0">
                <a:solidFill>
                  <a:srgbClr val="1F2430"/>
                </a:solidFill>
                <a:latin typeface="Calibri" pitchFamily="34" charset="0"/>
                <a:ea typeface="Calibri" pitchFamily="34" charset="-122"/>
                <a:cs typeface="Calibri" pitchFamily="34" charset="-120"/>
              </a:rPr>
              <a:t>Komponen tampil di layar</a:t>
            </a:r>
            <a:endParaRPr lang="en-US" sz="1150" dirty="0"/>
          </a:p>
        </p:txBody>
      </p:sp>
      <p:sp>
        <p:nvSpPr>
          <p:cNvPr id="32" name="Text 30"/>
          <p:cNvSpPr txBox="1"/>
          <p:nvPr/>
        </p:nvSpPr>
        <p:spPr>
          <a:xfrm>
            <a:off x="548640" y="5669280"/>
            <a:ext cx="11094415" cy="548640"/>
          </a:xfrm>
          <a:prstGeom prst="rect">
            <a:avLst/>
          </a:prstGeom>
          <a:noFill/>
          <a:ln/>
        </p:spPr>
        <p:txBody>
          <a:bodyPr wrap="square" lIns="0" tIns="0" rIns="0" bIns="0" rtlCol="0" anchor="t"/>
          <a:lstStyle/>
          <a:p>
            <a:pPr indent="0" marL="0">
              <a:buNone/>
            </a:pPr>
            <a:r>
              <a:rPr lang="en-US" sz="1300" b="1" dirty="0">
                <a:solidFill>
                  <a:srgbClr val="1F2430"/>
                </a:solidFill>
                <a:latin typeface="Calibri" pitchFamily="34" charset="0"/>
                <a:ea typeface="Calibri" pitchFamily="34" charset="-122"/>
                <a:cs typeface="Calibri" pitchFamily="34" charset="-120"/>
              </a:rPr>
              <a:t>Efeknya: </a:t>
            </a:r>
            <a:pPr indent="0" marL="0">
              <a:buNone/>
            </a:pPr>
            <a:r>
              <a:rPr lang="en-US" sz="1300" dirty="0">
                <a:solidFill>
                  <a:srgbClr val="1F2430"/>
                </a:solidFill>
                <a:latin typeface="Calibri" pitchFamily="34" charset="0"/>
                <a:ea typeface="Calibri" pitchFamily="34" charset="-122"/>
                <a:cs typeface="Calibri" pitchFamily="34" charset="-120"/>
              </a:rPr>
              <a:t>rute yang belum dikunjungi tidak diunduh maupun di-parse, sehingga main thread lebih ringan pada pemuatan awal. Inilah yang menurunkan FCP dan TBT.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REVISI 2 · CONTOH PENERAPAN</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Contoh nyata: setiap menu SIMTA dimuat pada waktu berbeda</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3.1–3.3   9</a:t>
            </a:r>
            <a:endParaRPr lang="en-US" sz="900" dirty="0"/>
          </a:p>
        </p:txBody>
      </p:sp>
      <p:pic>
        <p:nvPicPr>
          <p:cNvPr id="6" name="Image 0" descr="C:/laragon/www/Materi-Presentasi/mustari-pnup/laporan_tesis/chapters/images/bukti_optimized_dashboard.png">    </p:cNvPr>
          <p:cNvPicPr>
            <a:picLocks noChangeAspect="1"/>
          </p:cNvPicPr>
          <p:nvPr/>
        </p:nvPicPr>
        <p:blipFill>
          <a:blip r:embed="rId1"/>
          <a:stretch>
            <a:fillRect/>
          </a:stretch>
        </p:blipFill>
        <p:spPr>
          <a:xfrm>
            <a:off x="548640" y="1691640"/>
            <a:ext cx="5760720" cy="3600450"/>
          </a:xfrm>
          <a:prstGeom prst="rect">
            <a:avLst/>
          </a:prstGeom>
        </p:spPr>
      </p:pic>
      <p:sp>
        <p:nvSpPr>
          <p:cNvPr id="7" name="Text 4"/>
          <p:cNvSpPr txBox="1"/>
          <p:nvPr/>
        </p:nvSpPr>
        <p:spPr>
          <a:xfrm>
            <a:off x="548640" y="5383530"/>
            <a:ext cx="5760720" cy="274320"/>
          </a:xfrm>
          <a:prstGeom prst="rect">
            <a:avLst/>
          </a:prstGeom>
          <a:noFill/>
          <a:ln/>
        </p:spPr>
        <p:txBody>
          <a:bodyPr wrap="square" lIns="0" tIns="0" rIns="0" bIns="0" rtlCol="0" anchor="t"/>
          <a:lstStyle/>
          <a:p>
            <a:pPr indent="0" marL="0">
              <a:buNone/>
            </a:pPr>
            <a:r>
              <a:rPr lang="en-US" sz="1000" i="1" dirty="0">
                <a:solidFill>
                  <a:srgbClr val="5E6573"/>
                </a:solidFill>
                <a:latin typeface="Calibri" pitchFamily="34" charset="0"/>
                <a:ea typeface="Calibri" pitchFamily="34" charset="-122"/>
                <a:cs typeface="Calibri" pitchFamily="34" charset="-120"/>
              </a:rPr>
              <a:t>Tampilan SIMTA versi optimized (identik dengan baseline, Gambar 3.2–3.3)</a:t>
            </a:r>
            <a:endParaRPr lang="en-US" sz="1000" dirty="0"/>
          </a:p>
        </p:txBody>
      </p:sp>
      <p:sp>
        <p:nvSpPr>
          <p:cNvPr id="8" name="Text 5"/>
          <p:cNvSpPr txBox="1"/>
          <p:nvPr/>
        </p:nvSpPr>
        <p:spPr>
          <a:xfrm>
            <a:off x="6949440" y="1691640"/>
            <a:ext cx="1828800" cy="228600"/>
          </a:xfrm>
          <a:prstGeom prst="rect">
            <a:avLst/>
          </a:prstGeom>
          <a:noFill/>
          <a:ln/>
        </p:spPr>
        <p:txBody>
          <a:bodyPr wrap="square" lIns="0" tIns="0" rIns="0" bIns="0" rtlCol="0" anchor="t"/>
          <a:lstStyle/>
          <a:p>
            <a:pPr indent="0" marL="0">
              <a:buNone/>
            </a:pPr>
            <a:r>
              <a:rPr lang="en-US" sz="1000" b="1" spc="150" kern="0" dirty="0">
                <a:solidFill>
                  <a:srgbClr val="5E6573"/>
                </a:solidFill>
                <a:latin typeface="Calibri" pitchFamily="34" charset="0"/>
                <a:ea typeface="Calibri" pitchFamily="34" charset="-122"/>
                <a:cs typeface="Calibri" pitchFamily="34" charset="-120"/>
              </a:rPr>
              <a:t>MENU</a:t>
            </a:r>
            <a:endParaRPr lang="en-US" sz="1000" dirty="0"/>
          </a:p>
        </p:txBody>
      </p:sp>
      <p:sp>
        <p:nvSpPr>
          <p:cNvPr id="9" name="Text 6"/>
          <p:cNvSpPr txBox="1"/>
          <p:nvPr/>
        </p:nvSpPr>
        <p:spPr>
          <a:xfrm>
            <a:off x="10042855" y="1691640"/>
            <a:ext cx="1600200" cy="228600"/>
          </a:xfrm>
          <a:prstGeom prst="rect">
            <a:avLst/>
          </a:prstGeom>
          <a:noFill/>
          <a:ln/>
        </p:spPr>
        <p:txBody>
          <a:bodyPr wrap="square" lIns="0" tIns="0" rIns="0" bIns="0" rtlCol="0" anchor="t"/>
          <a:lstStyle/>
          <a:p>
            <a:pPr indent="0" marL="0">
              <a:buNone/>
            </a:pPr>
            <a:r>
              <a:rPr lang="en-US" sz="1000" b="1" spc="150" kern="0" dirty="0">
                <a:solidFill>
                  <a:srgbClr val="5E6573"/>
                </a:solidFill>
                <a:latin typeface="Calibri" pitchFamily="34" charset="0"/>
                <a:ea typeface="Calibri" pitchFamily="34" charset="-122"/>
                <a:cs typeface="Calibri" pitchFamily="34" charset="-120"/>
              </a:rPr>
              <a:t>DIMUAT</a:t>
            </a:r>
            <a:endParaRPr lang="en-US" sz="1000" dirty="0"/>
          </a:p>
        </p:txBody>
      </p:sp>
      <p:sp>
        <p:nvSpPr>
          <p:cNvPr id="10" name="Shape 7"/>
          <p:cNvSpPr/>
          <p:nvPr/>
        </p:nvSpPr>
        <p:spPr>
          <a:xfrm>
            <a:off x="6675120" y="2121408"/>
            <a:ext cx="146304" cy="146304"/>
          </a:xfrm>
          <a:prstGeom prst="ellipse">
            <a:avLst/>
          </a:prstGeom>
          <a:solidFill>
            <a:srgbClr val="D9622B"/>
          </a:solidFill>
          <a:ln/>
        </p:spPr>
      </p:sp>
      <p:sp>
        <p:nvSpPr>
          <p:cNvPr id="11" name="Text 8"/>
          <p:cNvSpPr txBox="1"/>
          <p:nvPr/>
        </p:nvSpPr>
        <p:spPr>
          <a:xfrm>
            <a:off x="6949440" y="2011680"/>
            <a:ext cx="2377440" cy="274320"/>
          </a:xfrm>
          <a:prstGeom prst="rect">
            <a:avLst/>
          </a:prstGeom>
          <a:noFill/>
          <a:ln/>
        </p:spPr>
        <p:txBody>
          <a:bodyPr wrap="square" lIns="0" tIns="0" rIns="0" bIns="0" rtlCol="0" anchor="t"/>
          <a:lstStyle/>
          <a:p>
            <a:pPr indent="0" marL="0">
              <a:buNone/>
            </a:pPr>
            <a:r>
              <a:rPr lang="en-US" sz="1350" b="1" dirty="0">
                <a:solidFill>
                  <a:srgbClr val="1F2430"/>
                </a:solidFill>
                <a:latin typeface="Calibri" pitchFamily="34" charset="0"/>
                <a:ea typeface="Calibri" pitchFamily="34" charset="-122"/>
                <a:cs typeface="Calibri" pitchFamily="34" charset="-120"/>
              </a:rPr>
              <a:t>Dashboard</a:t>
            </a:r>
            <a:endParaRPr lang="en-US" sz="1350" dirty="0"/>
          </a:p>
        </p:txBody>
      </p:sp>
      <p:sp>
        <p:nvSpPr>
          <p:cNvPr id="12" name="Text 9"/>
          <p:cNvSpPr txBox="1"/>
          <p:nvPr/>
        </p:nvSpPr>
        <p:spPr>
          <a:xfrm>
            <a:off x="6949440" y="2286000"/>
            <a:ext cx="3017520" cy="228600"/>
          </a:xfrm>
          <a:prstGeom prst="rect">
            <a:avLst/>
          </a:prstGeom>
          <a:noFill/>
          <a:ln/>
        </p:spPr>
        <p:txBody>
          <a:bodyPr wrap="square" lIns="0" tIns="0" rIns="0" bIns="0" rtlCol="0" anchor="t"/>
          <a:lstStyle/>
          <a:p>
            <a:pPr indent="0" marL="0">
              <a:buNone/>
            </a:pPr>
            <a:r>
              <a:rPr lang="en-US" sz="1050" dirty="0">
                <a:solidFill>
                  <a:srgbClr val="5E6573"/>
                </a:solidFill>
                <a:latin typeface="Consolas" pitchFamily="34" charset="0"/>
                <a:ea typeface="Consolas" pitchFamily="34" charset="-122"/>
                <a:cs typeface="Consolas" pitchFamily="34" charset="-120"/>
              </a:rPr>
              <a:t>DashboardView.js + vendor-chart.js</a:t>
            </a:r>
            <a:endParaRPr lang="en-US" sz="1050" dirty="0"/>
          </a:p>
        </p:txBody>
      </p:sp>
      <p:sp>
        <p:nvSpPr>
          <p:cNvPr id="13" name="Text 10"/>
          <p:cNvSpPr txBox="1"/>
          <p:nvPr/>
        </p:nvSpPr>
        <p:spPr>
          <a:xfrm>
            <a:off x="10042855" y="2011680"/>
            <a:ext cx="1600200" cy="274320"/>
          </a:xfrm>
          <a:prstGeom prst="rect">
            <a:avLst/>
          </a:prstGeom>
          <a:noFill/>
          <a:ln/>
        </p:spPr>
        <p:txBody>
          <a:bodyPr wrap="square" lIns="0" tIns="0" rIns="0" bIns="0" rtlCol="0" anchor="t"/>
          <a:lstStyle/>
          <a:p>
            <a:pPr indent="0" marL="0">
              <a:buNone/>
            </a:pPr>
            <a:r>
              <a:rPr lang="en-US" sz="1200" b="1" dirty="0">
                <a:solidFill>
                  <a:srgbClr val="D9622B"/>
                </a:solidFill>
                <a:latin typeface="Calibri" pitchFamily="34" charset="0"/>
                <a:ea typeface="Calibri" pitchFamily="34" charset="-122"/>
                <a:cs typeface="Calibri" pitchFamily="34" charset="-120"/>
              </a:rPr>
              <a:t>Awal</a:t>
            </a:r>
            <a:endParaRPr lang="en-US" sz="1200" dirty="0"/>
          </a:p>
        </p:txBody>
      </p:sp>
      <p:sp>
        <p:nvSpPr>
          <p:cNvPr id="14" name="Shape 11"/>
          <p:cNvSpPr/>
          <p:nvPr/>
        </p:nvSpPr>
        <p:spPr>
          <a:xfrm>
            <a:off x="6675120" y="2724912"/>
            <a:ext cx="146304" cy="146304"/>
          </a:xfrm>
          <a:prstGeom prst="ellipse">
            <a:avLst/>
          </a:prstGeom>
          <a:solidFill>
            <a:srgbClr val="1A9C74"/>
          </a:solidFill>
          <a:ln/>
        </p:spPr>
      </p:sp>
      <p:sp>
        <p:nvSpPr>
          <p:cNvPr id="15" name="Text 12"/>
          <p:cNvSpPr txBox="1"/>
          <p:nvPr/>
        </p:nvSpPr>
        <p:spPr>
          <a:xfrm>
            <a:off x="6949440" y="2615184"/>
            <a:ext cx="2377440" cy="274320"/>
          </a:xfrm>
          <a:prstGeom prst="rect">
            <a:avLst/>
          </a:prstGeom>
          <a:noFill/>
          <a:ln/>
        </p:spPr>
        <p:txBody>
          <a:bodyPr wrap="square" lIns="0" tIns="0" rIns="0" bIns="0" rtlCol="0" anchor="t"/>
          <a:lstStyle/>
          <a:p>
            <a:pPr indent="0" marL="0">
              <a:buNone/>
            </a:pPr>
            <a:r>
              <a:rPr lang="en-US" sz="1350" b="1" dirty="0">
                <a:solidFill>
                  <a:srgbClr val="1F2430"/>
                </a:solidFill>
                <a:latin typeface="Calibri" pitchFamily="34" charset="0"/>
                <a:ea typeface="Calibri" pitchFamily="34" charset="-122"/>
                <a:cs typeface="Calibri" pitchFamily="34" charset="-120"/>
              </a:rPr>
              <a:t>Daftar Judul</a:t>
            </a:r>
            <a:endParaRPr lang="en-US" sz="1350" dirty="0"/>
          </a:p>
        </p:txBody>
      </p:sp>
      <p:sp>
        <p:nvSpPr>
          <p:cNvPr id="16" name="Text 13"/>
          <p:cNvSpPr txBox="1"/>
          <p:nvPr/>
        </p:nvSpPr>
        <p:spPr>
          <a:xfrm>
            <a:off x="6949440" y="2889504"/>
            <a:ext cx="3017520" cy="228600"/>
          </a:xfrm>
          <a:prstGeom prst="rect">
            <a:avLst/>
          </a:prstGeom>
          <a:noFill/>
          <a:ln/>
        </p:spPr>
        <p:txBody>
          <a:bodyPr wrap="square" lIns="0" tIns="0" rIns="0" bIns="0" rtlCol="0" anchor="t"/>
          <a:lstStyle/>
          <a:p>
            <a:pPr indent="0" marL="0">
              <a:buNone/>
            </a:pPr>
            <a:r>
              <a:rPr lang="en-US" sz="1050" dirty="0">
                <a:solidFill>
                  <a:srgbClr val="5E6573"/>
                </a:solidFill>
                <a:latin typeface="Consolas" pitchFamily="34" charset="0"/>
                <a:ea typeface="Consolas" pitchFamily="34" charset="-122"/>
                <a:cs typeface="Consolas" pitchFamily="34" charset="-120"/>
              </a:rPr>
              <a:t>DaftarJudulView.js</a:t>
            </a:r>
            <a:endParaRPr lang="en-US" sz="1050" dirty="0"/>
          </a:p>
        </p:txBody>
      </p:sp>
      <p:sp>
        <p:nvSpPr>
          <p:cNvPr id="17" name="Text 14"/>
          <p:cNvSpPr txBox="1"/>
          <p:nvPr/>
        </p:nvSpPr>
        <p:spPr>
          <a:xfrm>
            <a:off x="10042855" y="2615184"/>
            <a:ext cx="1600200" cy="274320"/>
          </a:xfrm>
          <a:prstGeom prst="rect">
            <a:avLst/>
          </a:prstGeom>
          <a:noFill/>
          <a:ln/>
        </p:spPr>
        <p:txBody>
          <a:bodyPr wrap="square" lIns="0" tIns="0" rIns="0" bIns="0" rtlCol="0" anchor="t"/>
          <a:lstStyle/>
          <a:p>
            <a:pPr indent="0" marL="0">
              <a:buNone/>
            </a:pPr>
            <a:r>
              <a:rPr lang="en-US" sz="1200" b="1" dirty="0">
                <a:solidFill>
                  <a:srgbClr val="1A9C74"/>
                </a:solidFill>
                <a:latin typeface="Calibri" pitchFamily="34" charset="0"/>
                <a:ea typeface="Calibri" pitchFamily="34" charset="-122"/>
                <a:cs typeface="Calibri" pitchFamily="34" charset="-120"/>
              </a:rPr>
              <a:t>Prefetch saat idle</a:t>
            </a:r>
            <a:endParaRPr lang="en-US" sz="1200" dirty="0"/>
          </a:p>
        </p:txBody>
      </p:sp>
      <p:sp>
        <p:nvSpPr>
          <p:cNvPr id="18" name="Shape 15"/>
          <p:cNvSpPr/>
          <p:nvPr/>
        </p:nvSpPr>
        <p:spPr>
          <a:xfrm>
            <a:off x="6675120" y="3328416"/>
            <a:ext cx="146304" cy="146304"/>
          </a:xfrm>
          <a:prstGeom prst="ellipse">
            <a:avLst/>
          </a:prstGeom>
          <a:solidFill>
            <a:srgbClr val="1A9C74"/>
          </a:solidFill>
          <a:ln/>
        </p:spPr>
      </p:sp>
      <p:sp>
        <p:nvSpPr>
          <p:cNvPr id="19" name="Text 16"/>
          <p:cNvSpPr txBox="1"/>
          <p:nvPr/>
        </p:nvSpPr>
        <p:spPr>
          <a:xfrm>
            <a:off x="6949440" y="3218688"/>
            <a:ext cx="2377440" cy="274320"/>
          </a:xfrm>
          <a:prstGeom prst="rect">
            <a:avLst/>
          </a:prstGeom>
          <a:noFill/>
          <a:ln/>
        </p:spPr>
        <p:txBody>
          <a:bodyPr wrap="square" lIns="0" tIns="0" rIns="0" bIns="0" rtlCol="0" anchor="t"/>
          <a:lstStyle/>
          <a:p>
            <a:pPr indent="0" marL="0">
              <a:buNone/>
            </a:pPr>
            <a:r>
              <a:rPr lang="en-US" sz="1350" b="1" dirty="0">
                <a:solidFill>
                  <a:srgbClr val="1F2430"/>
                </a:solidFill>
                <a:latin typeface="Calibri" pitchFamily="34" charset="0"/>
                <a:ea typeface="Calibri" pitchFamily="34" charset="-122"/>
                <a:cs typeface="Calibri" pitchFamily="34" charset="-120"/>
              </a:rPr>
              <a:t>Detail Bimbingan</a:t>
            </a:r>
            <a:endParaRPr lang="en-US" sz="1350" dirty="0"/>
          </a:p>
        </p:txBody>
      </p:sp>
      <p:sp>
        <p:nvSpPr>
          <p:cNvPr id="20" name="Text 17"/>
          <p:cNvSpPr txBox="1"/>
          <p:nvPr/>
        </p:nvSpPr>
        <p:spPr>
          <a:xfrm>
            <a:off x="6949440" y="3493008"/>
            <a:ext cx="3017520" cy="228600"/>
          </a:xfrm>
          <a:prstGeom prst="rect">
            <a:avLst/>
          </a:prstGeom>
          <a:noFill/>
          <a:ln/>
        </p:spPr>
        <p:txBody>
          <a:bodyPr wrap="square" lIns="0" tIns="0" rIns="0" bIns="0" rtlCol="0" anchor="t"/>
          <a:lstStyle/>
          <a:p>
            <a:pPr indent="0" marL="0">
              <a:buNone/>
            </a:pPr>
            <a:r>
              <a:rPr lang="en-US" sz="1050" dirty="0">
                <a:solidFill>
                  <a:srgbClr val="5E6573"/>
                </a:solidFill>
                <a:latin typeface="Consolas" pitchFamily="34" charset="0"/>
                <a:ea typeface="Consolas" pitchFamily="34" charset="-122"/>
                <a:cs typeface="Consolas" pitchFamily="34" charset="-120"/>
              </a:rPr>
              <a:t>DetailBimbinganView.js</a:t>
            </a:r>
            <a:endParaRPr lang="en-US" sz="1050" dirty="0"/>
          </a:p>
        </p:txBody>
      </p:sp>
      <p:sp>
        <p:nvSpPr>
          <p:cNvPr id="21" name="Text 18"/>
          <p:cNvSpPr txBox="1"/>
          <p:nvPr/>
        </p:nvSpPr>
        <p:spPr>
          <a:xfrm>
            <a:off x="10042855" y="3218688"/>
            <a:ext cx="1600200" cy="274320"/>
          </a:xfrm>
          <a:prstGeom prst="rect">
            <a:avLst/>
          </a:prstGeom>
          <a:noFill/>
          <a:ln/>
        </p:spPr>
        <p:txBody>
          <a:bodyPr wrap="square" lIns="0" tIns="0" rIns="0" bIns="0" rtlCol="0" anchor="t"/>
          <a:lstStyle/>
          <a:p>
            <a:pPr indent="0" marL="0">
              <a:buNone/>
            </a:pPr>
            <a:r>
              <a:rPr lang="en-US" sz="1200" b="1" dirty="0">
                <a:solidFill>
                  <a:srgbClr val="1A9C74"/>
                </a:solidFill>
                <a:latin typeface="Calibri" pitchFamily="34" charset="0"/>
                <a:ea typeface="Calibri" pitchFamily="34" charset="-122"/>
                <a:cs typeface="Calibri" pitchFamily="34" charset="-120"/>
              </a:rPr>
              <a:t>Prefetch saat idle</a:t>
            </a:r>
            <a:endParaRPr lang="en-US" sz="1200" dirty="0"/>
          </a:p>
        </p:txBody>
      </p:sp>
      <p:sp>
        <p:nvSpPr>
          <p:cNvPr id="22" name="Shape 19"/>
          <p:cNvSpPr/>
          <p:nvPr/>
        </p:nvSpPr>
        <p:spPr>
          <a:xfrm>
            <a:off x="6675120" y="3931920"/>
            <a:ext cx="146304" cy="146304"/>
          </a:xfrm>
          <a:prstGeom prst="ellipse">
            <a:avLst/>
          </a:prstGeom>
          <a:solidFill>
            <a:srgbClr val="8C929E"/>
          </a:solidFill>
          <a:ln/>
        </p:spPr>
      </p:sp>
      <p:sp>
        <p:nvSpPr>
          <p:cNvPr id="23" name="Text 20"/>
          <p:cNvSpPr txBox="1"/>
          <p:nvPr/>
        </p:nvSpPr>
        <p:spPr>
          <a:xfrm>
            <a:off x="6949440" y="3822192"/>
            <a:ext cx="2377440" cy="274320"/>
          </a:xfrm>
          <a:prstGeom prst="rect">
            <a:avLst/>
          </a:prstGeom>
          <a:noFill/>
          <a:ln/>
        </p:spPr>
        <p:txBody>
          <a:bodyPr wrap="square" lIns="0" tIns="0" rIns="0" bIns="0" rtlCol="0" anchor="t"/>
          <a:lstStyle/>
          <a:p>
            <a:pPr indent="0" marL="0">
              <a:buNone/>
            </a:pPr>
            <a:r>
              <a:rPr lang="en-US" sz="1350" b="1" dirty="0">
                <a:solidFill>
                  <a:srgbClr val="1F2430"/>
                </a:solidFill>
                <a:latin typeface="Calibri" pitchFamily="34" charset="0"/>
                <a:ea typeface="Calibri" pitchFamily="34" charset="-122"/>
                <a:cs typeface="Calibri" pitchFamily="34" charset="-120"/>
              </a:rPr>
              <a:t>Jadwal Seminar</a:t>
            </a:r>
            <a:endParaRPr lang="en-US" sz="1350" dirty="0"/>
          </a:p>
        </p:txBody>
      </p:sp>
      <p:sp>
        <p:nvSpPr>
          <p:cNvPr id="24" name="Text 21"/>
          <p:cNvSpPr txBox="1"/>
          <p:nvPr/>
        </p:nvSpPr>
        <p:spPr>
          <a:xfrm>
            <a:off x="6949440" y="4096512"/>
            <a:ext cx="3017520" cy="228600"/>
          </a:xfrm>
          <a:prstGeom prst="rect">
            <a:avLst/>
          </a:prstGeom>
          <a:noFill/>
          <a:ln/>
        </p:spPr>
        <p:txBody>
          <a:bodyPr wrap="square" lIns="0" tIns="0" rIns="0" bIns="0" rtlCol="0" anchor="t"/>
          <a:lstStyle/>
          <a:p>
            <a:pPr indent="0" marL="0">
              <a:buNone/>
            </a:pPr>
            <a:r>
              <a:rPr lang="en-US" sz="1050" dirty="0">
                <a:solidFill>
                  <a:srgbClr val="5E6573"/>
                </a:solidFill>
                <a:latin typeface="Consolas" pitchFamily="34" charset="0"/>
                <a:ea typeface="Consolas" pitchFamily="34" charset="-122"/>
                <a:cs typeface="Consolas" pitchFamily="34" charset="-120"/>
              </a:rPr>
              <a:t>JadwalSeminarView.js</a:t>
            </a:r>
            <a:endParaRPr lang="en-US" sz="1050" dirty="0"/>
          </a:p>
        </p:txBody>
      </p:sp>
      <p:sp>
        <p:nvSpPr>
          <p:cNvPr id="25" name="Text 22"/>
          <p:cNvSpPr txBox="1"/>
          <p:nvPr/>
        </p:nvSpPr>
        <p:spPr>
          <a:xfrm>
            <a:off x="10042855" y="3822192"/>
            <a:ext cx="1600200" cy="274320"/>
          </a:xfrm>
          <a:prstGeom prst="rect">
            <a:avLst/>
          </a:prstGeom>
          <a:noFill/>
          <a:ln/>
        </p:spPr>
        <p:txBody>
          <a:bodyPr wrap="square" lIns="0" tIns="0" rIns="0" bIns="0" rtlCol="0" anchor="t"/>
          <a:lstStyle/>
          <a:p>
            <a:pPr indent="0" marL="0">
              <a:buNone/>
            </a:pPr>
            <a:r>
              <a:rPr lang="en-US" sz="1200" b="1" dirty="0">
                <a:solidFill>
                  <a:srgbClr val="8C929E"/>
                </a:solidFill>
                <a:latin typeface="Calibri" pitchFamily="34" charset="0"/>
                <a:ea typeface="Calibri" pitchFamily="34" charset="-122"/>
                <a:cs typeface="Calibri" pitchFamily="34" charset="-120"/>
              </a:rPr>
              <a:t>Saat menu diklik</a:t>
            </a:r>
            <a:endParaRPr lang="en-US" sz="1200" dirty="0"/>
          </a:p>
        </p:txBody>
      </p:sp>
      <p:sp>
        <p:nvSpPr>
          <p:cNvPr id="26" name="Shape 23"/>
          <p:cNvSpPr/>
          <p:nvPr/>
        </p:nvSpPr>
        <p:spPr>
          <a:xfrm>
            <a:off x="6675120" y="4535424"/>
            <a:ext cx="146304" cy="146304"/>
          </a:xfrm>
          <a:prstGeom prst="ellipse">
            <a:avLst/>
          </a:prstGeom>
          <a:solidFill>
            <a:srgbClr val="8C929E"/>
          </a:solidFill>
          <a:ln/>
        </p:spPr>
      </p:sp>
      <p:sp>
        <p:nvSpPr>
          <p:cNvPr id="27" name="Text 24"/>
          <p:cNvSpPr txBox="1"/>
          <p:nvPr/>
        </p:nvSpPr>
        <p:spPr>
          <a:xfrm>
            <a:off x="6949440" y="4425696"/>
            <a:ext cx="2377440" cy="274320"/>
          </a:xfrm>
          <a:prstGeom prst="rect">
            <a:avLst/>
          </a:prstGeom>
          <a:noFill/>
          <a:ln/>
        </p:spPr>
        <p:txBody>
          <a:bodyPr wrap="square" lIns="0" tIns="0" rIns="0" bIns="0" rtlCol="0" anchor="t"/>
          <a:lstStyle/>
          <a:p>
            <a:pPr indent="0" marL="0">
              <a:buNone/>
            </a:pPr>
            <a:r>
              <a:rPr lang="en-US" sz="1350" b="1" dirty="0">
                <a:solidFill>
                  <a:srgbClr val="1F2430"/>
                </a:solidFill>
                <a:latin typeface="Calibri" pitchFamily="34" charset="0"/>
                <a:ea typeface="Calibri" pitchFamily="34" charset="-122"/>
                <a:cs typeface="Calibri" pitchFamily="34" charset="-120"/>
              </a:rPr>
              <a:t>Pengaturan</a:t>
            </a:r>
            <a:endParaRPr lang="en-US" sz="1350" dirty="0"/>
          </a:p>
        </p:txBody>
      </p:sp>
      <p:sp>
        <p:nvSpPr>
          <p:cNvPr id="28" name="Text 25"/>
          <p:cNvSpPr txBox="1"/>
          <p:nvPr/>
        </p:nvSpPr>
        <p:spPr>
          <a:xfrm>
            <a:off x="6949440" y="4700016"/>
            <a:ext cx="3017520" cy="228600"/>
          </a:xfrm>
          <a:prstGeom prst="rect">
            <a:avLst/>
          </a:prstGeom>
          <a:noFill/>
          <a:ln/>
        </p:spPr>
        <p:txBody>
          <a:bodyPr wrap="square" lIns="0" tIns="0" rIns="0" bIns="0" rtlCol="0" anchor="t"/>
          <a:lstStyle/>
          <a:p>
            <a:pPr indent="0" marL="0">
              <a:buNone/>
            </a:pPr>
            <a:r>
              <a:rPr lang="en-US" sz="1050" dirty="0">
                <a:solidFill>
                  <a:srgbClr val="5E6573"/>
                </a:solidFill>
                <a:latin typeface="Consolas" pitchFamily="34" charset="0"/>
                <a:ea typeface="Consolas" pitchFamily="34" charset="-122"/>
                <a:cs typeface="Consolas" pitchFamily="34" charset="-120"/>
              </a:rPr>
              <a:t>PengaturanView.js</a:t>
            </a:r>
            <a:endParaRPr lang="en-US" sz="1050" dirty="0"/>
          </a:p>
        </p:txBody>
      </p:sp>
      <p:sp>
        <p:nvSpPr>
          <p:cNvPr id="29" name="Text 26"/>
          <p:cNvSpPr txBox="1"/>
          <p:nvPr/>
        </p:nvSpPr>
        <p:spPr>
          <a:xfrm>
            <a:off x="10042855" y="4425696"/>
            <a:ext cx="1600200" cy="274320"/>
          </a:xfrm>
          <a:prstGeom prst="rect">
            <a:avLst/>
          </a:prstGeom>
          <a:noFill/>
          <a:ln/>
        </p:spPr>
        <p:txBody>
          <a:bodyPr wrap="square" lIns="0" tIns="0" rIns="0" bIns="0" rtlCol="0" anchor="t"/>
          <a:lstStyle/>
          <a:p>
            <a:pPr indent="0" marL="0">
              <a:buNone/>
            </a:pPr>
            <a:r>
              <a:rPr lang="en-US" sz="1200" b="1" dirty="0">
                <a:solidFill>
                  <a:srgbClr val="8C929E"/>
                </a:solidFill>
                <a:latin typeface="Calibri" pitchFamily="34" charset="0"/>
                <a:ea typeface="Calibri" pitchFamily="34" charset="-122"/>
                <a:cs typeface="Calibri" pitchFamily="34" charset="-120"/>
              </a:rPr>
              <a:t>Saat menu diklik</a:t>
            </a:r>
            <a:endParaRPr lang="en-US" sz="1200" dirty="0"/>
          </a:p>
        </p:txBody>
      </p:sp>
      <p:sp>
        <p:nvSpPr>
          <p:cNvPr id="30" name="Shape 27"/>
          <p:cNvSpPr/>
          <p:nvPr/>
        </p:nvSpPr>
        <p:spPr>
          <a:xfrm>
            <a:off x="6675120" y="5120640"/>
            <a:ext cx="4967935" cy="1051560"/>
          </a:xfrm>
          <a:prstGeom prst="roundRect">
            <a:avLst>
              <a:gd name="adj" fmla="val 5217"/>
            </a:avLst>
          </a:prstGeom>
          <a:solidFill>
            <a:srgbClr val="F3F4F7"/>
          </a:solidFill>
          <a:ln/>
        </p:spPr>
      </p:sp>
      <p:sp>
        <p:nvSpPr>
          <p:cNvPr id="31" name="Text 28"/>
          <p:cNvSpPr txBox="1"/>
          <p:nvPr/>
        </p:nvSpPr>
        <p:spPr>
          <a:xfrm>
            <a:off x="6858000" y="5120640"/>
            <a:ext cx="4602175" cy="1051560"/>
          </a:xfrm>
          <a:prstGeom prst="rect">
            <a:avLst/>
          </a:prstGeom>
          <a:noFill/>
          <a:ln/>
        </p:spPr>
        <p:txBody>
          <a:bodyPr wrap="square" lIns="0" tIns="0" rIns="0" bIns="0" rtlCol="0" anchor="ctr"/>
          <a:lstStyle/>
          <a:p>
            <a:pPr indent="0" marL="0">
              <a:buNone/>
            </a:pPr>
            <a:r>
              <a:rPr lang="en-US" sz="1150" b="1" dirty="0">
                <a:solidFill>
                  <a:srgbClr val="9B1B30"/>
                </a:solidFill>
                <a:latin typeface="Calibri" pitchFamily="34" charset="0"/>
                <a:ea typeface="Calibri" pitchFamily="34" charset="-122"/>
                <a:cs typeface="Calibri" pitchFamily="34" charset="-120"/>
              </a:rPr>
              <a:t>Koreksi di naskah: </a:t>
            </a:r>
            <a:pPr indent="0" marL="0">
              <a:buNone/>
            </a:pPr>
            <a:r>
              <a:rPr lang="en-US" sz="1150" dirty="0">
                <a:solidFill>
                  <a:srgbClr val="1F2430"/>
                </a:solidFill>
                <a:latin typeface="Calibri" pitchFamily="34" charset="0"/>
                <a:ea typeface="Calibri" pitchFamily="34" charset="-122"/>
                <a:cs typeface="Calibri" pitchFamily="34" charset="-120"/>
              </a:rPr>
              <a:t>Dashboard langsung menampilkan grafik, jadi vendor-chart.js tetap dimuat di awal. Manfaatnya berasal dari unduhan paralel, cache vendor terpisah, dan kompresi.</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REVISI 3 · PROF. NISWAR &amp; DR. ADY</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Keempat parameter mengikuti rantai dampak JavaScript</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2.1.6, 2.1.8   10</a:t>
            </a:r>
            <a:endParaRPr lang="en-US" sz="900" dirty="0"/>
          </a:p>
        </p:txBody>
      </p:sp>
      <p:sp>
        <p:nvSpPr>
          <p:cNvPr id="6" name="Shape 4"/>
          <p:cNvSpPr/>
          <p:nvPr/>
        </p:nvSpPr>
        <p:spPr>
          <a:xfrm>
            <a:off x="548640" y="1737360"/>
            <a:ext cx="2377440" cy="3291840"/>
          </a:xfrm>
          <a:prstGeom prst="roundRect">
            <a:avLst>
              <a:gd name="adj" fmla="val 2308"/>
            </a:avLst>
          </a:prstGeom>
          <a:solidFill>
            <a:srgbClr val="9B1B30"/>
          </a:solidFill>
          <a:ln/>
        </p:spPr>
      </p:sp>
      <p:sp>
        <p:nvSpPr>
          <p:cNvPr id="7" name="Text 5"/>
          <p:cNvSpPr txBox="1"/>
          <p:nvPr/>
        </p:nvSpPr>
        <p:spPr>
          <a:xfrm>
            <a:off x="777240" y="2011680"/>
            <a:ext cx="1920240" cy="228600"/>
          </a:xfrm>
          <a:prstGeom prst="rect">
            <a:avLst/>
          </a:prstGeom>
          <a:noFill/>
          <a:ln/>
        </p:spPr>
        <p:txBody>
          <a:bodyPr wrap="square" lIns="0" tIns="0" rIns="0" bIns="0" rtlCol="0" anchor="t"/>
          <a:lstStyle/>
          <a:p>
            <a:pPr indent="0" marL="0">
              <a:buNone/>
            </a:pPr>
            <a:r>
              <a:rPr lang="en-US" sz="1000" b="1" spc="150" kern="0" dirty="0">
                <a:solidFill>
                  <a:srgbClr val="F3C9D0"/>
                </a:solidFill>
                <a:latin typeface="Calibri" pitchFamily="34" charset="0"/>
                <a:ea typeface="Calibri" pitchFamily="34" charset="-122"/>
                <a:cs typeface="Calibri" pitchFamily="34" charset="-120"/>
              </a:rPr>
              <a:t>PENYEBAB</a:t>
            </a:r>
            <a:endParaRPr lang="en-US" sz="1000" dirty="0"/>
          </a:p>
        </p:txBody>
      </p:sp>
      <p:sp>
        <p:nvSpPr>
          <p:cNvPr id="8" name="Text 6"/>
          <p:cNvSpPr txBox="1"/>
          <p:nvPr/>
        </p:nvSpPr>
        <p:spPr>
          <a:xfrm>
            <a:off x="777240" y="2286000"/>
            <a:ext cx="1920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Bundle size</a:t>
            </a:r>
            <a:endParaRPr lang="en-US" sz="2200" dirty="0"/>
          </a:p>
        </p:txBody>
      </p:sp>
      <p:sp>
        <p:nvSpPr>
          <p:cNvPr id="9" name="Text 7"/>
          <p:cNvSpPr txBox="1"/>
          <p:nvPr/>
        </p:nvSpPr>
        <p:spPr>
          <a:xfrm>
            <a:off x="777240" y="2880360"/>
            <a:ext cx="1920240" cy="18288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Satu-satunya variabel yang diubah langsung oleh code splitting. Diukur dalam KB, sebelum dan sesudah kompresi.</a:t>
            </a:r>
            <a:endParaRPr lang="en-US" sz="1250" dirty="0"/>
          </a:p>
        </p:txBody>
      </p:sp>
      <p:sp>
        <p:nvSpPr>
          <p:cNvPr id="10" name="Shape 8"/>
          <p:cNvSpPr/>
          <p:nvPr/>
        </p:nvSpPr>
        <p:spPr>
          <a:xfrm>
            <a:off x="2971800" y="3383280"/>
            <a:ext cx="411480" cy="91"/>
          </a:xfrm>
          <a:prstGeom prst="line">
            <a:avLst/>
          </a:prstGeom>
          <a:noFill/>
          <a:ln w="19050">
            <a:solidFill>
              <a:srgbClr val="5E6573"/>
            </a:solidFill>
            <a:prstDash val="solid"/>
            <a:tailEnd type="triangle"/>
          </a:ln>
        </p:spPr>
      </p:sp>
      <p:sp>
        <p:nvSpPr>
          <p:cNvPr id="11" name="Shape 9"/>
          <p:cNvSpPr/>
          <p:nvPr/>
        </p:nvSpPr>
        <p:spPr>
          <a:xfrm>
            <a:off x="3429000" y="1737360"/>
            <a:ext cx="3383280" cy="3291840"/>
          </a:xfrm>
          <a:prstGeom prst="roundRect">
            <a:avLst>
              <a:gd name="adj" fmla="val 1667"/>
            </a:avLst>
          </a:prstGeom>
          <a:solidFill>
            <a:srgbClr val="F3F4F7"/>
          </a:solidFill>
          <a:ln/>
        </p:spPr>
      </p:sp>
      <p:sp>
        <p:nvSpPr>
          <p:cNvPr id="12" name="Text 10"/>
          <p:cNvSpPr txBox="1"/>
          <p:nvPr/>
        </p:nvSpPr>
        <p:spPr>
          <a:xfrm>
            <a:off x="3657600" y="2011680"/>
            <a:ext cx="2926080" cy="228600"/>
          </a:xfrm>
          <a:prstGeom prst="rect">
            <a:avLst/>
          </a:prstGeom>
          <a:noFill/>
          <a:ln/>
        </p:spPr>
        <p:txBody>
          <a:bodyPr wrap="square" lIns="0" tIns="0" rIns="0" bIns="0" rtlCol="0" anchor="t"/>
          <a:lstStyle/>
          <a:p>
            <a:pPr indent="0" marL="0">
              <a:buNone/>
            </a:pPr>
            <a:r>
              <a:rPr lang="en-US" sz="1000" b="1" spc="150" kern="0" dirty="0">
                <a:solidFill>
                  <a:srgbClr val="5E6573"/>
                </a:solidFill>
                <a:latin typeface="Calibri" pitchFamily="34" charset="0"/>
                <a:ea typeface="Calibri" pitchFamily="34" charset="-122"/>
                <a:cs typeface="Calibri" pitchFamily="34" charset="-120"/>
              </a:rPr>
              <a:t>PROSES DI BROWSER</a:t>
            </a:r>
            <a:endParaRPr lang="en-US" sz="1000" dirty="0"/>
          </a:p>
        </p:txBody>
      </p:sp>
      <p:sp>
        <p:nvSpPr>
          <p:cNvPr id="13" name="Shape 11"/>
          <p:cNvSpPr/>
          <p:nvPr/>
        </p:nvSpPr>
        <p:spPr>
          <a:xfrm>
            <a:off x="3657600" y="2377440"/>
            <a:ext cx="329184" cy="329184"/>
          </a:xfrm>
          <a:prstGeom prst="ellipse">
            <a:avLst/>
          </a:prstGeom>
          <a:solidFill>
            <a:srgbClr val="59606E"/>
          </a:solidFill>
          <a:ln/>
        </p:spPr>
      </p:sp>
      <p:sp>
        <p:nvSpPr>
          <p:cNvPr id="14" name="Text 12"/>
          <p:cNvSpPr txBox="1"/>
          <p:nvPr/>
        </p:nvSpPr>
        <p:spPr>
          <a:xfrm>
            <a:off x="3657600" y="23774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4114800" y="2377440"/>
            <a:ext cx="2468880" cy="32918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Unduh berkas</a:t>
            </a:r>
            <a:endParaRPr lang="en-US" sz="1350" dirty="0"/>
          </a:p>
        </p:txBody>
      </p:sp>
      <p:sp>
        <p:nvSpPr>
          <p:cNvPr id="16" name="Shape 14"/>
          <p:cNvSpPr/>
          <p:nvPr/>
        </p:nvSpPr>
        <p:spPr>
          <a:xfrm>
            <a:off x="3657600" y="2880360"/>
            <a:ext cx="329184" cy="329184"/>
          </a:xfrm>
          <a:prstGeom prst="ellipse">
            <a:avLst/>
          </a:prstGeom>
          <a:solidFill>
            <a:srgbClr val="59606E"/>
          </a:solidFill>
          <a:ln/>
        </p:spPr>
      </p:sp>
      <p:sp>
        <p:nvSpPr>
          <p:cNvPr id="17" name="Text 15"/>
          <p:cNvSpPr txBox="1"/>
          <p:nvPr/>
        </p:nvSpPr>
        <p:spPr>
          <a:xfrm>
            <a:off x="3657600" y="28803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4114800" y="2880360"/>
            <a:ext cx="2468880" cy="32918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Parse menjadi AST</a:t>
            </a:r>
            <a:endParaRPr lang="en-US" sz="1350" dirty="0"/>
          </a:p>
        </p:txBody>
      </p:sp>
      <p:sp>
        <p:nvSpPr>
          <p:cNvPr id="19" name="Shape 17"/>
          <p:cNvSpPr/>
          <p:nvPr/>
        </p:nvSpPr>
        <p:spPr>
          <a:xfrm>
            <a:off x="3657600" y="3383280"/>
            <a:ext cx="329184" cy="329184"/>
          </a:xfrm>
          <a:prstGeom prst="ellipse">
            <a:avLst/>
          </a:prstGeom>
          <a:solidFill>
            <a:srgbClr val="59606E"/>
          </a:solidFill>
          <a:ln/>
        </p:spPr>
      </p:sp>
      <p:sp>
        <p:nvSpPr>
          <p:cNvPr id="20" name="Text 18"/>
          <p:cNvSpPr txBox="1"/>
          <p:nvPr/>
        </p:nvSpPr>
        <p:spPr>
          <a:xfrm>
            <a:off x="3657600" y="33832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4114800" y="3383280"/>
            <a:ext cx="2468880" cy="32918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Kompilasi JIT</a:t>
            </a:r>
            <a:endParaRPr lang="en-US" sz="1350" dirty="0"/>
          </a:p>
        </p:txBody>
      </p:sp>
      <p:sp>
        <p:nvSpPr>
          <p:cNvPr id="22" name="Shape 20"/>
          <p:cNvSpPr/>
          <p:nvPr/>
        </p:nvSpPr>
        <p:spPr>
          <a:xfrm>
            <a:off x="3657600" y="3886200"/>
            <a:ext cx="329184" cy="329184"/>
          </a:xfrm>
          <a:prstGeom prst="ellipse">
            <a:avLst/>
          </a:prstGeom>
          <a:solidFill>
            <a:srgbClr val="59606E"/>
          </a:solidFill>
          <a:ln/>
        </p:spPr>
      </p:sp>
      <p:sp>
        <p:nvSpPr>
          <p:cNvPr id="23" name="Text 21"/>
          <p:cNvSpPr txBox="1"/>
          <p:nvPr/>
        </p:nvSpPr>
        <p:spPr>
          <a:xfrm>
            <a:off x="3657600" y="38862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4114800" y="3886200"/>
            <a:ext cx="2468880" cy="32918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Eksekusi dan render</a:t>
            </a:r>
            <a:endParaRPr lang="en-US" sz="1350" dirty="0"/>
          </a:p>
        </p:txBody>
      </p:sp>
      <p:sp>
        <p:nvSpPr>
          <p:cNvPr id="25" name="Text 23"/>
          <p:cNvSpPr txBox="1"/>
          <p:nvPr/>
        </p:nvSpPr>
        <p:spPr>
          <a:xfrm>
            <a:off x="3657600" y="4389120"/>
            <a:ext cx="2926080" cy="594360"/>
          </a:xfrm>
          <a:prstGeom prst="rect">
            <a:avLst/>
          </a:prstGeom>
          <a:noFill/>
          <a:ln/>
        </p:spPr>
        <p:txBody>
          <a:bodyPr wrap="square" lIns="0" tIns="0" rIns="0" bIns="0" rtlCol="0" anchor="t"/>
          <a:lstStyle/>
          <a:p>
            <a:pPr indent="0" marL="0">
              <a:buNone/>
            </a:pPr>
            <a:r>
              <a:rPr lang="en-US" sz="1100" i="1" dirty="0">
                <a:solidFill>
                  <a:srgbClr val="5E6573"/>
                </a:solidFill>
                <a:latin typeface="Calibri" pitchFamily="34" charset="0"/>
                <a:ea typeface="Calibri" pitchFamily="34" charset="-122"/>
                <a:cs typeface="Calibri" pitchFamily="34" charset="-120"/>
              </a:rPr>
              <a:t>Tahap 2–4 berjalan di main thread yang single-threaded: selama berlangsung, halaman tidak bisa merespons klik.</a:t>
            </a:r>
            <a:endParaRPr lang="en-US" sz="1100" dirty="0"/>
          </a:p>
        </p:txBody>
      </p:sp>
      <p:sp>
        <p:nvSpPr>
          <p:cNvPr id="26" name="Shape 24"/>
          <p:cNvSpPr/>
          <p:nvPr/>
        </p:nvSpPr>
        <p:spPr>
          <a:xfrm flipV="1">
            <a:off x="6858000" y="2240280"/>
            <a:ext cx="411480" cy="1143000"/>
          </a:xfrm>
          <a:prstGeom prst="line">
            <a:avLst/>
          </a:prstGeom>
          <a:noFill/>
          <a:ln w="19050">
            <a:solidFill>
              <a:srgbClr val="B8BDC7"/>
            </a:solidFill>
            <a:prstDash val="solid"/>
            <a:tailEnd type="triangle"/>
          </a:ln>
        </p:spPr>
      </p:sp>
      <p:sp>
        <p:nvSpPr>
          <p:cNvPr id="27" name="Shape 25"/>
          <p:cNvSpPr/>
          <p:nvPr/>
        </p:nvSpPr>
        <p:spPr>
          <a:xfrm>
            <a:off x="7315200" y="1737360"/>
            <a:ext cx="4327855" cy="1005840"/>
          </a:xfrm>
          <a:prstGeom prst="roundRect">
            <a:avLst>
              <a:gd name="adj" fmla="val 5455"/>
            </a:avLst>
          </a:prstGeom>
          <a:solidFill>
            <a:srgbClr val="FFFFFF"/>
          </a:solidFill>
          <a:ln w="12700">
            <a:solidFill>
              <a:srgbClr val="D9DCE3"/>
            </a:solidFill>
            <a:prstDash val="solid"/>
          </a:ln>
        </p:spPr>
      </p:sp>
      <p:sp>
        <p:nvSpPr>
          <p:cNvPr id="28" name="Text 26"/>
          <p:cNvSpPr txBox="1"/>
          <p:nvPr/>
        </p:nvSpPr>
        <p:spPr>
          <a:xfrm>
            <a:off x="7498080" y="1737360"/>
            <a:ext cx="822960" cy="1005840"/>
          </a:xfrm>
          <a:prstGeom prst="rect">
            <a:avLst/>
          </a:prstGeom>
          <a:noFill/>
          <a:ln/>
        </p:spPr>
        <p:txBody>
          <a:bodyPr wrap="square" lIns="0" tIns="0" rIns="0" bIns="0" rtlCol="0" anchor="ctr"/>
          <a:lstStyle/>
          <a:p>
            <a:pPr indent="0" marL="0">
              <a:buNone/>
            </a:pPr>
            <a:r>
              <a:rPr lang="en-US" sz="2200" b="1" dirty="0">
                <a:solidFill>
                  <a:srgbClr val="D9622B"/>
                </a:solidFill>
                <a:latin typeface="Cambria" pitchFamily="34" charset="0"/>
                <a:ea typeface="Cambria" pitchFamily="34" charset="-122"/>
                <a:cs typeface="Cambria" pitchFamily="34" charset="-120"/>
              </a:rPr>
              <a:t>FCP</a:t>
            </a:r>
            <a:endParaRPr lang="en-US" sz="2200" dirty="0"/>
          </a:p>
        </p:txBody>
      </p:sp>
      <p:sp>
        <p:nvSpPr>
          <p:cNvPr id="29" name="Text 27"/>
          <p:cNvSpPr txBox="1"/>
          <p:nvPr/>
        </p:nvSpPr>
        <p:spPr>
          <a:xfrm>
            <a:off x="8321040" y="1737360"/>
            <a:ext cx="3184855" cy="1005840"/>
          </a:xfrm>
          <a:prstGeom prst="rect">
            <a:avLst/>
          </a:prstGeom>
          <a:noFill/>
          <a:ln/>
        </p:spPr>
        <p:txBody>
          <a:bodyPr wrap="square" lIns="0" tIns="0" rIns="0" bIns="0" rtlCol="0" anchor="ctr"/>
          <a:lstStyle/>
          <a:p>
            <a:pPr indent="0" marL="0">
              <a:buNone/>
            </a:pPr>
            <a:r>
              <a:rPr lang="en-US" sz="1250" b="1" dirty="0">
                <a:solidFill>
                  <a:srgbClr val="1F2430"/>
                </a:solidFill>
                <a:latin typeface="Calibri" pitchFamily="34" charset="0"/>
                <a:ea typeface="Calibri" pitchFamily="34" charset="-122"/>
                <a:cs typeface="Calibri" pitchFamily="34" charset="-120"/>
              </a:rPr>
              <a:t>Kapan konten pertama muncul?</a:t>
            </a:r>
            <a:endParaRPr lang="en-US" sz="1250" dirty="0"/>
          </a:p>
          <a:p>
            <a:pPr indent="0" marL="0">
              <a:buNone/>
            </a:pPr>
            <a:r>
              <a:rPr lang="en-US" sz="1100" dirty="0">
                <a:solidFill>
                  <a:srgbClr val="5E6573"/>
                </a:solidFill>
                <a:latin typeface="Calibri" pitchFamily="34" charset="0"/>
                <a:ea typeface="Calibri" pitchFamily="34" charset="-122"/>
                <a:cs typeface="Calibri" pitchFamily="34" charset="-120"/>
              </a:rPr>
              <a:t>Tertunda oleh unduh dan parse JS sebelum first paint.</a:t>
            </a:r>
            <a:endParaRPr lang="en-US" sz="1250" dirty="0"/>
          </a:p>
        </p:txBody>
      </p:sp>
      <p:sp>
        <p:nvSpPr>
          <p:cNvPr id="30" name="Shape 28"/>
          <p:cNvSpPr/>
          <p:nvPr/>
        </p:nvSpPr>
        <p:spPr>
          <a:xfrm>
            <a:off x="6858000" y="3383280"/>
            <a:ext cx="411480" cy="91"/>
          </a:xfrm>
          <a:prstGeom prst="line">
            <a:avLst/>
          </a:prstGeom>
          <a:noFill/>
          <a:ln w="19050">
            <a:solidFill>
              <a:srgbClr val="B8BDC7"/>
            </a:solidFill>
            <a:prstDash val="solid"/>
            <a:tailEnd type="triangle"/>
          </a:ln>
        </p:spPr>
      </p:sp>
      <p:sp>
        <p:nvSpPr>
          <p:cNvPr id="31" name="Shape 29"/>
          <p:cNvSpPr/>
          <p:nvPr/>
        </p:nvSpPr>
        <p:spPr>
          <a:xfrm>
            <a:off x="7315200" y="2880360"/>
            <a:ext cx="4327855" cy="1005840"/>
          </a:xfrm>
          <a:prstGeom prst="roundRect">
            <a:avLst>
              <a:gd name="adj" fmla="val 5455"/>
            </a:avLst>
          </a:prstGeom>
          <a:solidFill>
            <a:srgbClr val="FFFFFF"/>
          </a:solidFill>
          <a:ln w="12700">
            <a:solidFill>
              <a:srgbClr val="D9DCE3"/>
            </a:solidFill>
            <a:prstDash val="solid"/>
          </a:ln>
        </p:spPr>
      </p:sp>
      <p:sp>
        <p:nvSpPr>
          <p:cNvPr id="32" name="Text 30"/>
          <p:cNvSpPr txBox="1"/>
          <p:nvPr/>
        </p:nvSpPr>
        <p:spPr>
          <a:xfrm>
            <a:off x="7498080" y="2880360"/>
            <a:ext cx="822960" cy="1005840"/>
          </a:xfrm>
          <a:prstGeom prst="rect">
            <a:avLst/>
          </a:prstGeom>
          <a:noFill/>
          <a:ln/>
        </p:spPr>
        <p:txBody>
          <a:bodyPr wrap="square" lIns="0" tIns="0" rIns="0" bIns="0" rtlCol="0" anchor="ctr"/>
          <a:lstStyle/>
          <a:p>
            <a:pPr indent="0" marL="0">
              <a:buNone/>
            </a:pPr>
            <a:r>
              <a:rPr lang="en-US" sz="2200" b="1" dirty="0">
                <a:solidFill>
                  <a:srgbClr val="D9622B"/>
                </a:solidFill>
                <a:latin typeface="Cambria" pitchFamily="34" charset="0"/>
                <a:ea typeface="Cambria" pitchFamily="34" charset="-122"/>
                <a:cs typeface="Cambria" pitchFamily="34" charset="-120"/>
              </a:rPr>
              <a:t>LCP</a:t>
            </a:r>
            <a:endParaRPr lang="en-US" sz="2200" dirty="0"/>
          </a:p>
        </p:txBody>
      </p:sp>
      <p:sp>
        <p:nvSpPr>
          <p:cNvPr id="33" name="Text 31"/>
          <p:cNvSpPr txBox="1"/>
          <p:nvPr/>
        </p:nvSpPr>
        <p:spPr>
          <a:xfrm>
            <a:off x="8321040" y="2880360"/>
            <a:ext cx="3184855" cy="1005840"/>
          </a:xfrm>
          <a:prstGeom prst="rect">
            <a:avLst/>
          </a:prstGeom>
          <a:noFill/>
          <a:ln/>
        </p:spPr>
        <p:txBody>
          <a:bodyPr wrap="square" lIns="0" tIns="0" rIns="0" bIns="0" rtlCol="0" anchor="ctr"/>
          <a:lstStyle/>
          <a:p>
            <a:pPr indent="0" marL="0">
              <a:buNone/>
            </a:pPr>
            <a:r>
              <a:rPr lang="en-US" sz="1250" b="1" dirty="0">
                <a:solidFill>
                  <a:srgbClr val="1F2430"/>
                </a:solidFill>
                <a:latin typeface="Calibri" pitchFamily="34" charset="0"/>
                <a:ea typeface="Calibri" pitchFamily="34" charset="-122"/>
                <a:cs typeface="Calibri" pitchFamily="34" charset="-120"/>
              </a:rPr>
              <a:t>Kapan konten utama selesai tampil?</a:t>
            </a:r>
            <a:endParaRPr lang="en-US" sz="1250" dirty="0"/>
          </a:p>
          <a:p>
            <a:pPr indent="0" marL="0">
              <a:buNone/>
            </a:pPr>
            <a:r>
              <a:rPr lang="en-US" sz="1100" dirty="0">
                <a:solidFill>
                  <a:srgbClr val="5E6573"/>
                </a:solidFill>
                <a:latin typeface="Calibri" pitchFamily="34" charset="0"/>
                <a:ea typeface="Calibri" pitchFamily="34" charset="-122"/>
                <a:cs typeface="Calibri" pitchFamily="34" charset="-120"/>
              </a:rPr>
              <a:t>Saat pengguna menilai halaman sudah siap.</a:t>
            </a:r>
            <a:endParaRPr lang="en-US" sz="1250" dirty="0"/>
          </a:p>
        </p:txBody>
      </p:sp>
      <p:sp>
        <p:nvSpPr>
          <p:cNvPr id="34" name="Shape 32"/>
          <p:cNvSpPr/>
          <p:nvPr/>
        </p:nvSpPr>
        <p:spPr>
          <a:xfrm>
            <a:off x="6858000" y="3383280"/>
            <a:ext cx="411480" cy="1143000"/>
          </a:xfrm>
          <a:prstGeom prst="line">
            <a:avLst/>
          </a:prstGeom>
          <a:noFill/>
          <a:ln w="19050">
            <a:solidFill>
              <a:srgbClr val="B8BDC7"/>
            </a:solidFill>
            <a:prstDash val="solid"/>
            <a:tailEnd type="triangle"/>
          </a:ln>
        </p:spPr>
      </p:sp>
      <p:sp>
        <p:nvSpPr>
          <p:cNvPr id="35" name="Shape 33"/>
          <p:cNvSpPr/>
          <p:nvPr/>
        </p:nvSpPr>
        <p:spPr>
          <a:xfrm>
            <a:off x="7315200" y="4023360"/>
            <a:ext cx="4327855" cy="1005840"/>
          </a:xfrm>
          <a:prstGeom prst="roundRect">
            <a:avLst>
              <a:gd name="adj" fmla="val 5455"/>
            </a:avLst>
          </a:prstGeom>
          <a:solidFill>
            <a:srgbClr val="FFFFFF"/>
          </a:solidFill>
          <a:ln w="12700">
            <a:solidFill>
              <a:srgbClr val="D9DCE3"/>
            </a:solidFill>
            <a:prstDash val="solid"/>
          </a:ln>
        </p:spPr>
      </p:sp>
      <p:sp>
        <p:nvSpPr>
          <p:cNvPr id="36" name="Text 34"/>
          <p:cNvSpPr txBox="1"/>
          <p:nvPr/>
        </p:nvSpPr>
        <p:spPr>
          <a:xfrm>
            <a:off x="7498080" y="4023360"/>
            <a:ext cx="822960" cy="1005840"/>
          </a:xfrm>
          <a:prstGeom prst="rect">
            <a:avLst/>
          </a:prstGeom>
          <a:noFill/>
          <a:ln/>
        </p:spPr>
        <p:txBody>
          <a:bodyPr wrap="square" lIns="0" tIns="0" rIns="0" bIns="0" rtlCol="0" anchor="ctr"/>
          <a:lstStyle/>
          <a:p>
            <a:pPr indent="0" marL="0">
              <a:buNone/>
            </a:pPr>
            <a:r>
              <a:rPr lang="en-US" sz="2200" b="1" dirty="0">
                <a:solidFill>
                  <a:srgbClr val="9B1B30"/>
                </a:solidFill>
                <a:latin typeface="Cambria" pitchFamily="34" charset="0"/>
                <a:ea typeface="Cambria" pitchFamily="34" charset="-122"/>
                <a:cs typeface="Cambria" pitchFamily="34" charset="-120"/>
              </a:rPr>
              <a:t>TBT</a:t>
            </a:r>
            <a:endParaRPr lang="en-US" sz="2200" dirty="0"/>
          </a:p>
        </p:txBody>
      </p:sp>
      <p:sp>
        <p:nvSpPr>
          <p:cNvPr id="37" name="Text 35"/>
          <p:cNvSpPr txBox="1"/>
          <p:nvPr/>
        </p:nvSpPr>
        <p:spPr>
          <a:xfrm>
            <a:off x="8321040" y="4023360"/>
            <a:ext cx="3184855" cy="1005840"/>
          </a:xfrm>
          <a:prstGeom prst="rect">
            <a:avLst/>
          </a:prstGeom>
          <a:noFill/>
          <a:ln/>
        </p:spPr>
        <p:txBody>
          <a:bodyPr wrap="square" lIns="0" tIns="0" rIns="0" bIns="0" rtlCol="0" anchor="ctr"/>
          <a:lstStyle/>
          <a:p>
            <a:pPr indent="0" marL="0">
              <a:buNone/>
            </a:pPr>
            <a:r>
              <a:rPr lang="en-US" sz="1250" b="1" dirty="0">
                <a:solidFill>
                  <a:srgbClr val="1F2430"/>
                </a:solidFill>
                <a:latin typeface="Calibri" pitchFamily="34" charset="0"/>
                <a:ea typeface="Calibri" pitchFamily="34" charset="-122"/>
                <a:cs typeface="Calibri" pitchFamily="34" charset="-120"/>
              </a:rPr>
              <a:t>Berapa lama halaman tidak bisa diklik?</a:t>
            </a:r>
            <a:endParaRPr lang="en-US" sz="1250" dirty="0"/>
          </a:p>
          <a:p>
            <a:pPr indent="0" marL="0">
              <a:buNone/>
            </a:pPr>
            <a:r>
              <a:rPr lang="en-US" sz="1100" dirty="0">
                <a:solidFill>
                  <a:srgbClr val="5E6573"/>
                </a:solidFill>
                <a:latin typeface="Calibri" pitchFamily="34" charset="0"/>
                <a:ea typeface="Calibri" pitchFamily="34" charset="-122"/>
                <a:cs typeface="Calibri" pitchFamily="34" charset="-120"/>
              </a:rPr>
              <a:t>Jumlah long task &gt; 50 ms saat eksekusi JS.</a:t>
            </a:r>
            <a:endParaRPr lang="en-US" sz="1250" dirty="0"/>
          </a:p>
        </p:txBody>
      </p:sp>
      <p:sp>
        <p:nvSpPr>
          <p:cNvPr id="38" name="Text 36"/>
          <p:cNvSpPr txBox="1"/>
          <p:nvPr/>
        </p:nvSpPr>
        <p:spPr>
          <a:xfrm>
            <a:off x="548640" y="5303520"/>
            <a:ext cx="11094415" cy="640080"/>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Metrik dipilih karena masing-masing mengukur satu titik pada rantai ini: dari penyebab (bundle size) hingga dampak yang dirasakan pengguna (FCP, LCP, TBT).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REVISI 3 · JUSTIFIKASI PARAMETER</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Definisi, ambang, dan alasan tiap parameter</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2.1.8, 2.3.2   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645920"/>
                <a:gridCol w="3108960"/>
                <a:gridCol w="4206240"/>
                <a:gridCol w="2130552"/>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Yang diukur</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Alasan dipilih untuk penelitian ini</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Ambang baik</a:t>
                      </a:r>
                      <a:endParaRPr lang="en-US" sz="11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r>
              <a:tr h="566928">
                <a:tc>
                  <a:txBody>
                    <a:bodyPr/>
                    <a:lstStyle/>
                    <a:p>
                      <a:pPr indent="0" marL="0">
                        <a:buNone/>
                      </a:pPr>
                      <a:r>
                        <a:rPr lang="en-US" sz="1400" b="1" dirty="0">
                          <a:solidFill>
                            <a:srgbClr val="9B1B30"/>
                          </a:solidFill>
                          <a:latin typeface="Calibri" pitchFamily="34" charset="0"/>
                          <a:ea typeface="Calibri" pitchFamily="34" charset="-122"/>
                          <a:cs typeface="Calibri" pitchFamily="34" charset="-120"/>
                        </a:rPr>
                        <a:t>Bundle size</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Ukuran berkas JavaScript awal dan per chunk (KB)</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Variabel yang diintervensi; dasar ambang rekomendasi 200 KB terkompresi</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Temuan: &gt; 200 KB layak dipecah</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400" b="1" dirty="0">
                          <a:solidFill>
                            <a:srgbClr val="9B1B30"/>
                          </a:solidFill>
                          <a:latin typeface="Calibri" pitchFamily="34" charset="0"/>
                          <a:ea typeface="Calibri" pitchFamily="34" charset="-122"/>
                          <a:cs typeface="Calibri" pitchFamily="34" charset="-120"/>
                        </a:rPr>
                        <a:t>FCP</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Waktu hingga konten pertama tampil</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Paling cepat menangkap beban unduh dan parse JS sebelum paint pertama</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 1.800 ms</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400" b="1" dirty="0">
                          <a:solidFill>
                            <a:srgbClr val="9B1B30"/>
                          </a:solidFill>
                          <a:latin typeface="Calibri" pitchFamily="34" charset="0"/>
                          <a:ea typeface="Calibri" pitchFamily="34" charset="-122"/>
                          <a:cs typeface="Calibri" pitchFamily="34" charset="-120"/>
                        </a:rPr>
                        <a:t>LCP</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Waktu hingga elemen terbesar tampil</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Core Web Vitals; mewakili persepsi "halaman sudah siap"</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 2.500 ms</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400" b="1" dirty="0">
                          <a:solidFill>
                            <a:srgbClr val="9B1B30"/>
                          </a:solidFill>
                          <a:latin typeface="Calibri" pitchFamily="34" charset="0"/>
                          <a:ea typeface="Calibri" pitchFamily="34" charset="-122"/>
                          <a:cs typeface="Calibri" pitchFamily="34" charset="-120"/>
                        </a:rPr>
                        <a:t>TBT</a:t>
                      </a:r>
                      <a:endParaRPr lang="en-US" sz="140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Total waktu main thread terblokir oleh task &gt; 50 ms</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Paling sensitif terhadap parse dan eksekusi JS besar, terutama pada CPU 4×</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 200–300 ms</a:t>
                      </a:r>
                      <a:endParaRPr lang="en-US" sz="1150" dirty="0">
                        <a:latin typeface="Calibri" charset="0"/>
                        <a:ea typeface="Calibri" charset="0"/>
                        <a:cs typeface="Calibri" charset="0"/>
                      </a:endParaRPr>
                    </a:p>
                  </a:txBody>
                  <a:tcPr marL="101600" marR="101600" marT="50800" marB="508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7" name="Shape 4"/>
          <p:cNvSpPr/>
          <p:nvPr/>
        </p:nvSpPr>
        <p:spPr>
          <a:xfrm>
            <a:off x="548640" y="4617720"/>
            <a:ext cx="5410048" cy="1234440"/>
          </a:xfrm>
          <a:prstGeom prst="roundRect">
            <a:avLst>
              <a:gd name="adj" fmla="val 4444"/>
            </a:avLst>
          </a:prstGeom>
          <a:solidFill>
            <a:srgbClr val="F3F4F7"/>
          </a:solidFill>
          <a:ln/>
        </p:spPr>
      </p:sp>
      <p:sp>
        <p:nvSpPr>
          <p:cNvPr id="8" name="Text 5"/>
          <p:cNvSpPr txBox="1"/>
          <p:nvPr/>
        </p:nvSpPr>
        <p:spPr>
          <a:xfrm>
            <a:off x="777240" y="4782312"/>
            <a:ext cx="4952848" cy="274320"/>
          </a:xfrm>
          <a:prstGeom prst="rect">
            <a:avLst/>
          </a:prstGeom>
          <a:noFill/>
          <a:ln/>
        </p:spPr>
        <p:txBody>
          <a:bodyPr wrap="square" lIns="0" tIns="0" rIns="0" bIns="0" rtlCol="0" anchor="t"/>
          <a:lstStyle/>
          <a:p>
            <a:pPr indent="0" marL="0">
              <a:buNone/>
            </a:pPr>
            <a:r>
              <a:rPr lang="en-US" sz="1300" b="1" dirty="0">
                <a:solidFill>
                  <a:srgbClr val="1F2430"/>
                </a:solidFill>
                <a:latin typeface="Calibri" pitchFamily="34" charset="0"/>
                <a:ea typeface="Calibri" pitchFamily="34" charset="-122"/>
                <a:cs typeface="Calibri" pitchFamily="34" charset="-120"/>
              </a:rPr>
              <a:t>Mengapa bukan CLS dan INP?</a:t>
            </a:r>
            <a:endParaRPr lang="en-US" sz="1300" dirty="0"/>
          </a:p>
        </p:txBody>
      </p:sp>
      <p:sp>
        <p:nvSpPr>
          <p:cNvPr id="9" name="Text 6"/>
          <p:cNvSpPr txBox="1"/>
          <p:nvPr/>
        </p:nvSpPr>
        <p:spPr>
          <a:xfrm>
            <a:off x="777240" y="5093208"/>
            <a:ext cx="4952848" cy="1005840"/>
          </a:xfrm>
          <a:prstGeom prst="rect">
            <a:avLst/>
          </a:prstGeom>
          <a:noFill/>
          <a:ln/>
        </p:spPr>
        <p:txBody>
          <a:bodyPr wrap="square" lIns="0" tIns="0" rIns="0" bIns="0" rtlCol="0" anchor="t"/>
          <a:lstStyle/>
          <a:p>
            <a:pPr indent="0" marL="0">
              <a:buNone/>
            </a:pPr>
            <a:r>
              <a:rPr lang="en-US" sz="1150" dirty="0">
                <a:solidFill>
                  <a:srgbClr val="1F2430"/>
                </a:solidFill>
                <a:latin typeface="Calibri" pitchFamily="34" charset="0"/>
                <a:ea typeface="Calibri" pitchFamily="34" charset="-122"/>
                <a:cs typeface="Calibri" pitchFamily="34" charset="-120"/>
              </a:rPr>
              <a:t>CLS mengukur pergeseran tata letak, tidak dipengaruhi cara JavaScript dipecah. INP butuh interaksi pengguna nyata; pada uji lab otomatis, TBT adalah proksinya.</a:t>
            </a:r>
            <a:endParaRPr lang="en-US" sz="1150" dirty="0"/>
          </a:p>
        </p:txBody>
      </p:sp>
      <p:sp>
        <p:nvSpPr>
          <p:cNvPr id="10" name="Shape 7"/>
          <p:cNvSpPr/>
          <p:nvPr/>
        </p:nvSpPr>
        <p:spPr>
          <a:xfrm>
            <a:off x="6233008" y="4617720"/>
            <a:ext cx="5410048" cy="1234440"/>
          </a:xfrm>
          <a:prstGeom prst="roundRect">
            <a:avLst>
              <a:gd name="adj" fmla="val 4444"/>
            </a:avLst>
          </a:prstGeom>
          <a:solidFill>
            <a:srgbClr val="F3F4F7"/>
          </a:solidFill>
          <a:ln/>
        </p:spPr>
      </p:sp>
      <p:sp>
        <p:nvSpPr>
          <p:cNvPr id="11" name="Text 8"/>
          <p:cNvSpPr txBox="1"/>
          <p:nvPr/>
        </p:nvSpPr>
        <p:spPr>
          <a:xfrm>
            <a:off x="6461608" y="4782312"/>
            <a:ext cx="4952848" cy="274320"/>
          </a:xfrm>
          <a:prstGeom prst="rect">
            <a:avLst/>
          </a:prstGeom>
          <a:noFill/>
          <a:ln/>
        </p:spPr>
        <p:txBody>
          <a:bodyPr wrap="square" lIns="0" tIns="0" rIns="0" bIns="0" rtlCol="0" anchor="t"/>
          <a:lstStyle/>
          <a:p>
            <a:pPr indent="0" marL="0">
              <a:buNone/>
            </a:pPr>
            <a:r>
              <a:rPr lang="en-US" sz="1300" b="1" dirty="0">
                <a:solidFill>
                  <a:srgbClr val="1F2430"/>
                </a:solidFill>
                <a:latin typeface="Calibri" pitchFamily="34" charset="0"/>
                <a:ea typeface="Calibri" pitchFamily="34" charset="-122"/>
                <a:cs typeface="Calibri" pitchFamily="34" charset="-120"/>
              </a:rPr>
              <a:t>Mengapa diukur dengan dua instrumen?</a:t>
            </a:r>
            <a:endParaRPr lang="en-US" sz="1300" dirty="0"/>
          </a:p>
        </p:txBody>
      </p:sp>
      <p:sp>
        <p:nvSpPr>
          <p:cNvPr id="12" name="Text 9"/>
          <p:cNvSpPr txBox="1"/>
          <p:nvPr/>
        </p:nvSpPr>
        <p:spPr>
          <a:xfrm>
            <a:off x="6461608" y="5093208"/>
            <a:ext cx="4952848" cy="1005840"/>
          </a:xfrm>
          <a:prstGeom prst="rect">
            <a:avLst/>
          </a:prstGeom>
          <a:noFill/>
          <a:ln/>
        </p:spPr>
        <p:txBody>
          <a:bodyPr wrap="square" lIns="0" tIns="0" rIns="0" bIns="0" rtlCol="0" anchor="t"/>
          <a:lstStyle/>
          <a:p>
            <a:pPr indent="0" marL="0">
              <a:buNone/>
            </a:pPr>
            <a:r>
              <a:rPr lang="en-US" sz="1150" dirty="0">
                <a:solidFill>
                  <a:srgbClr val="1F2430"/>
                </a:solidFill>
                <a:latin typeface="Calibri" pitchFamily="34" charset="0"/>
                <a:ea typeface="Calibri" pitchFamily="34" charset="-122"/>
                <a:cs typeface="Calibri" pitchFamily="34" charset="-120"/>
              </a:rPr>
              <a:t>PerformanceObserver merekam angka dari browser nyata; Lighthouse memberi audit standar industri dengan simulasi perangkat menengah. Arah hasil yang sama pada keduanya memperkuat kesimpulan.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PENGEMBANGAN REVISI · PREFETCHING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Lazy loading murni memindahkan jeda ke saat navigasi</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3.2, Gambar 3.10   12</a:t>
            </a:r>
            <a:endParaRPr lang="en-US" sz="900" dirty="0"/>
          </a:p>
        </p:txBody>
      </p:sp>
      <p:sp>
        <p:nvSpPr>
          <p:cNvPr id="6" name="Text 4"/>
          <p:cNvSpPr txBox="1"/>
          <p:nvPr/>
        </p:nvSpPr>
        <p:spPr>
          <a:xfrm>
            <a:off x="2834640" y="1600200"/>
            <a:ext cx="1828800" cy="228600"/>
          </a:xfrm>
          <a:prstGeom prst="rect">
            <a:avLst/>
          </a:prstGeom>
          <a:noFill/>
          <a:ln/>
        </p:spPr>
        <p:txBody>
          <a:bodyPr wrap="square" lIns="0" tIns="0" rIns="0" bIns="0" rtlCol="0" anchor="t"/>
          <a:lstStyle/>
          <a:p>
            <a:pPr indent="0" marL="0">
              <a:buNone/>
            </a:pPr>
            <a:r>
              <a:rPr lang="en-US" sz="1000" i="1" dirty="0">
                <a:solidFill>
                  <a:srgbClr val="5E6573"/>
                </a:solidFill>
                <a:latin typeface="Calibri" pitchFamily="34" charset="0"/>
                <a:ea typeface="Calibri" pitchFamily="34" charset="-122"/>
                <a:cs typeface="Calibri" pitchFamily="34" charset="-120"/>
              </a:rPr>
              <a:t>buka aplikasi</a:t>
            </a:r>
            <a:endParaRPr lang="en-US" sz="1000" dirty="0"/>
          </a:p>
        </p:txBody>
      </p:sp>
      <p:sp>
        <p:nvSpPr>
          <p:cNvPr id="7" name="Text 5"/>
          <p:cNvSpPr txBox="1"/>
          <p:nvPr/>
        </p:nvSpPr>
        <p:spPr>
          <a:xfrm>
            <a:off x="5943600" y="1600200"/>
            <a:ext cx="1828800" cy="228600"/>
          </a:xfrm>
          <a:prstGeom prst="rect">
            <a:avLst/>
          </a:prstGeom>
          <a:noFill/>
          <a:ln/>
        </p:spPr>
        <p:txBody>
          <a:bodyPr wrap="square" lIns="0" tIns="0" rIns="0" bIns="0" rtlCol="0" anchor="t"/>
          <a:lstStyle/>
          <a:p>
            <a:pPr algn="ctr" indent="0" marL="0">
              <a:buNone/>
            </a:pPr>
            <a:r>
              <a:rPr lang="en-US" sz="1000" i="1" dirty="0">
                <a:solidFill>
                  <a:srgbClr val="5E6573"/>
                </a:solidFill>
                <a:latin typeface="Calibri" pitchFamily="34" charset="0"/>
                <a:ea typeface="Calibri" pitchFamily="34" charset="-122"/>
                <a:cs typeface="Calibri" pitchFamily="34" charset="-120"/>
              </a:rPr>
              <a:t>klik menu Daftar Judul</a:t>
            </a:r>
            <a:endParaRPr lang="en-US" sz="1000" dirty="0"/>
          </a:p>
        </p:txBody>
      </p:sp>
      <p:sp>
        <p:nvSpPr>
          <p:cNvPr id="8" name="Shape 6"/>
          <p:cNvSpPr/>
          <p:nvPr/>
        </p:nvSpPr>
        <p:spPr>
          <a:xfrm>
            <a:off x="548640" y="2011680"/>
            <a:ext cx="11094415" cy="1051560"/>
          </a:xfrm>
          <a:prstGeom prst="roundRect">
            <a:avLst>
              <a:gd name="adj" fmla="val 5217"/>
            </a:avLst>
          </a:prstGeom>
          <a:solidFill>
            <a:srgbClr val="F3F4F7"/>
          </a:solidFill>
          <a:ln/>
        </p:spPr>
      </p:sp>
      <p:sp>
        <p:nvSpPr>
          <p:cNvPr id="9" name="Text 7"/>
          <p:cNvSpPr txBox="1"/>
          <p:nvPr/>
        </p:nvSpPr>
        <p:spPr>
          <a:xfrm>
            <a:off x="777240" y="2011680"/>
            <a:ext cx="2011680" cy="1051560"/>
          </a:xfrm>
          <a:prstGeom prst="rect">
            <a:avLst/>
          </a:prstGeom>
          <a:noFill/>
          <a:ln/>
        </p:spPr>
        <p:txBody>
          <a:bodyPr wrap="square" lIns="0" tIns="0" rIns="0" bIns="0" rtlCol="0" anchor="ctr"/>
          <a:lstStyle/>
          <a:p>
            <a:pPr indent="0" marL="0">
              <a:buNone/>
            </a:pPr>
            <a:r>
              <a:rPr lang="en-US" sz="1400" b="1" dirty="0">
                <a:solidFill>
                  <a:srgbClr val="1F2430"/>
                </a:solidFill>
                <a:latin typeface="Calibri" pitchFamily="34" charset="0"/>
                <a:ea typeface="Calibri" pitchFamily="34" charset="-122"/>
                <a:cs typeface="Calibri" pitchFamily="34" charset="-120"/>
              </a:rPr>
              <a:t>Eager loading</a:t>
            </a:r>
            <a:endParaRPr lang="en-US" sz="1400" dirty="0"/>
          </a:p>
          <a:p>
            <a:pPr indent="0" marL="0">
              <a:buNone/>
            </a:pPr>
            <a:r>
              <a:rPr lang="en-US" sz="1050" dirty="0">
                <a:solidFill>
                  <a:srgbClr val="5E6573"/>
                </a:solidFill>
                <a:latin typeface="Calibri" pitchFamily="34" charset="0"/>
                <a:ea typeface="Calibri" pitchFamily="34" charset="-122"/>
                <a:cs typeface="Calibri" pitchFamily="34" charset="-120"/>
              </a:rPr>
              <a:t>baseline</a:t>
            </a:r>
            <a:endParaRPr lang="en-US" sz="1400" dirty="0"/>
          </a:p>
        </p:txBody>
      </p:sp>
      <p:sp>
        <p:nvSpPr>
          <p:cNvPr id="10" name="Shape 8"/>
          <p:cNvSpPr/>
          <p:nvPr/>
        </p:nvSpPr>
        <p:spPr>
          <a:xfrm>
            <a:off x="2834640" y="2313432"/>
            <a:ext cx="3566160" cy="457200"/>
          </a:xfrm>
          <a:prstGeom prst="roundRect">
            <a:avLst>
              <a:gd name="adj" fmla="val 8000"/>
            </a:avLst>
          </a:prstGeom>
          <a:solidFill>
            <a:srgbClr val="D9622B"/>
          </a:solidFill>
          <a:ln/>
        </p:spPr>
      </p:sp>
      <p:sp>
        <p:nvSpPr>
          <p:cNvPr id="11" name="Text 9"/>
          <p:cNvSpPr txBox="1"/>
          <p:nvPr/>
        </p:nvSpPr>
        <p:spPr>
          <a:xfrm>
            <a:off x="2907792" y="2313432"/>
            <a:ext cx="3419856"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unduh + parse seluruh bundle</a:t>
            </a:r>
            <a:endParaRPr lang="en-US" sz="1050" dirty="0"/>
          </a:p>
        </p:txBody>
      </p:sp>
      <p:sp>
        <p:nvSpPr>
          <p:cNvPr id="12" name="Shape 10"/>
          <p:cNvSpPr/>
          <p:nvPr/>
        </p:nvSpPr>
        <p:spPr>
          <a:xfrm>
            <a:off x="6858000" y="2313432"/>
            <a:ext cx="731520" cy="457200"/>
          </a:xfrm>
          <a:prstGeom prst="roundRect">
            <a:avLst>
              <a:gd name="adj" fmla="val 8000"/>
            </a:avLst>
          </a:prstGeom>
          <a:solidFill>
            <a:srgbClr val="161B26"/>
          </a:solidFill>
          <a:ln/>
        </p:spPr>
      </p:sp>
      <p:sp>
        <p:nvSpPr>
          <p:cNvPr id="13" name="Text 11"/>
          <p:cNvSpPr txBox="1"/>
          <p:nvPr/>
        </p:nvSpPr>
        <p:spPr>
          <a:xfrm>
            <a:off x="6931152" y="2313432"/>
            <a:ext cx="585216"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tampil</a:t>
            </a:r>
            <a:endParaRPr lang="en-US" sz="1050" dirty="0"/>
          </a:p>
        </p:txBody>
      </p:sp>
      <p:sp>
        <p:nvSpPr>
          <p:cNvPr id="14" name="Text 12"/>
          <p:cNvSpPr txBox="1"/>
          <p:nvPr/>
        </p:nvSpPr>
        <p:spPr>
          <a:xfrm>
            <a:off x="9418320" y="2011680"/>
            <a:ext cx="2041855" cy="1051560"/>
          </a:xfrm>
          <a:prstGeom prst="rect">
            <a:avLst/>
          </a:prstGeom>
          <a:noFill/>
          <a:ln/>
        </p:spPr>
        <p:txBody>
          <a:bodyPr wrap="square" lIns="0" tIns="0" rIns="0" bIns="0" rtlCol="0" anchor="ctr"/>
          <a:lstStyle/>
          <a:p>
            <a:pPr algn="r" indent="0" marL="0">
              <a:buNone/>
            </a:pPr>
            <a:r>
              <a:rPr lang="en-US" sz="1300" b="1" dirty="0">
                <a:solidFill>
                  <a:srgbClr val="5E6573"/>
                </a:solidFill>
                <a:latin typeface="Calibri" pitchFamily="34" charset="0"/>
                <a:ea typeface="Calibri" pitchFamily="34" charset="-122"/>
                <a:cs typeface="Calibri" pitchFamily="34" charset="-120"/>
              </a:rPr>
              <a:t>Awal berat</a:t>
            </a:r>
            <a:endParaRPr lang="en-US" sz="1300" dirty="0"/>
          </a:p>
          <a:p>
            <a:pPr algn="r" indent="0" marL="0">
              <a:buNone/>
            </a:pPr>
            <a:r>
              <a:rPr lang="en-US" sz="1300" b="1" dirty="0">
                <a:solidFill>
                  <a:srgbClr val="5E6573"/>
                </a:solidFill>
                <a:latin typeface="Calibri" pitchFamily="34" charset="0"/>
                <a:ea typeface="Calibri" pitchFamily="34" charset="-122"/>
                <a:cs typeface="Calibri" pitchFamily="34" charset="-120"/>
              </a:rPr>
              <a:t>navigasi instan</a:t>
            </a:r>
            <a:endParaRPr lang="en-US" sz="1300" dirty="0"/>
          </a:p>
        </p:txBody>
      </p:sp>
      <p:sp>
        <p:nvSpPr>
          <p:cNvPr id="15" name="Shape 13"/>
          <p:cNvSpPr/>
          <p:nvPr/>
        </p:nvSpPr>
        <p:spPr>
          <a:xfrm>
            <a:off x="548640" y="3246120"/>
            <a:ext cx="11094415" cy="1051560"/>
          </a:xfrm>
          <a:prstGeom prst="roundRect">
            <a:avLst>
              <a:gd name="adj" fmla="val 5217"/>
            </a:avLst>
          </a:prstGeom>
          <a:solidFill>
            <a:srgbClr val="F3F4F7"/>
          </a:solidFill>
          <a:ln/>
        </p:spPr>
      </p:sp>
      <p:sp>
        <p:nvSpPr>
          <p:cNvPr id="16" name="Text 14"/>
          <p:cNvSpPr txBox="1"/>
          <p:nvPr/>
        </p:nvSpPr>
        <p:spPr>
          <a:xfrm>
            <a:off x="777240" y="3246120"/>
            <a:ext cx="2011680" cy="1051560"/>
          </a:xfrm>
          <a:prstGeom prst="rect">
            <a:avLst/>
          </a:prstGeom>
          <a:noFill/>
          <a:ln/>
        </p:spPr>
        <p:txBody>
          <a:bodyPr wrap="square" lIns="0" tIns="0" rIns="0" bIns="0" rtlCol="0" anchor="ctr"/>
          <a:lstStyle/>
          <a:p>
            <a:pPr indent="0" marL="0">
              <a:buNone/>
            </a:pPr>
            <a:r>
              <a:rPr lang="en-US" sz="1400" b="1" dirty="0">
                <a:solidFill>
                  <a:srgbClr val="1F2430"/>
                </a:solidFill>
                <a:latin typeface="Calibri" pitchFamily="34" charset="0"/>
                <a:ea typeface="Calibri" pitchFamily="34" charset="-122"/>
                <a:cs typeface="Calibri" pitchFamily="34" charset="-120"/>
              </a:rPr>
              <a:t>Lazy loading murni</a:t>
            </a:r>
            <a:endParaRPr lang="en-US" sz="1400" dirty="0"/>
          </a:p>
        </p:txBody>
      </p:sp>
      <p:sp>
        <p:nvSpPr>
          <p:cNvPr id="17" name="Shape 15"/>
          <p:cNvSpPr/>
          <p:nvPr/>
        </p:nvSpPr>
        <p:spPr>
          <a:xfrm>
            <a:off x="2834640" y="3547872"/>
            <a:ext cx="1143000" cy="457200"/>
          </a:xfrm>
          <a:prstGeom prst="roundRect">
            <a:avLst>
              <a:gd name="adj" fmla="val 8000"/>
            </a:avLst>
          </a:prstGeom>
          <a:solidFill>
            <a:srgbClr val="D9622B"/>
          </a:solidFill>
          <a:ln/>
        </p:spPr>
      </p:sp>
      <p:sp>
        <p:nvSpPr>
          <p:cNvPr id="18" name="Text 16"/>
          <p:cNvSpPr txBox="1"/>
          <p:nvPr/>
        </p:nvSpPr>
        <p:spPr>
          <a:xfrm>
            <a:off x="2907792" y="3547872"/>
            <a:ext cx="996696"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bundle awal</a:t>
            </a:r>
            <a:endParaRPr lang="en-US" sz="1050" dirty="0"/>
          </a:p>
        </p:txBody>
      </p:sp>
      <p:sp>
        <p:nvSpPr>
          <p:cNvPr id="19" name="Shape 17"/>
          <p:cNvSpPr/>
          <p:nvPr/>
        </p:nvSpPr>
        <p:spPr>
          <a:xfrm>
            <a:off x="6858000" y="3547872"/>
            <a:ext cx="1508760" cy="457200"/>
          </a:xfrm>
          <a:prstGeom prst="roundRect">
            <a:avLst>
              <a:gd name="adj" fmla="val 8000"/>
            </a:avLst>
          </a:prstGeom>
          <a:solidFill>
            <a:srgbClr val="9B1B30"/>
          </a:solidFill>
          <a:ln/>
        </p:spPr>
      </p:sp>
      <p:sp>
        <p:nvSpPr>
          <p:cNvPr id="20" name="Text 18"/>
          <p:cNvSpPr txBox="1"/>
          <p:nvPr/>
        </p:nvSpPr>
        <p:spPr>
          <a:xfrm>
            <a:off x="6931152" y="3547872"/>
            <a:ext cx="1362456"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unduh chunk → jeda</a:t>
            </a:r>
            <a:endParaRPr lang="en-US" sz="1050" dirty="0"/>
          </a:p>
        </p:txBody>
      </p:sp>
      <p:sp>
        <p:nvSpPr>
          <p:cNvPr id="21" name="Shape 19"/>
          <p:cNvSpPr/>
          <p:nvPr/>
        </p:nvSpPr>
        <p:spPr>
          <a:xfrm>
            <a:off x="8412480" y="3547872"/>
            <a:ext cx="731520" cy="457200"/>
          </a:xfrm>
          <a:prstGeom prst="roundRect">
            <a:avLst>
              <a:gd name="adj" fmla="val 8000"/>
            </a:avLst>
          </a:prstGeom>
          <a:solidFill>
            <a:srgbClr val="161B26"/>
          </a:solidFill>
          <a:ln/>
        </p:spPr>
      </p:sp>
      <p:sp>
        <p:nvSpPr>
          <p:cNvPr id="22" name="Text 20"/>
          <p:cNvSpPr txBox="1"/>
          <p:nvPr/>
        </p:nvSpPr>
        <p:spPr>
          <a:xfrm>
            <a:off x="8485632" y="3547872"/>
            <a:ext cx="585216"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tampil</a:t>
            </a:r>
            <a:endParaRPr lang="en-US" sz="1050" dirty="0"/>
          </a:p>
        </p:txBody>
      </p:sp>
      <p:sp>
        <p:nvSpPr>
          <p:cNvPr id="23" name="Text 21"/>
          <p:cNvSpPr txBox="1"/>
          <p:nvPr/>
        </p:nvSpPr>
        <p:spPr>
          <a:xfrm>
            <a:off x="9418320" y="3246120"/>
            <a:ext cx="2041855" cy="1051560"/>
          </a:xfrm>
          <a:prstGeom prst="rect">
            <a:avLst/>
          </a:prstGeom>
          <a:noFill/>
          <a:ln/>
        </p:spPr>
        <p:txBody>
          <a:bodyPr wrap="square" lIns="0" tIns="0" rIns="0" bIns="0" rtlCol="0" anchor="ctr"/>
          <a:lstStyle/>
          <a:p>
            <a:pPr algn="r" indent="0" marL="0">
              <a:buNone/>
            </a:pPr>
            <a:r>
              <a:rPr lang="en-US" sz="1300" b="1" dirty="0">
                <a:solidFill>
                  <a:srgbClr val="9B1B30"/>
                </a:solidFill>
                <a:latin typeface="Calibri" pitchFamily="34" charset="0"/>
                <a:ea typeface="Calibri" pitchFamily="34" charset="-122"/>
                <a:cs typeface="Calibri" pitchFamily="34" charset="-120"/>
              </a:rPr>
              <a:t>Awal ringan</a:t>
            </a:r>
            <a:endParaRPr lang="en-US" sz="1300" dirty="0"/>
          </a:p>
          <a:p>
            <a:pPr algn="r" indent="0" marL="0">
              <a:buNone/>
            </a:pPr>
            <a:r>
              <a:rPr lang="en-US" sz="1300" b="1" dirty="0">
                <a:solidFill>
                  <a:srgbClr val="9B1B30"/>
                </a:solidFill>
                <a:latin typeface="Calibri" pitchFamily="34" charset="0"/>
                <a:ea typeface="Calibri" pitchFamily="34" charset="-122"/>
                <a:cs typeface="Calibri" pitchFamily="34" charset="-120"/>
              </a:rPr>
              <a:t>navigasi tertunda</a:t>
            </a:r>
            <a:endParaRPr lang="en-US" sz="1300" dirty="0"/>
          </a:p>
        </p:txBody>
      </p:sp>
      <p:sp>
        <p:nvSpPr>
          <p:cNvPr id="24" name="Shape 22"/>
          <p:cNvSpPr/>
          <p:nvPr/>
        </p:nvSpPr>
        <p:spPr>
          <a:xfrm>
            <a:off x="548640" y="4480560"/>
            <a:ext cx="11094415" cy="1051560"/>
          </a:xfrm>
          <a:prstGeom prst="roundRect">
            <a:avLst>
              <a:gd name="adj" fmla="val 5217"/>
            </a:avLst>
          </a:prstGeom>
          <a:solidFill>
            <a:srgbClr val="E3F4EE"/>
          </a:solidFill>
          <a:ln/>
        </p:spPr>
      </p:sp>
      <p:sp>
        <p:nvSpPr>
          <p:cNvPr id="25" name="Text 23"/>
          <p:cNvSpPr txBox="1"/>
          <p:nvPr/>
        </p:nvSpPr>
        <p:spPr>
          <a:xfrm>
            <a:off x="777240" y="4480560"/>
            <a:ext cx="2011680" cy="1051560"/>
          </a:xfrm>
          <a:prstGeom prst="rect">
            <a:avLst/>
          </a:prstGeom>
          <a:noFill/>
          <a:ln/>
        </p:spPr>
        <p:txBody>
          <a:bodyPr wrap="square" lIns="0" tIns="0" rIns="0" bIns="0" rtlCol="0" anchor="ctr"/>
          <a:lstStyle/>
          <a:p>
            <a:pPr indent="0" marL="0">
              <a:buNone/>
            </a:pPr>
            <a:r>
              <a:rPr lang="en-US" sz="1400" b="1" dirty="0">
                <a:solidFill>
                  <a:srgbClr val="1F2430"/>
                </a:solidFill>
                <a:latin typeface="Calibri" pitchFamily="34" charset="0"/>
                <a:ea typeface="Calibri" pitchFamily="34" charset="-122"/>
                <a:cs typeface="Calibri" pitchFamily="34" charset="-120"/>
              </a:rPr>
              <a:t>Lazy + prefetch</a:t>
            </a:r>
            <a:endParaRPr lang="en-US" sz="1400" dirty="0"/>
          </a:p>
          <a:p>
            <a:pPr indent="0" marL="0">
              <a:buNone/>
            </a:pPr>
            <a:r>
              <a:rPr lang="en-US" sz="1050" dirty="0">
                <a:solidFill>
                  <a:srgbClr val="5E6573"/>
                </a:solidFill>
                <a:latin typeface="Calibri" pitchFamily="34" charset="0"/>
                <a:ea typeface="Calibri" pitchFamily="34" charset="-122"/>
                <a:cs typeface="Calibri" pitchFamily="34" charset="-120"/>
              </a:rPr>
              <a:t>optimized</a:t>
            </a:r>
            <a:endParaRPr lang="en-US" sz="1400" dirty="0"/>
          </a:p>
        </p:txBody>
      </p:sp>
      <p:sp>
        <p:nvSpPr>
          <p:cNvPr id="26" name="Shape 24"/>
          <p:cNvSpPr/>
          <p:nvPr/>
        </p:nvSpPr>
        <p:spPr>
          <a:xfrm>
            <a:off x="2834640" y="4782312"/>
            <a:ext cx="1143000" cy="457200"/>
          </a:xfrm>
          <a:prstGeom prst="roundRect">
            <a:avLst>
              <a:gd name="adj" fmla="val 8000"/>
            </a:avLst>
          </a:prstGeom>
          <a:solidFill>
            <a:srgbClr val="D9622B"/>
          </a:solidFill>
          <a:ln/>
        </p:spPr>
      </p:sp>
      <p:sp>
        <p:nvSpPr>
          <p:cNvPr id="27" name="Text 25"/>
          <p:cNvSpPr txBox="1"/>
          <p:nvPr/>
        </p:nvSpPr>
        <p:spPr>
          <a:xfrm>
            <a:off x="2907792" y="4782312"/>
            <a:ext cx="996696"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bundle awal</a:t>
            </a:r>
            <a:endParaRPr lang="en-US" sz="1050" dirty="0"/>
          </a:p>
        </p:txBody>
      </p:sp>
      <p:sp>
        <p:nvSpPr>
          <p:cNvPr id="28" name="Shape 26"/>
          <p:cNvSpPr/>
          <p:nvPr/>
        </p:nvSpPr>
        <p:spPr>
          <a:xfrm>
            <a:off x="4114800" y="4782312"/>
            <a:ext cx="1554480" cy="457200"/>
          </a:xfrm>
          <a:prstGeom prst="roundRect">
            <a:avLst>
              <a:gd name="adj" fmla="val 8000"/>
            </a:avLst>
          </a:prstGeom>
          <a:solidFill>
            <a:srgbClr val="1A9C74"/>
          </a:solidFill>
          <a:ln/>
        </p:spPr>
      </p:sp>
      <p:sp>
        <p:nvSpPr>
          <p:cNvPr id="29" name="Text 27"/>
          <p:cNvSpPr txBox="1"/>
          <p:nvPr/>
        </p:nvSpPr>
        <p:spPr>
          <a:xfrm>
            <a:off x="4187952" y="4782312"/>
            <a:ext cx="1408176"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prefetch saat idle</a:t>
            </a:r>
            <a:endParaRPr lang="en-US" sz="1050" dirty="0"/>
          </a:p>
        </p:txBody>
      </p:sp>
      <p:sp>
        <p:nvSpPr>
          <p:cNvPr id="30" name="Shape 28"/>
          <p:cNvSpPr/>
          <p:nvPr/>
        </p:nvSpPr>
        <p:spPr>
          <a:xfrm>
            <a:off x="6858000" y="4782312"/>
            <a:ext cx="731520" cy="457200"/>
          </a:xfrm>
          <a:prstGeom prst="roundRect">
            <a:avLst>
              <a:gd name="adj" fmla="val 8000"/>
            </a:avLst>
          </a:prstGeom>
          <a:solidFill>
            <a:srgbClr val="161B26"/>
          </a:solidFill>
          <a:ln/>
        </p:spPr>
      </p:sp>
      <p:sp>
        <p:nvSpPr>
          <p:cNvPr id="31" name="Text 29"/>
          <p:cNvSpPr txBox="1"/>
          <p:nvPr/>
        </p:nvSpPr>
        <p:spPr>
          <a:xfrm>
            <a:off x="6931152" y="4782312"/>
            <a:ext cx="585216"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tampil</a:t>
            </a:r>
            <a:endParaRPr lang="en-US" sz="1050" dirty="0"/>
          </a:p>
        </p:txBody>
      </p:sp>
      <p:sp>
        <p:nvSpPr>
          <p:cNvPr id="32" name="Text 30"/>
          <p:cNvSpPr txBox="1"/>
          <p:nvPr/>
        </p:nvSpPr>
        <p:spPr>
          <a:xfrm>
            <a:off x="9418320" y="4480560"/>
            <a:ext cx="2041855" cy="1051560"/>
          </a:xfrm>
          <a:prstGeom prst="rect">
            <a:avLst/>
          </a:prstGeom>
          <a:noFill/>
          <a:ln/>
        </p:spPr>
        <p:txBody>
          <a:bodyPr wrap="square" lIns="0" tIns="0" rIns="0" bIns="0" rtlCol="0" anchor="ctr"/>
          <a:lstStyle/>
          <a:p>
            <a:pPr algn="r" indent="0" marL="0">
              <a:buNone/>
            </a:pPr>
            <a:r>
              <a:rPr lang="en-US" sz="1300" b="1" dirty="0">
                <a:solidFill>
                  <a:srgbClr val="1A9C74"/>
                </a:solidFill>
                <a:latin typeface="Calibri" pitchFamily="34" charset="0"/>
                <a:ea typeface="Calibri" pitchFamily="34" charset="-122"/>
                <a:cs typeface="Calibri" pitchFamily="34" charset="-120"/>
              </a:rPr>
              <a:t>Awal ringan</a:t>
            </a:r>
            <a:endParaRPr lang="en-US" sz="1300" dirty="0"/>
          </a:p>
          <a:p>
            <a:pPr algn="r" indent="0" marL="0">
              <a:buNone/>
            </a:pPr>
            <a:r>
              <a:rPr lang="en-US" sz="1300" b="1" dirty="0">
                <a:solidFill>
                  <a:srgbClr val="1A9C74"/>
                </a:solidFill>
                <a:latin typeface="Calibri" pitchFamily="34" charset="0"/>
                <a:ea typeface="Calibri" pitchFamily="34" charset="-122"/>
                <a:cs typeface="Calibri" pitchFamily="34" charset="-120"/>
              </a:rPr>
              <a:t>navigasi instan</a:t>
            </a:r>
            <a:endParaRPr lang="en-US" sz="1300" dirty="0"/>
          </a:p>
        </p:txBody>
      </p:sp>
      <p:sp>
        <p:nvSpPr>
          <p:cNvPr id="33" name="Shape 31"/>
          <p:cNvSpPr/>
          <p:nvPr/>
        </p:nvSpPr>
        <p:spPr>
          <a:xfrm>
            <a:off x="6858000" y="1874520"/>
            <a:ext cx="91" cy="3749040"/>
          </a:xfrm>
          <a:prstGeom prst="line">
            <a:avLst/>
          </a:prstGeom>
          <a:noFill/>
          <a:ln w="12700">
            <a:solidFill>
              <a:srgbClr val="5E6573"/>
            </a:solidFill>
            <a:prstDash val="dash"/>
          </a:ln>
        </p:spPr>
      </p:sp>
      <p:sp>
        <p:nvSpPr>
          <p:cNvPr id="34" name="Text 32"/>
          <p:cNvSpPr txBox="1"/>
          <p:nvPr/>
        </p:nvSpPr>
        <p:spPr>
          <a:xfrm>
            <a:off x="548640" y="5760720"/>
            <a:ext cx="8229600" cy="274320"/>
          </a:xfrm>
          <a:prstGeom prst="rect">
            <a:avLst/>
          </a:prstGeom>
          <a:noFill/>
          <a:ln/>
        </p:spPr>
        <p:txBody>
          <a:bodyPr wrap="square" lIns="0" tIns="0" rIns="0" bIns="0" rtlCol="0" anchor="t"/>
          <a:lstStyle/>
          <a:p>
            <a:pPr indent="0" marL="0">
              <a:buNone/>
            </a:pPr>
            <a:r>
              <a:rPr lang="en-US" sz="1050" i="1" dirty="0">
                <a:solidFill>
                  <a:srgbClr val="5E6573"/>
                </a:solidFill>
                <a:latin typeface="Calibri" pitchFamily="34" charset="0"/>
                <a:ea typeface="Calibri" pitchFamily="34" charset="-122"/>
                <a:cs typeface="Calibri" pitchFamily="34" charset="-120"/>
              </a:rPr>
              <a:t>Ilustrasi mekanisme berdasarkan kode, bukan skala waktu terukur. Bukti pengukuran pada slide 14.</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PENGEMBANGAN REVISI · PREFETCHING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Prefetching selektif dengan requestIdleCallback</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3.2   13</a:t>
            </a:r>
            <a:endParaRPr lang="en-US" sz="900" dirty="0"/>
          </a:p>
        </p:txBody>
      </p:sp>
      <p:sp>
        <p:nvSpPr>
          <p:cNvPr id="6" name="Shape 4"/>
          <p:cNvSpPr/>
          <p:nvPr/>
        </p:nvSpPr>
        <p:spPr>
          <a:xfrm>
            <a:off x="548640" y="1645920"/>
            <a:ext cx="5760720" cy="3977640"/>
          </a:xfrm>
          <a:prstGeom prst="roundRect">
            <a:avLst>
              <a:gd name="adj" fmla="val 1839"/>
            </a:avLst>
          </a:prstGeom>
          <a:solidFill>
            <a:srgbClr val="1E2330"/>
          </a:solidFill>
          <a:ln/>
        </p:spPr>
      </p:sp>
      <p:sp>
        <p:nvSpPr>
          <p:cNvPr id="7" name="Text 5"/>
          <p:cNvSpPr txBox="1"/>
          <p:nvPr/>
        </p:nvSpPr>
        <p:spPr>
          <a:xfrm>
            <a:off x="777240" y="1810512"/>
            <a:ext cx="5303520" cy="228600"/>
          </a:xfrm>
          <a:prstGeom prst="rect">
            <a:avLst/>
          </a:prstGeom>
          <a:noFill/>
          <a:ln/>
        </p:spPr>
        <p:txBody>
          <a:bodyPr wrap="square" lIns="0" tIns="0" rIns="0" bIns="0" rtlCol="0" anchor="t"/>
          <a:lstStyle/>
          <a:p>
            <a:pPr indent="0" marL="0">
              <a:buNone/>
            </a:pPr>
            <a:r>
              <a:rPr lang="en-US" sz="950" b="1" spc="150" kern="0" dirty="0">
                <a:solidFill>
                  <a:srgbClr val="8A93A3"/>
                </a:solidFill>
                <a:latin typeface="Calibri" pitchFamily="34" charset="0"/>
                <a:ea typeface="Calibri" pitchFamily="34" charset="-122"/>
                <a:cs typeface="Calibri" pitchFamily="34" charset="-120"/>
              </a:rPr>
              <a:t>IMPLEMENTASI</a:t>
            </a:r>
            <a:endParaRPr lang="en-US" sz="950" dirty="0"/>
          </a:p>
        </p:txBody>
      </p:sp>
      <p:sp>
        <p:nvSpPr>
          <p:cNvPr id="8" name="Text 6"/>
          <p:cNvSpPr txBox="1"/>
          <p:nvPr/>
        </p:nvSpPr>
        <p:spPr>
          <a:xfrm>
            <a:off x="777240" y="2103120"/>
            <a:ext cx="5303520" cy="3383280"/>
          </a:xfrm>
          <a:prstGeom prst="rect">
            <a:avLst/>
          </a:prstGeom>
          <a:noFill/>
          <a:ln/>
        </p:spPr>
        <p:txBody>
          <a:bodyPr wrap="square" lIns="0" tIns="0" rIns="0" bIns="0" rtlCol="0" anchor="t"/>
          <a:lstStyle/>
          <a:p>
            <a:pPr indent="0" marL="0">
              <a:lnSpc>
                <a:spcPct val="105000"/>
              </a:lnSpc>
              <a:buNone/>
            </a:pPr>
            <a:r>
              <a:rPr lang="en-US" sz="1250" dirty="0">
                <a:solidFill>
                  <a:srgbClr val="8A93A3"/>
                </a:solidFill>
                <a:latin typeface="Consolas" pitchFamily="34" charset="0"/>
                <a:ea typeface="Consolas" pitchFamily="34" charset="-122"/>
                <a:cs typeface="Consolas" pitchFamily="34" charset="-120"/>
              </a:rPr>
              <a:t>// src/router/index.optimized.js</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router.afterEach((to) =&gt; {</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if (to.name === </a:t>
            </a:r>
            <a:pPr indent="0" marL="0">
              <a:lnSpc>
                <a:spcPct val="105000"/>
              </a:lnSpc>
              <a:buNone/>
            </a:pPr>
            <a:r>
              <a:rPr lang="en-US" sz="1250" dirty="0">
                <a:solidFill>
                  <a:srgbClr val="E9B949"/>
                </a:solidFill>
                <a:latin typeface="Consolas" pitchFamily="34" charset="0"/>
                <a:ea typeface="Consolas" pitchFamily="34" charset="-122"/>
                <a:cs typeface="Consolas" pitchFamily="34" charset="-120"/>
              </a:rPr>
              <a:t>'Dashboard'</a:t>
            </a:r>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const prefetch = () =&gt; {</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import(</a:t>
            </a:r>
            <a:pPr indent="0" marL="0">
              <a:lnSpc>
                <a:spcPct val="105000"/>
              </a:lnSpc>
              <a:buNone/>
            </a:pPr>
            <a:r>
              <a:rPr lang="en-US" sz="1250" dirty="0">
                <a:solidFill>
                  <a:srgbClr val="E9B949"/>
                </a:solidFill>
                <a:latin typeface="Consolas" pitchFamily="34" charset="0"/>
                <a:ea typeface="Consolas" pitchFamily="34" charset="-122"/>
                <a:cs typeface="Consolas" pitchFamily="34" charset="-120"/>
              </a:rPr>
              <a:t>'../views/DaftarJudulView.vue'</a:t>
            </a:r>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import(</a:t>
            </a:r>
            <a:pPr indent="0" marL="0">
              <a:lnSpc>
                <a:spcPct val="105000"/>
              </a:lnSpc>
              <a:buNone/>
            </a:pPr>
            <a:r>
              <a:rPr lang="en-US" sz="1250" dirty="0">
                <a:solidFill>
                  <a:srgbClr val="E9B949"/>
                </a:solidFill>
                <a:latin typeface="Consolas" pitchFamily="34" charset="0"/>
                <a:ea typeface="Consolas" pitchFamily="34" charset="-122"/>
                <a:cs typeface="Consolas" pitchFamily="34" charset="-120"/>
              </a:rPr>
              <a:t>'../views/DetailBimbinganView.vue'</a:t>
            </a:r>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if (</a:t>
            </a:r>
            <a:pPr indent="0" marL="0">
              <a:lnSpc>
                <a:spcPct val="105000"/>
              </a:lnSpc>
              <a:buNone/>
            </a:pPr>
            <a:r>
              <a:rPr lang="en-US" sz="1250" dirty="0">
                <a:solidFill>
                  <a:srgbClr val="E9B949"/>
                </a:solidFill>
                <a:latin typeface="Consolas" pitchFamily="34" charset="0"/>
                <a:ea typeface="Consolas" pitchFamily="34" charset="-122"/>
                <a:cs typeface="Consolas" pitchFamily="34" charset="-120"/>
              </a:rPr>
              <a:t>'requestIdleCallback'</a:t>
            </a:r>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in window)</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requestIdleCallback(prefetch)</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else</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setTimeout(prefetch, 1000)</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D7DAE0"/>
                </a:solidFill>
                <a:latin typeface="Consolas" pitchFamily="34" charset="0"/>
                <a:ea typeface="Consolas" pitchFamily="34" charset="-122"/>
                <a:cs typeface="Consolas" pitchFamily="34" charset="-120"/>
              </a:rPr>
              <a:t>})</a:t>
            </a:r>
            <a:endParaRPr lang="en-US" sz="1250" dirty="0"/>
          </a:p>
        </p:txBody>
      </p:sp>
      <p:sp>
        <p:nvSpPr>
          <p:cNvPr id="9" name="Shape 7"/>
          <p:cNvSpPr/>
          <p:nvPr/>
        </p:nvSpPr>
        <p:spPr>
          <a:xfrm>
            <a:off x="6766560" y="1645920"/>
            <a:ext cx="384048" cy="384048"/>
          </a:xfrm>
          <a:prstGeom prst="ellipse">
            <a:avLst/>
          </a:prstGeom>
          <a:solidFill>
            <a:srgbClr val="1A9C74"/>
          </a:solidFill>
          <a:ln/>
        </p:spPr>
      </p:sp>
      <p:sp>
        <p:nvSpPr>
          <p:cNvPr id="10" name="Text 8"/>
          <p:cNvSpPr txBox="1"/>
          <p:nvPr/>
        </p:nvSpPr>
        <p:spPr>
          <a:xfrm>
            <a:off x="676656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7315200" y="1664208"/>
            <a:ext cx="4327855" cy="32004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Kapan</a:t>
            </a:r>
            <a:endParaRPr lang="en-US" sz="1500" dirty="0"/>
          </a:p>
        </p:txBody>
      </p:sp>
      <p:sp>
        <p:nvSpPr>
          <p:cNvPr id="12" name="Text 10"/>
          <p:cNvSpPr txBox="1"/>
          <p:nvPr/>
        </p:nvSpPr>
        <p:spPr>
          <a:xfrm>
            <a:off x="7315200" y="2011680"/>
            <a:ext cx="4327855" cy="658368"/>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afterEach berjalan setelah navigasi ke Dashboard selesai, jadi halaman pertama sudah tampil lebih dulu.</a:t>
            </a:r>
            <a:endParaRPr lang="en-US" sz="1200" dirty="0"/>
          </a:p>
        </p:txBody>
      </p:sp>
      <p:sp>
        <p:nvSpPr>
          <p:cNvPr id="13" name="Shape 11"/>
          <p:cNvSpPr/>
          <p:nvPr/>
        </p:nvSpPr>
        <p:spPr>
          <a:xfrm>
            <a:off x="6766560" y="2715768"/>
            <a:ext cx="384048" cy="384048"/>
          </a:xfrm>
          <a:prstGeom prst="ellipse">
            <a:avLst/>
          </a:prstGeom>
          <a:solidFill>
            <a:srgbClr val="1A9C74"/>
          </a:solidFill>
          <a:ln/>
        </p:spPr>
      </p:sp>
      <p:sp>
        <p:nvSpPr>
          <p:cNvPr id="14" name="Text 12"/>
          <p:cNvSpPr txBox="1"/>
          <p:nvPr/>
        </p:nvSpPr>
        <p:spPr>
          <a:xfrm>
            <a:off x="676656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7315200" y="2734056"/>
            <a:ext cx="4327855" cy="32004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Menunggu senggang</a:t>
            </a:r>
            <a:endParaRPr lang="en-US" sz="1500" dirty="0"/>
          </a:p>
        </p:txBody>
      </p:sp>
      <p:sp>
        <p:nvSpPr>
          <p:cNvPr id="16" name="Text 14"/>
          <p:cNvSpPr txBox="1"/>
          <p:nvPr/>
        </p:nvSpPr>
        <p:spPr>
          <a:xfrm>
            <a:off x="7315200" y="3081528"/>
            <a:ext cx="4327855" cy="658368"/>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requestIdleCallback menunda unduhan sampai main thread kosong, sehingga tidak bersaing dengan render FCP dan LCP.</a:t>
            </a:r>
            <a:endParaRPr lang="en-US" sz="1200" dirty="0"/>
          </a:p>
        </p:txBody>
      </p:sp>
      <p:sp>
        <p:nvSpPr>
          <p:cNvPr id="17" name="Shape 15"/>
          <p:cNvSpPr/>
          <p:nvPr/>
        </p:nvSpPr>
        <p:spPr>
          <a:xfrm>
            <a:off x="6766560" y="3785616"/>
            <a:ext cx="384048" cy="384048"/>
          </a:xfrm>
          <a:prstGeom prst="ellipse">
            <a:avLst/>
          </a:prstGeom>
          <a:solidFill>
            <a:srgbClr val="1A9C74"/>
          </a:solidFill>
          <a:ln/>
        </p:spPr>
      </p:sp>
      <p:sp>
        <p:nvSpPr>
          <p:cNvPr id="18" name="Text 16"/>
          <p:cNvSpPr txBox="1"/>
          <p:nvPr/>
        </p:nvSpPr>
        <p:spPr>
          <a:xfrm>
            <a:off x="6766560" y="3785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7315200" y="3803904"/>
            <a:ext cx="4327855" cy="32004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Apa yang diunduh</a:t>
            </a:r>
            <a:endParaRPr lang="en-US" sz="1500" dirty="0"/>
          </a:p>
        </p:txBody>
      </p:sp>
      <p:sp>
        <p:nvSpPr>
          <p:cNvPr id="20" name="Text 18"/>
          <p:cNvSpPr txBox="1"/>
          <p:nvPr/>
        </p:nvSpPr>
        <p:spPr>
          <a:xfrm>
            <a:off x="7315200" y="4151376"/>
            <a:ext cx="4327855" cy="658368"/>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Hanya dua rute yang paling sering dituju dari Dashboard. Jadwal Seminar dan Pengaturan tetap lazy.</a:t>
            </a:r>
            <a:endParaRPr lang="en-US" sz="1200" dirty="0"/>
          </a:p>
        </p:txBody>
      </p:sp>
      <p:sp>
        <p:nvSpPr>
          <p:cNvPr id="21" name="Shape 19"/>
          <p:cNvSpPr/>
          <p:nvPr/>
        </p:nvSpPr>
        <p:spPr>
          <a:xfrm>
            <a:off x="6766560" y="4855464"/>
            <a:ext cx="384048" cy="384048"/>
          </a:xfrm>
          <a:prstGeom prst="ellipse">
            <a:avLst/>
          </a:prstGeom>
          <a:solidFill>
            <a:srgbClr val="1A9C74"/>
          </a:solidFill>
          <a:ln/>
        </p:spPr>
      </p:sp>
      <p:sp>
        <p:nvSpPr>
          <p:cNvPr id="22" name="Text 20"/>
          <p:cNvSpPr txBox="1"/>
          <p:nvPr/>
        </p:nvSpPr>
        <p:spPr>
          <a:xfrm>
            <a:off x="6766560" y="4855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7315200" y="4873752"/>
            <a:ext cx="4327855" cy="32004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Saat diklik</a:t>
            </a:r>
            <a:endParaRPr lang="en-US" sz="1500" dirty="0"/>
          </a:p>
        </p:txBody>
      </p:sp>
      <p:sp>
        <p:nvSpPr>
          <p:cNvPr id="24" name="Text 22"/>
          <p:cNvSpPr txBox="1"/>
          <p:nvPr/>
        </p:nvSpPr>
        <p:spPr>
          <a:xfrm>
            <a:off x="7315200" y="5221224"/>
            <a:ext cx="4327855" cy="658368"/>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Chunk sudah ada di cache, Promise import() langsung selesai, dan halaman berganti tanpa jeda.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PENGEMBANGAN REVISI · BUKTI PREFETCHING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Dua chunk terunduh tanpa satu pun klik</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3.9, Gambar 3.11–3.12   14</a:t>
            </a:r>
            <a:endParaRPr lang="en-US" sz="900" dirty="0"/>
          </a:p>
        </p:txBody>
      </p:sp>
      <p:sp>
        <p:nvSpPr>
          <p:cNvPr id="6" name="Shape 4"/>
          <p:cNvSpPr/>
          <p:nvPr/>
        </p:nvSpPr>
        <p:spPr>
          <a:xfrm>
            <a:off x="2514600" y="1737360"/>
            <a:ext cx="91" cy="3831336"/>
          </a:xfrm>
          <a:prstGeom prst="line">
            <a:avLst/>
          </a:prstGeom>
          <a:noFill/>
          <a:ln w="12700">
            <a:solidFill>
              <a:srgbClr val="E6E8EC"/>
            </a:solidFill>
            <a:prstDash val="solid"/>
          </a:ln>
        </p:spPr>
      </p:sp>
      <p:sp>
        <p:nvSpPr>
          <p:cNvPr id="7" name="Text 5"/>
          <p:cNvSpPr txBox="1"/>
          <p:nvPr/>
        </p:nvSpPr>
        <p:spPr>
          <a:xfrm>
            <a:off x="2148840" y="5614416"/>
            <a:ext cx="731520" cy="201168"/>
          </a:xfrm>
          <a:prstGeom prst="rect">
            <a:avLst/>
          </a:prstGeom>
          <a:noFill/>
          <a:ln/>
        </p:spPr>
        <p:txBody>
          <a:bodyPr wrap="square" lIns="0" tIns="0" rIns="0" bIns="0" rtlCol="0" anchor="t"/>
          <a:lstStyle/>
          <a:p>
            <a:pPr algn="ctr" indent="0" marL="0">
              <a:buNone/>
            </a:pPr>
            <a:r>
              <a:rPr lang="en-US" sz="900" dirty="0">
                <a:solidFill>
                  <a:srgbClr val="5E6573"/>
                </a:solidFill>
                <a:latin typeface="Calibri" pitchFamily="34" charset="0"/>
                <a:ea typeface="Calibri" pitchFamily="34" charset="-122"/>
                <a:cs typeface="Calibri" pitchFamily="34" charset="-120"/>
              </a:rPr>
              <a:t>0 ms</a:t>
            </a:r>
            <a:endParaRPr lang="en-US" sz="900" dirty="0"/>
          </a:p>
        </p:txBody>
      </p:sp>
      <p:sp>
        <p:nvSpPr>
          <p:cNvPr id="8" name="Shape 6"/>
          <p:cNvSpPr/>
          <p:nvPr/>
        </p:nvSpPr>
        <p:spPr>
          <a:xfrm>
            <a:off x="3611880" y="1737360"/>
            <a:ext cx="91" cy="3831336"/>
          </a:xfrm>
          <a:prstGeom prst="line">
            <a:avLst/>
          </a:prstGeom>
          <a:noFill/>
          <a:ln w="12700">
            <a:solidFill>
              <a:srgbClr val="E6E8EC"/>
            </a:solidFill>
            <a:prstDash val="solid"/>
          </a:ln>
        </p:spPr>
      </p:sp>
      <p:sp>
        <p:nvSpPr>
          <p:cNvPr id="9" name="Text 7"/>
          <p:cNvSpPr txBox="1"/>
          <p:nvPr/>
        </p:nvSpPr>
        <p:spPr>
          <a:xfrm>
            <a:off x="3246120" y="5614416"/>
            <a:ext cx="731520" cy="201168"/>
          </a:xfrm>
          <a:prstGeom prst="rect">
            <a:avLst/>
          </a:prstGeom>
          <a:noFill/>
          <a:ln/>
        </p:spPr>
        <p:txBody>
          <a:bodyPr wrap="square" lIns="0" tIns="0" rIns="0" bIns="0" rtlCol="0" anchor="t"/>
          <a:lstStyle/>
          <a:p>
            <a:pPr algn="ctr" indent="0" marL="0">
              <a:buNone/>
            </a:pPr>
            <a:r>
              <a:rPr lang="en-US" sz="900" dirty="0">
                <a:solidFill>
                  <a:srgbClr val="5E6573"/>
                </a:solidFill>
                <a:latin typeface="Calibri" pitchFamily="34" charset="0"/>
                <a:ea typeface="Calibri" pitchFamily="34" charset="-122"/>
                <a:cs typeface="Calibri" pitchFamily="34" charset="-120"/>
              </a:rPr>
              <a:t>100 ms</a:t>
            </a:r>
            <a:endParaRPr lang="en-US" sz="900" dirty="0"/>
          </a:p>
        </p:txBody>
      </p:sp>
      <p:sp>
        <p:nvSpPr>
          <p:cNvPr id="10" name="Shape 8"/>
          <p:cNvSpPr/>
          <p:nvPr/>
        </p:nvSpPr>
        <p:spPr>
          <a:xfrm>
            <a:off x="4709160" y="1737360"/>
            <a:ext cx="91" cy="3831336"/>
          </a:xfrm>
          <a:prstGeom prst="line">
            <a:avLst/>
          </a:prstGeom>
          <a:noFill/>
          <a:ln w="12700">
            <a:solidFill>
              <a:srgbClr val="E6E8EC"/>
            </a:solidFill>
            <a:prstDash val="solid"/>
          </a:ln>
        </p:spPr>
      </p:sp>
      <p:sp>
        <p:nvSpPr>
          <p:cNvPr id="11" name="Text 9"/>
          <p:cNvSpPr txBox="1"/>
          <p:nvPr/>
        </p:nvSpPr>
        <p:spPr>
          <a:xfrm>
            <a:off x="4343400" y="5614416"/>
            <a:ext cx="731520" cy="201168"/>
          </a:xfrm>
          <a:prstGeom prst="rect">
            <a:avLst/>
          </a:prstGeom>
          <a:noFill/>
          <a:ln/>
        </p:spPr>
        <p:txBody>
          <a:bodyPr wrap="square" lIns="0" tIns="0" rIns="0" bIns="0" rtlCol="0" anchor="t"/>
          <a:lstStyle/>
          <a:p>
            <a:pPr algn="ctr" indent="0" marL="0">
              <a:buNone/>
            </a:pPr>
            <a:r>
              <a:rPr lang="en-US" sz="900" dirty="0">
                <a:solidFill>
                  <a:srgbClr val="5E6573"/>
                </a:solidFill>
                <a:latin typeface="Calibri" pitchFamily="34" charset="0"/>
                <a:ea typeface="Calibri" pitchFamily="34" charset="-122"/>
                <a:cs typeface="Calibri" pitchFamily="34" charset="-120"/>
              </a:rPr>
              <a:t>200 ms</a:t>
            </a:r>
            <a:endParaRPr lang="en-US" sz="900" dirty="0"/>
          </a:p>
        </p:txBody>
      </p:sp>
      <p:sp>
        <p:nvSpPr>
          <p:cNvPr id="12" name="Shape 10"/>
          <p:cNvSpPr/>
          <p:nvPr/>
        </p:nvSpPr>
        <p:spPr>
          <a:xfrm>
            <a:off x="5806440" y="1737360"/>
            <a:ext cx="91" cy="3831336"/>
          </a:xfrm>
          <a:prstGeom prst="line">
            <a:avLst/>
          </a:prstGeom>
          <a:noFill/>
          <a:ln w="12700">
            <a:solidFill>
              <a:srgbClr val="E6E8EC"/>
            </a:solidFill>
            <a:prstDash val="solid"/>
          </a:ln>
        </p:spPr>
      </p:sp>
      <p:sp>
        <p:nvSpPr>
          <p:cNvPr id="13" name="Text 11"/>
          <p:cNvSpPr txBox="1"/>
          <p:nvPr/>
        </p:nvSpPr>
        <p:spPr>
          <a:xfrm>
            <a:off x="5440680" y="5614416"/>
            <a:ext cx="731520" cy="201168"/>
          </a:xfrm>
          <a:prstGeom prst="rect">
            <a:avLst/>
          </a:prstGeom>
          <a:noFill/>
          <a:ln/>
        </p:spPr>
        <p:txBody>
          <a:bodyPr wrap="square" lIns="0" tIns="0" rIns="0" bIns="0" rtlCol="0" anchor="t"/>
          <a:lstStyle/>
          <a:p>
            <a:pPr algn="ctr" indent="0" marL="0">
              <a:buNone/>
            </a:pPr>
            <a:r>
              <a:rPr lang="en-US" sz="900" dirty="0">
                <a:solidFill>
                  <a:srgbClr val="5E6573"/>
                </a:solidFill>
                <a:latin typeface="Calibri" pitchFamily="34" charset="0"/>
                <a:ea typeface="Calibri" pitchFamily="34" charset="-122"/>
                <a:cs typeface="Calibri" pitchFamily="34" charset="-120"/>
              </a:rPr>
              <a:t>300 ms</a:t>
            </a:r>
            <a:endParaRPr lang="en-US" sz="900" dirty="0"/>
          </a:p>
        </p:txBody>
      </p:sp>
      <p:sp>
        <p:nvSpPr>
          <p:cNvPr id="14" name="Shape 12"/>
          <p:cNvSpPr/>
          <p:nvPr/>
        </p:nvSpPr>
        <p:spPr>
          <a:xfrm>
            <a:off x="6903720" y="1737360"/>
            <a:ext cx="91" cy="3831336"/>
          </a:xfrm>
          <a:prstGeom prst="line">
            <a:avLst/>
          </a:prstGeom>
          <a:noFill/>
          <a:ln w="12700">
            <a:solidFill>
              <a:srgbClr val="E6E8EC"/>
            </a:solidFill>
            <a:prstDash val="solid"/>
          </a:ln>
        </p:spPr>
      </p:sp>
      <p:sp>
        <p:nvSpPr>
          <p:cNvPr id="15" name="Text 13"/>
          <p:cNvSpPr txBox="1"/>
          <p:nvPr/>
        </p:nvSpPr>
        <p:spPr>
          <a:xfrm>
            <a:off x="6537960" y="5614416"/>
            <a:ext cx="731520" cy="201168"/>
          </a:xfrm>
          <a:prstGeom prst="rect">
            <a:avLst/>
          </a:prstGeom>
          <a:noFill/>
          <a:ln/>
        </p:spPr>
        <p:txBody>
          <a:bodyPr wrap="square" lIns="0" tIns="0" rIns="0" bIns="0" rtlCol="0" anchor="t"/>
          <a:lstStyle/>
          <a:p>
            <a:pPr algn="ctr" indent="0" marL="0">
              <a:buNone/>
            </a:pPr>
            <a:r>
              <a:rPr lang="en-US" sz="900" dirty="0">
                <a:solidFill>
                  <a:srgbClr val="5E6573"/>
                </a:solidFill>
                <a:latin typeface="Calibri" pitchFamily="34" charset="0"/>
                <a:ea typeface="Calibri" pitchFamily="34" charset="-122"/>
                <a:cs typeface="Calibri" pitchFamily="34" charset="-120"/>
              </a:rPr>
              <a:t>400 ms</a:t>
            </a:r>
            <a:endParaRPr lang="en-US" sz="900" dirty="0"/>
          </a:p>
        </p:txBody>
      </p:sp>
      <p:sp>
        <p:nvSpPr>
          <p:cNvPr id="16" name="Text 14"/>
          <p:cNvSpPr txBox="1"/>
          <p:nvPr/>
        </p:nvSpPr>
        <p:spPr>
          <a:xfrm>
            <a:off x="548640" y="1783080"/>
            <a:ext cx="1856232" cy="420624"/>
          </a:xfrm>
          <a:prstGeom prst="rect">
            <a:avLst/>
          </a:prstGeom>
          <a:noFill/>
          <a:ln/>
        </p:spPr>
        <p:txBody>
          <a:bodyPr wrap="square" lIns="0" tIns="0" rIns="0" bIns="0" rtlCol="0" anchor="ctr"/>
          <a:lstStyle/>
          <a:p>
            <a:pPr algn="r" indent="0" marL="0">
              <a:buNone/>
            </a:pPr>
            <a:r>
              <a:rPr lang="en-US" sz="1050" dirty="0">
                <a:solidFill>
                  <a:srgbClr val="1F2430"/>
                </a:solidFill>
                <a:latin typeface="Calibri" pitchFamily="34" charset="0"/>
                <a:ea typeface="Calibri" pitchFamily="34" charset="-122"/>
                <a:cs typeface="Calibri" pitchFamily="34" charset="-120"/>
              </a:rPr>
              <a:t>index.optimized.js</a:t>
            </a:r>
            <a:endParaRPr lang="en-US" sz="1050" dirty="0"/>
          </a:p>
        </p:txBody>
      </p:sp>
      <p:sp>
        <p:nvSpPr>
          <p:cNvPr id="17" name="Shape 15"/>
          <p:cNvSpPr/>
          <p:nvPr/>
        </p:nvSpPr>
        <p:spPr>
          <a:xfrm>
            <a:off x="2514600" y="1865376"/>
            <a:ext cx="274320" cy="256032"/>
          </a:xfrm>
          <a:prstGeom prst="roundRect">
            <a:avLst>
              <a:gd name="adj" fmla="val 10714"/>
            </a:avLst>
          </a:prstGeom>
          <a:solidFill>
            <a:srgbClr val="D9622B"/>
          </a:solidFill>
          <a:ln/>
        </p:spPr>
      </p:sp>
      <p:sp>
        <p:nvSpPr>
          <p:cNvPr id="18" name="Text 16"/>
          <p:cNvSpPr txBox="1"/>
          <p:nvPr/>
        </p:nvSpPr>
        <p:spPr>
          <a:xfrm>
            <a:off x="2862072" y="1783080"/>
            <a:ext cx="822960" cy="420624"/>
          </a:xfrm>
          <a:prstGeom prst="rect">
            <a:avLst/>
          </a:prstGeom>
          <a:noFill/>
          <a:ln/>
        </p:spPr>
        <p:txBody>
          <a:bodyPr wrap="square" lIns="0" tIns="0" rIns="0" bIns="0" rtlCol="0" anchor="ctr"/>
          <a:lstStyle/>
          <a:p>
            <a:pPr indent="0" marL="0">
              <a:buNone/>
            </a:pPr>
            <a:r>
              <a:rPr lang="en-US" sz="1000" dirty="0">
                <a:solidFill>
                  <a:srgbClr val="1F2430"/>
                </a:solidFill>
                <a:latin typeface="Calibri" pitchFamily="34" charset="0"/>
                <a:ea typeface="Calibri" pitchFamily="34" charset="-122"/>
                <a:cs typeface="Calibri" pitchFamily="34" charset="-120"/>
              </a:rPr>
              <a:t>0 ms</a:t>
            </a:r>
            <a:endParaRPr lang="en-US" sz="1000" dirty="0"/>
          </a:p>
        </p:txBody>
      </p:sp>
      <p:sp>
        <p:nvSpPr>
          <p:cNvPr id="19" name="Text 17"/>
          <p:cNvSpPr txBox="1"/>
          <p:nvPr/>
        </p:nvSpPr>
        <p:spPr>
          <a:xfrm>
            <a:off x="548640" y="2203704"/>
            <a:ext cx="1856232" cy="420624"/>
          </a:xfrm>
          <a:prstGeom prst="rect">
            <a:avLst/>
          </a:prstGeom>
          <a:noFill/>
          <a:ln/>
        </p:spPr>
        <p:txBody>
          <a:bodyPr wrap="square" lIns="0" tIns="0" rIns="0" bIns="0" rtlCol="0" anchor="ctr"/>
          <a:lstStyle/>
          <a:p>
            <a:pPr algn="r" indent="0" marL="0">
              <a:buNone/>
            </a:pPr>
            <a:r>
              <a:rPr lang="en-US" sz="1050" dirty="0">
                <a:solidFill>
                  <a:srgbClr val="1F2430"/>
                </a:solidFill>
                <a:latin typeface="Calibri" pitchFamily="34" charset="0"/>
                <a:ea typeface="Calibri" pitchFamily="34" charset="-122"/>
                <a:cs typeface="Calibri" pitchFamily="34" charset="-120"/>
              </a:rPr>
              <a:t>vendor-chart.js</a:t>
            </a:r>
            <a:endParaRPr lang="en-US" sz="1050" dirty="0"/>
          </a:p>
        </p:txBody>
      </p:sp>
      <p:sp>
        <p:nvSpPr>
          <p:cNvPr id="20" name="Shape 18"/>
          <p:cNvSpPr/>
          <p:nvPr/>
        </p:nvSpPr>
        <p:spPr>
          <a:xfrm>
            <a:off x="2527767" y="2286000"/>
            <a:ext cx="274320" cy="256032"/>
          </a:xfrm>
          <a:prstGeom prst="roundRect">
            <a:avLst>
              <a:gd name="adj" fmla="val 10714"/>
            </a:avLst>
          </a:prstGeom>
          <a:solidFill>
            <a:srgbClr val="D9622B"/>
          </a:solidFill>
          <a:ln/>
        </p:spPr>
      </p:sp>
      <p:sp>
        <p:nvSpPr>
          <p:cNvPr id="21" name="Text 19"/>
          <p:cNvSpPr txBox="1"/>
          <p:nvPr/>
        </p:nvSpPr>
        <p:spPr>
          <a:xfrm>
            <a:off x="2875239" y="2203704"/>
            <a:ext cx="822960" cy="420624"/>
          </a:xfrm>
          <a:prstGeom prst="rect">
            <a:avLst/>
          </a:prstGeom>
          <a:noFill/>
          <a:ln/>
        </p:spPr>
        <p:txBody>
          <a:bodyPr wrap="square" lIns="0" tIns="0" rIns="0" bIns="0" rtlCol="0" anchor="ctr"/>
          <a:lstStyle/>
          <a:p>
            <a:pPr indent="0" marL="0">
              <a:buNone/>
            </a:pPr>
            <a:r>
              <a:rPr lang="en-US" sz="1000" dirty="0">
                <a:solidFill>
                  <a:srgbClr val="1F2430"/>
                </a:solidFill>
                <a:latin typeface="Calibri" pitchFamily="34" charset="0"/>
                <a:ea typeface="Calibri" pitchFamily="34" charset="-122"/>
                <a:cs typeface="Calibri" pitchFamily="34" charset="-120"/>
              </a:rPr>
              <a:t>1 ms</a:t>
            </a:r>
            <a:endParaRPr lang="en-US" sz="1000" dirty="0"/>
          </a:p>
        </p:txBody>
      </p:sp>
      <p:sp>
        <p:nvSpPr>
          <p:cNvPr id="22" name="Text 20"/>
          <p:cNvSpPr txBox="1"/>
          <p:nvPr/>
        </p:nvSpPr>
        <p:spPr>
          <a:xfrm>
            <a:off x="548640" y="2624328"/>
            <a:ext cx="1856232" cy="420624"/>
          </a:xfrm>
          <a:prstGeom prst="rect">
            <a:avLst/>
          </a:prstGeom>
          <a:noFill/>
          <a:ln/>
        </p:spPr>
        <p:txBody>
          <a:bodyPr wrap="square" lIns="0" tIns="0" rIns="0" bIns="0" rtlCol="0" anchor="ctr"/>
          <a:lstStyle/>
          <a:p>
            <a:pPr algn="r" indent="0" marL="0">
              <a:buNone/>
            </a:pPr>
            <a:r>
              <a:rPr lang="en-US" sz="1050" dirty="0">
                <a:solidFill>
                  <a:srgbClr val="1F2430"/>
                </a:solidFill>
                <a:latin typeface="Calibri" pitchFamily="34" charset="0"/>
                <a:ea typeface="Calibri" pitchFamily="34" charset="-122"/>
                <a:cs typeface="Calibri" pitchFamily="34" charset="-120"/>
              </a:rPr>
              <a:t>vendor-vue.js</a:t>
            </a:r>
            <a:endParaRPr lang="en-US" sz="1050" dirty="0"/>
          </a:p>
        </p:txBody>
      </p:sp>
      <p:sp>
        <p:nvSpPr>
          <p:cNvPr id="23" name="Shape 21"/>
          <p:cNvSpPr/>
          <p:nvPr/>
        </p:nvSpPr>
        <p:spPr>
          <a:xfrm>
            <a:off x="2534351" y="2706624"/>
            <a:ext cx="274320" cy="256032"/>
          </a:xfrm>
          <a:prstGeom prst="roundRect">
            <a:avLst>
              <a:gd name="adj" fmla="val 10714"/>
            </a:avLst>
          </a:prstGeom>
          <a:solidFill>
            <a:srgbClr val="D9622B"/>
          </a:solidFill>
          <a:ln/>
        </p:spPr>
      </p:sp>
      <p:sp>
        <p:nvSpPr>
          <p:cNvPr id="24" name="Text 22"/>
          <p:cNvSpPr txBox="1"/>
          <p:nvPr/>
        </p:nvSpPr>
        <p:spPr>
          <a:xfrm>
            <a:off x="2881823" y="2624328"/>
            <a:ext cx="822960" cy="420624"/>
          </a:xfrm>
          <a:prstGeom prst="rect">
            <a:avLst/>
          </a:prstGeom>
          <a:noFill/>
          <a:ln/>
        </p:spPr>
        <p:txBody>
          <a:bodyPr wrap="square" lIns="0" tIns="0" rIns="0" bIns="0" rtlCol="0" anchor="ctr"/>
          <a:lstStyle/>
          <a:p>
            <a:pPr indent="0" marL="0">
              <a:buNone/>
            </a:pPr>
            <a:r>
              <a:rPr lang="en-US" sz="1000" dirty="0">
                <a:solidFill>
                  <a:srgbClr val="1F2430"/>
                </a:solidFill>
                <a:latin typeface="Calibri" pitchFamily="34" charset="0"/>
                <a:ea typeface="Calibri" pitchFamily="34" charset="-122"/>
                <a:cs typeface="Calibri" pitchFamily="34" charset="-120"/>
              </a:rPr>
              <a:t>2 ms</a:t>
            </a:r>
            <a:endParaRPr lang="en-US" sz="1000" dirty="0"/>
          </a:p>
        </p:txBody>
      </p:sp>
      <p:sp>
        <p:nvSpPr>
          <p:cNvPr id="25" name="Text 23"/>
          <p:cNvSpPr txBox="1"/>
          <p:nvPr/>
        </p:nvSpPr>
        <p:spPr>
          <a:xfrm>
            <a:off x="548640" y="3044952"/>
            <a:ext cx="1856232" cy="420624"/>
          </a:xfrm>
          <a:prstGeom prst="rect">
            <a:avLst/>
          </a:prstGeom>
          <a:noFill/>
          <a:ln/>
        </p:spPr>
        <p:txBody>
          <a:bodyPr wrap="square" lIns="0" tIns="0" rIns="0" bIns="0" rtlCol="0" anchor="ctr"/>
          <a:lstStyle/>
          <a:p>
            <a:pPr algn="r" indent="0" marL="0">
              <a:buNone/>
            </a:pPr>
            <a:r>
              <a:rPr lang="en-US" sz="1050" dirty="0">
                <a:solidFill>
                  <a:srgbClr val="1F2430"/>
                </a:solidFill>
                <a:latin typeface="Calibri" pitchFamily="34" charset="0"/>
                <a:ea typeface="Calibri" pitchFamily="34" charset="-122"/>
                <a:cs typeface="Calibri" pitchFamily="34" charset="-120"/>
              </a:rPr>
              <a:t>DashboardView.js</a:t>
            </a:r>
            <a:endParaRPr lang="en-US" sz="1050" dirty="0"/>
          </a:p>
        </p:txBody>
      </p:sp>
      <p:sp>
        <p:nvSpPr>
          <p:cNvPr id="26" name="Shape 24"/>
          <p:cNvSpPr/>
          <p:nvPr/>
        </p:nvSpPr>
        <p:spPr>
          <a:xfrm>
            <a:off x="3932286" y="3127248"/>
            <a:ext cx="274320" cy="256032"/>
          </a:xfrm>
          <a:prstGeom prst="roundRect">
            <a:avLst>
              <a:gd name="adj" fmla="val 10714"/>
            </a:avLst>
          </a:prstGeom>
          <a:solidFill>
            <a:srgbClr val="D9622B"/>
          </a:solidFill>
          <a:ln/>
        </p:spPr>
      </p:sp>
      <p:sp>
        <p:nvSpPr>
          <p:cNvPr id="27" name="Text 25"/>
          <p:cNvSpPr txBox="1"/>
          <p:nvPr/>
        </p:nvSpPr>
        <p:spPr>
          <a:xfrm>
            <a:off x="4279758" y="3044952"/>
            <a:ext cx="822960" cy="420624"/>
          </a:xfrm>
          <a:prstGeom prst="rect">
            <a:avLst/>
          </a:prstGeom>
          <a:noFill/>
          <a:ln/>
        </p:spPr>
        <p:txBody>
          <a:bodyPr wrap="square" lIns="0" tIns="0" rIns="0" bIns="0" rtlCol="0" anchor="ctr"/>
          <a:lstStyle/>
          <a:p>
            <a:pPr indent="0" marL="0">
              <a:buNone/>
            </a:pPr>
            <a:r>
              <a:rPr lang="en-US" sz="1000" dirty="0">
                <a:solidFill>
                  <a:srgbClr val="1F2430"/>
                </a:solidFill>
                <a:latin typeface="Calibri" pitchFamily="34" charset="0"/>
                <a:ea typeface="Calibri" pitchFamily="34" charset="-122"/>
                <a:cs typeface="Calibri" pitchFamily="34" charset="-120"/>
              </a:rPr>
              <a:t>129 ms</a:t>
            </a:r>
            <a:endParaRPr lang="en-US" sz="1000" dirty="0"/>
          </a:p>
        </p:txBody>
      </p:sp>
      <p:sp>
        <p:nvSpPr>
          <p:cNvPr id="28" name="Text 26"/>
          <p:cNvSpPr txBox="1"/>
          <p:nvPr/>
        </p:nvSpPr>
        <p:spPr>
          <a:xfrm>
            <a:off x="548640" y="3465576"/>
            <a:ext cx="1856232" cy="420624"/>
          </a:xfrm>
          <a:prstGeom prst="rect">
            <a:avLst/>
          </a:prstGeom>
          <a:noFill/>
          <a:ln/>
        </p:spPr>
        <p:txBody>
          <a:bodyPr wrap="square" lIns="0" tIns="0" rIns="0" bIns="0" rtlCol="0" anchor="ctr"/>
          <a:lstStyle/>
          <a:p>
            <a:pPr algn="r" indent="0" marL="0">
              <a:buNone/>
            </a:pPr>
            <a:r>
              <a:rPr lang="en-US" sz="1050" dirty="0">
                <a:solidFill>
                  <a:srgbClr val="1F2430"/>
                </a:solidFill>
                <a:latin typeface="Calibri" pitchFamily="34" charset="0"/>
                <a:ea typeface="Calibri" pitchFamily="34" charset="-122"/>
                <a:cs typeface="Calibri" pitchFamily="34" charset="-120"/>
              </a:rPr>
              <a:t>supabase.js</a:t>
            </a:r>
            <a:endParaRPr lang="en-US" sz="1050" dirty="0"/>
          </a:p>
        </p:txBody>
      </p:sp>
      <p:sp>
        <p:nvSpPr>
          <p:cNvPr id="29" name="Shape 27"/>
          <p:cNvSpPr/>
          <p:nvPr/>
        </p:nvSpPr>
        <p:spPr>
          <a:xfrm>
            <a:off x="3945453" y="3547872"/>
            <a:ext cx="274320" cy="256032"/>
          </a:xfrm>
          <a:prstGeom prst="roundRect">
            <a:avLst>
              <a:gd name="adj" fmla="val 10714"/>
            </a:avLst>
          </a:prstGeom>
          <a:solidFill>
            <a:srgbClr val="D9622B"/>
          </a:solidFill>
          <a:ln/>
        </p:spPr>
      </p:sp>
      <p:sp>
        <p:nvSpPr>
          <p:cNvPr id="30" name="Text 28"/>
          <p:cNvSpPr txBox="1"/>
          <p:nvPr/>
        </p:nvSpPr>
        <p:spPr>
          <a:xfrm>
            <a:off x="4292925" y="3465576"/>
            <a:ext cx="822960" cy="420624"/>
          </a:xfrm>
          <a:prstGeom prst="rect">
            <a:avLst/>
          </a:prstGeom>
          <a:noFill/>
          <a:ln/>
        </p:spPr>
        <p:txBody>
          <a:bodyPr wrap="square" lIns="0" tIns="0" rIns="0" bIns="0" rtlCol="0" anchor="ctr"/>
          <a:lstStyle/>
          <a:p>
            <a:pPr indent="0" marL="0">
              <a:buNone/>
            </a:pPr>
            <a:r>
              <a:rPr lang="en-US" sz="1000" dirty="0">
                <a:solidFill>
                  <a:srgbClr val="1F2430"/>
                </a:solidFill>
                <a:latin typeface="Calibri" pitchFamily="34" charset="0"/>
                <a:ea typeface="Calibri" pitchFamily="34" charset="-122"/>
                <a:cs typeface="Calibri" pitchFamily="34" charset="-120"/>
              </a:rPr>
              <a:t>130 ms</a:t>
            </a:r>
            <a:endParaRPr lang="en-US" sz="1000" dirty="0"/>
          </a:p>
        </p:txBody>
      </p:sp>
      <p:sp>
        <p:nvSpPr>
          <p:cNvPr id="31" name="Text 29"/>
          <p:cNvSpPr txBox="1"/>
          <p:nvPr/>
        </p:nvSpPr>
        <p:spPr>
          <a:xfrm>
            <a:off x="548640" y="3886200"/>
            <a:ext cx="1856232" cy="420624"/>
          </a:xfrm>
          <a:prstGeom prst="rect">
            <a:avLst/>
          </a:prstGeom>
          <a:noFill/>
          <a:ln/>
        </p:spPr>
        <p:txBody>
          <a:bodyPr wrap="square" lIns="0" tIns="0" rIns="0" bIns="0" rtlCol="0" anchor="ctr"/>
          <a:lstStyle/>
          <a:p>
            <a:pPr algn="r" indent="0" marL="0">
              <a:buNone/>
            </a:pPr>
            <a:r>
              <a:rPr lang="en-US" sz="1050" dirty="0">
                <a:solidFill>
                  <a:srgbClr val="1F2430"/>
                </a:solidFill>
                <a:latin typeface="Calibri" pitchFamily="34" charset="0"/>
                <a:ea typeface="Calibri" pitchFamily="34" charset="-122"/>
                <a:cs typeface="Calibri" pitchFamily="34" charset="-120"/>
              </a:rPr>
              <a:t>DaftarJudulView.js</a:t>
            </a:r>
            <a:endParaRPr lang="en-US" sz="1050" dirty="0"/>
          </a:p>
        </p:txBody>
      </p:sp>
      <p:sp>
        <p:nvSpPr>
          <p:cNvPr id="32" name="Shape 30"/>
          <p:cNvSpPr/>
          <p:nvPr/>
        </p:nvSpPr>
        <p:spPr>
          <a:xfrm>
            <a:off x="6370442" y="3968496"/>
            <a:ext cx="274320" cy="256032"/>
          </a:xfrm>
          <a:prstGeom prst="roundRect">
            <a:avLst>
              <a:gd name="adj" fmla="val 10714"/>
            </a:avLst>
          </a:prstGeom>
          <a:solidFill>
            <a:srgbClr val="1A9C74"/>
          </a:solidFill>
          <a:ln/>
        </p:spPr>
      </p:sp>
      <p:sp>
        <p:nvSpPr>
          <p:cNvPr id="33" name="Text 31"/>
          <p:cNvSpPr txBox="1"/>
          <p:nvPr/>
        </p:nvSpPr>
        <p:spPr>
          <a:xfrm>
            <a:off x="6717914" y="3886200"/>
            <a:ext cx="822960" cy="420624"/>
          </a:xfrm>
          <a:prstGeom prst="rect">
            <a:avLst/>
          </a:prstGeom>
          <a:noFill/>
          <a:ln/>
        </p:spPr>
        <p:txBody>
          <a:bodyPr wrap="square" lIns="0" tIns="0" rIns="0" bIns="0" rtlCol="0" anchor="ctr"/>
          <a:lstStyle/>
          <a:p>
            <a:pPr indent="0" marL="0">
              <a:buNone/>
            </a:pPr>
            <a:r>
              <a:rPr lang="en-US" sz="1000" dirty="0">
                <a:solidFill>
                  <a:srgbClr val="1F2430"/>
                </a:solidFill>
                <a:latin typeface="Calibri" pitchFamily="34" charset="0"/>
                <a:ea typeface="Calibri" pitchFamily="34" charset="-122"/>
                <a:cs typeface="Calibri" pitchFamily="34" charset="-120"/>
              </a:rPr>
              <a:t>351 ms</a:t>
            </a:r>
            <a:endParaRPr lang="en-US" sz="1000" dirty="0"/>
          </a:p>
        </p:txBody>
      </p:sp>
      <p:sp>
        <p:nvSpPr>
          <p:cNvPr id="34" name="Text 32"/>
          <p:cNvSpPr txBox="1"/>
          <p:nvPr/>
        </p:nvSpPr>
        <p:spPr>
          <a:xfrm>
            <a:off x="548640" y="4306824"/>
            <a:ext cx="1856232" cy="420624"/>
          </a:xfrm>
          <a:prstGeom prst="rect">
            <a:avLst/>
          </a:prstGeom>
          <a:noFill/>
          <a:ln/>
        </p:spPr>
        <p:txBody>
          <a:bodyPr wrap="square" lIns="0" tIns="0" rIns="0" bIns="0" rtlCol="0" anchor="ctr"/>
          <a:lstStyle/>
          <a:p>
            <a:pPr algn="r" indent="0" marL="0">
              <a:buNone/>
            </a:pPr>
            <a:r>
              <a:rPr lang="en-US" sz="1050" dirty="0">
                <a:solidFill>
                  <a:srgbClr val="1F2430"/>
                </a:solidFill>
                <a:latin typeface="Calibri" pitchFamily="34" charset="0"/>
                <a:ea typeface="Calibri" pitchFamily="34" charset="-122"/>
                <a:cs typeface="Calibri" pitchFamily="34" charset="-120"/>
              </a:rPr>
              <a:t>DetailBimbinganView.js</a:t>
            </a:r>
            <a:endParaRPr lang="en-US" sz="1050" dirty="0"/>
          </a:p>
        </p:txBody>
      </p:sp>
      <p:sp>
        <p:nvSpPr>
          <p:cNvPr id="35" name="Shape 33"/>
          <p:cNvSpPr/>
          <p:nvPr/>
        </p:nvSpPr>
        <p:spPr>
          <a:xfrm>
            <a:off x="6381415" y="4389120"/>
            <a:ext cx="274320" cy="256032"/>
          </a:xfrm>
          <a:prstGeom prst="roundRect">
            <a:avLst>
              <a:gd name="adj" fmla="val 10714"/>
            </a:avLst>
          </a:prstGeom>
          <a:solidFill>
            <a:srgbClr val="1A9C74"/>
          </a:solidFill>
          <a:ln/>
        </p:spPr>
      </p:sp>
      <p:sp>
        <p:nvSpPr>
          <p:cNvPr id="36" name="Text 34"/>
          <p:cNvSpPr txBox="1"/>
          <p:nvPr/>
        </p:nvSpPr>
        <p:spPr>
          <a:xfrm>
            <a:off x="6728887" y="4306824"/>
            <a:ext cx="822960" cy="420624"/>
          </a:xfrm>
          <a:prstGeom prst="rect">
            <a:avLst/>
          </a:prstGeom>
          <a:noFill/>
          <a:ln/>
        </p:spPr>
        <p:txBody>
          <a:bodyPr wrap="square" lIns="0" tIns="0" rIns="0" bIns="0" rtlCol="0" anchor="ctr"/>
          <a:lstStyle/>
          <a:p>
            <a:pPr indent="0" marL="0">
              <a:buNone/>
            </a:pPr>
            <a:r>
              <a:rPr lang="en-US" sz="1000" dirty="0">
                <a:solidFill>
                  <a:srgbClr val="1F2430"/>
                </a:solidFill>
                <a:latin typeface="Calibri" pitchFamily="34" charset="0"/>
                <a:ea typeface="Calibri" pitchFamily="34" charset="-122"/>
                <a:cs typeface="Calibri" pitchFamily="34" charset="-120"/>
              </a:rPr>
              <a:t>352 ms</a:t>
            </a:r>
            <a:endParaRPr lang="en-US" sz="1000" dirty="0"/>
          </a:p>
        </p:txBody>
      </p:sp>
      <p:sp>
        <p:nvSpPr>
          <p:cNvPr id="37" name="Text 35"/>
          <p:cNvSpPr txBox="1"/>
          <p:nvPr/>
        </p:nvSpPr>
        <p:spPr>
          <a:xfrm>
            <a:off x="548640" y="4727448"/>
            <a:ext cx="1856232" cy="420624"/>
          </a:xfrm>
          <a:prstGeom prst="rect">
            <a:avLst/>
          </a:prstGeom>
          <a:noFill/>
          <a:ln/>
        </p:spPr>
        <p:txBody>
          <a:bodyPr wrap="square" lIns="0" tIns="0" rIns="0" bIns="0" rtlCol="0" anchor="ctr"/>
          <a:lstStyle/>
          <a:p>
            <a:pPr algn="r" indent="0" marL="0">
              <a:buNone/>
            </a:pPr>
            <a:r>
              <a:rPr lang="en-US" sz="1050" dirty="0">
                <a:solidFill>
                  <a:srgbClr val="5E6573"/>
                </a:solidFill>
                <a:latin typeface="Calibri" pitchFamily="34" charset="0"/>
                <a:ea typeface="Calibri" pitchFamily="34" charset="-122"/>
                <a:cs typeface="Calibri" pitchFamily="34" charset="-120"/>
              </a:rPr>
              <a:t>JadwalSeminarView.js</a:t>
            </a:r>
            <a:endParaRPr lang="en-US" sz="1050" dirty="0"/>
          </a:p>
        </p:txBody>
      </p:sp>
      <p:sp>
        <p:nvSpPr>
          <p:cNvPr id="38" name="Shape 36"/>
          <p:cNvSpPr/>
          <p:nvPr/>
        </p:nvSpPr>
        <p:spPr>
          <a:xfrm>
            <a:off x="2514600" y="4800600"/>
            <a:ext cx="4937760" cy="274320"/>
          </a:xfrm>
          <a:prstGeom prst="rect">
            <a:avLst/>
          </a:prstGeom>
          <a:solidFill>
            <a:srgbClr val="F4F5F7"/>
          </a:solidFill>
          <a:ln w="12700">
            <a:solidFill>
              <a:srgbClr val="D9DCE3"/>
            </a:solidFill>
            <a:prstDash val="dash"/>
          </a:ln>
        </p:spPr>
      </p:sp>
      <p:sp>
        <p:nvSpPr>
          <p:cNvPr id="39" name="Text 37"/>
          <p:cNvSpPr txBox="1"/>
          <p:nvPr/>
        </p:nvSpPr>
        <p:spPr>
          <a:xfrm>
            <a:off x="2514600" y="4727448"/>
            <a:ext cx="4937760" cy="420624"/>
          </a:xfrm>
          <a:prstGeom prst="rect">
            <a:avLst/>
          </a:prstGeom>
          <a:noFill/>
          <a:ln/>
        </p:spPr>
        <p:txBody>
          <a:bodyPr wrap="square" lIns="0" tIns="0" rIns="0" bIns="0" rtlCol="0" anchor="ctr"/>
          <a:lstStyle/>
          <a:p>
            <a:pPr algn="ctr" indent="0" marL="0">
              <a:buNone/>
            </a:pPr>
            <a:r>
              <a:rPr lang="en-US" sz="1000" i="1" dirty="0">
                <a:solidFill>
                  <a:srgbClr val="5E6573"/>
                </a:solidFill>
                <a:latin typeface="Calibri" pitchFamily="34" charset="0"/>
                <a:ea typeface="Calibri" pitchFamily="34" charset="-122"/>
                <a:cs typeface="Calibri" pitchFamily="34" charset="-120"/>
              </a:rPr>
              <a:t>tidak diunduh, menunggu diklik</a:t>
            </a:r>
            <a:endParaRPr lang="en-US" sz="1000" dirty="0"/>
          </a:p>
        </p:txBody>
      </p:sp>
      <p:sp>
        <p:nvSpPr>
          <p:cNvPr id="40" name="Text 38"/>
          <p:cNvSpPr txBox="1"/>
          <p:nvPr/>
        </p:nvSpPr>
        <p:spPr>
          <a:xfrm>
            <a:off x="548640" y="5148072"/>
            <a:ext cx="1856232" cy="420624"/>
          </a:xfrm>
          <a:prstGeom prst="rect">
            <a:avLst/>
          </a:prstGeom>
          <a:noFill/>
          <a:ln/>
        </p:spPr>
        <p:txBody>
          <a:bodyPr wrap="square" lIns="0" tIns="0" rIns="0" bIns="0" rtlCol="0" anchor="ctr"/>
          <a:lstStyle/>
          <a:p>
            <a:pPr algn="r" indent="0" marL="0">
              <a:buNone/>
            </a:pPr>
            <a:r>
              <a:rPr lang="en-US" sz="1050" dirty="0">
                <a:solidFill>
                  <a:srgbClr val="5E6573"/>
                </a:solidFill>
                <a:latin typeface="Calibri" pitchFamily="34" charset="0"/>
                <a:ea typeface="Calibri" pitchFamily="34" charset="-122"/>
                <a:cs typeface="Calibri" pitchFamily="34" charset="-120"/>
              </a:rPr>
              <a:t>PengaturanView.js</a:t>
            </a:r>
            <a:endParaRPr lang="en-US" sz="1050" dirty="0"/>
          </a:p>
        </p:txBody>
      </p:sp>
      <p:sp>
        <p:nvSpPr>
          <p:cNvPr id="41" name="Shape 39"/>
          <p:cNvSpPr/>
          <p:nvPr/>
        </p:nvSpPr>
        <p:spPr>
          <a:xfrm>
            <a:off x="2514600" y="5221224"/>
            <a:ext cx="4937760" cy="274320"/>
          </a:xfrm>
          <a:prstGeom prst="rect">
            <a:avLst/>
          </a:prstGeom>
          <a:solidFill>
            <a:srgbClr val="F4F5F7"/>
          </a:solidFill>
          <a:ln w="12700">
            <a:solidFill>
              <a:srgbClr val="D9DCE3"/>
            </a:solidFill>
            <a:prstDash val="dash"/>
          </a:ln>
        </p:spPr>
      </p:sp>
      <p:sp>
        <p:nvSpPr>
          <p:cNvPr id="42" name="Text 40"/>
          <p:cNvSpPr txBox="1"/>
          <p:nvPr/>
        </p:nvSpPr>
        <p:spPr>
          <a:xfrm>
            <a:off x="2514600" y="5148072"/>
            <a:ext cx="4937760" cy="420624"/>
          </a:xfrm>
          <a:prstGeom prst="rect">
            <a:avLst/>
          </a:prstGeom>
          <a:noFill/>
          <a:ln/>
        </p:spPr>
        <p:txBody>
          <a:bodyPr wrap="square" lIns="0" tIns="0" rIns="0" bIns="0" rtlCol="0" anchor="ctr"/>
          <a:lstStyle/>
          <a:p>
            <a:pPr algn="ctr" indent="0" marL="0">
              <a:buNone/>
            </a:pPr>
            <a:r>
              <a:rPr lang="en-US" sz="1000" i="1" dirty="0">
                <a:solidFill>
                  <a:srgbClr val="5E6573"/>
                </a:solidFill>
                <a:latin typeface="Calibri" pitchFamily="34" charset="0"/>
                <a:ea typeface="Calibri" pitchFamily="34" charset="-122"/>
                <a:cs typeface="Calibri" pitchFamily="34" charset="-120"/>
              </a:rPr>
              <a:t>tidak diunduh, menunggu diklik</a:t>
            </a:r>
            <a:endParaRPr lang="en-US" sz="1000" dirty="0"/>
          </a:p>
        </p:txBody>
      </p:sp>
      <p:sp>
        <p:nvSpPr>
          <p:cNvPr id="43" name="Text 41"/>
          <p:cNvSpPr txBox="1"/>
          <p:nvPr/>
        </p:nvSpPr>
        <p:spPr>
          <a:xfrm>
            <a:off x="548640" y="5852160"/>
            <a:ext cx="7315200" cy="228600"/>
          </a:xfrm>
          <a:prstGeom prst="rect">
            <a:avLst/>
          </a:prstGeom>
          <a:noFill/>
          <a:ln/>
        </p:spPr>
        <p:txBody>
          <a:bodyPr wrap="square" lIns="0" tIns="0" rIns="0" bIns="0" rtlCol="0" anchor="t"/>
          <a:lstStyle/>
          <a:p>
            <a:pPr indent="0" marL="0">
              <a:buNone/>
            </a:pPr>
            <a:r>
              <a:rPr lang="en-US" sz="950" i="1" dirty="0">
                <a:solidFill>
                  <a:srgbClr val="5E6573"/>
                </a:solidFill>
                <a:latin typeface="Calibri" pitchFamily="34" charset="0"/>
                <a:ea typeface="Calibri" pitchFamily="34" charset="-122"/>
                <a:cs typeface="Calibri" pitchFamily="34" charset="-120"/>
              </a:rPr>
              <a:t>Rekaman ukur_prefetch.cjs · rata-rata 5 repetisi · data_pengukuran/prefetch_network_log.json</a:t>
            </a:r>
            <a:endParaRPr lang="en-US" sz="950" dirty="0"/>
          </a:p>
        </p:txBody>
      </p:sp>
      <p:sp>
        <p:nvSpPr>
          <p:cNvPr id="44" name="Shape 42"/>
          <p:cNvSpPr/>
          <p:nvPr/>
        </p:nvSpPr>
        <p:spPr>
          <a:xfrm>
            <a:off x="8001000" y="1737360"/>
            <a:ext cx="3642055" cy="1188720"/>
          </a:xfrm>
          <a:prstGeom prst="roundRect">
            <a:avLst>
              <a:gd name="adj" fmla="val 4615"/>
            </a:avLst>
          </a:prstGeom>
          <a:solidFill>
            <a:srgbClr val="F3F4F7"/>
          </a:solidFill>
          <a:ln/>
        </p:spPr>
      </p:sp>
      <p:sp>
        <p:nvSpPr>
          <p:cNvPr id="45" name="Text 43"/>
          <p:cNvSpPr txBox="1"/>
          <p:nvPr/>
        </p:nvSpPr>
        <p:spPr>
          <a:xfrm>
            <a:off x="8229600" y="1847088"/>
            <a:ext cx="3184855" cy="548640"/>
          </a:xfrm>
          <a:prstGeom prst="rect">
            <a:avLst/>
          </a:prstGeom>
          <a:noFill/>
          <a:ln/>
        </p:spPr>
        <p:txBody>
          <a:bodyPr wrap="square" lIns="0" tIns="0" rIns="0" bIns="0" rtlCol="0" anchor="t"/>
          <a:lstStyle/>
          <a:p>
            <a:pPr indent="0" marL="0">
              <a:buNone/>
            </a:pPr>
            <a:r>
              <a:rPr lang="en-US" sz="2800" b="1" dirty="0">
                <a:solidFill>
                  <a:srgbClr val="D9622B"/>
                </a:solidFill>
                <a:latin typeface="Cambria" pitchFamily="34" charset="0"/>
                <a:ea typeface="Cambria" pitchFamily="34" charset="-122"/>
                <a:cs typeface="Cambria" pitchFamily="34" charset="-120"/>
              </a:rPr>
              <a:t>120,1 KB</a:t>
            </a:r>
            <a:endParaRPr lang="en-US" sz="2800" dirty="0"/>
          </a:p>
        </p:txBody>
      </p:sp>
      <p:sp>
        <p:nvSpPr>
          <p:cNvPr id="46" name="Text 44"/>
          <p:cNvSpPr txBox="1"/>
          <p:nvPr/>
        </p:nvSpPr>
        <p:spPr>
          <a:xfrm>
            <a:off x="8229600" y="2395728"/>
            <a:ext cx="3184855" cy="502920"/>
          </a:xfrm>
          <a:prstGeom prst="rect">
            <a:avLst/>
          </a:prstGeom>
          <a:noFill/>
          <a:ln/>
        </p:spPr>
        <p:txBody>
          <a:bodyPr wrap="square" lIns="0" tIns="0" rIns="0" bIns="0" rtlCol="0" anchor="t"/>
          <a:lstStyle/>
          <a:p>
            <a:pPr indent="0" marL="0">
              <a:buNone/>
            </a:pPr>
            <a:r>
              <a:rPr lang="en-US" sz="1200" b="1" dirty="0">
                <a:solidFill>
                  <a:srgbClr val="1F2430"/>
                </a:solidFill>
                <a:latin typeface="Calibri" pitchFamily="34" charset="0"/>
                <a:ea typeface="Calibri" pitchFamily="34" charset="-122"/>
                <a:cs typeface="Calibri" pitchFamily="34" charset="-120"/>
              </a:rPr>
              <a:t>dimuat awal</a:t>
            </a:r>
            <a:endParaRPr lang="en-US" sz="1200" dirty="0"/>
          </a:p>
          <a:p>
            <a:pPr indent="0" marL="0">
              <a:buNone/>
            </a:pPr>
            <a:r>
              <a:rPr lang="en-US" sz="1050" dirty="0">
                <a:solidFill>
                  <a:srgbClr val="5E6573"/>
                </a:solidFill>
                <a:latin typeface="Calibri" pitchFamily="34" charset="0"/>
                <a:ea typeface="Calibri" pitchFamily="34" charset="-122"/>
                <a:cs typeface="Calibri" pitchFamily="34" charset="-120"/>
              </a:rPr>
              <a:t>5 berkas terkompresi untuk halaman pertama</a:t>
            </a:r>
            <a:endParaRPr lang="en-US" sz="1200" dirty="0"/>
          </a:p>
        </p:txBody>
      </p:sp>
      <p:sp>
        <p:nvSpPr>
          <p:cNvPr id="47" name="Shape 45"/>
          <p:cNvSpPr/>
          <p:nvPr/>
        </p:nvSpPr>
        <p:spPr>
          <a:xfrm>
            <a:off x="8001000" y="3108960"/>
            <a:ext cx="3642055" cy="1188720"/>
          </a:xfrm>
          <a:prstGeom prst="roundRect">
            <a:avLst>
              <a:gd name="adj" fmla="val 4615"/>
            </a:avLst>
          </a:prstGeom>
          <a:solidFill>
            <a:srgbClr val="F3F4F7"/>
          </a:solidFill>
          <a:ln/>
        </p:spPr>
      </p:sp>
      <p:sp>
        <p:nvSpPr>
          <p:cNvPr id="48" name="Text 46"/>
          <p:cNvSpPr txBox="1"/>
          <p:nvPr/>
        </p:nvSpPr>
        <p:spPr>
          <a:xfrm>
            <a:off x="8229600" y="3218688"/>
            <a:ext cx="3184855" cy="548640"/>
          </a:xfrm>
          <a:prstGeom prst="rect">
            <a:avLst/>
          </a:prstGeom>
          <a:noFill/>
          <a:ln/>
        </p:spPr>
        <p:txBody>
          <a:bodyPr wrap="square" lIns="0" tIns="0" rIns="0" bIns="0" rtlCol="0" anchor="t"/>
          <a:lstStyle/>
          <a:p>
            <a:pPr indent="0" marL="0">
              <a:buNone/>
            </a:pPr>
            <a:r>
              <a:rPr lang="en-US" sz="2800" b="1" dirty="0">
                <a:solidFill>
                  <a:srgbClr val="1A9C74"/>
                </a:solidFill>
                <a:latin typeface="Cambria" pitchFamily="34" charset="0"/>
                <a:ea typeface="Cambria" pitchFamily="34" charset="-122"/>
                <a:cs typeface="Cambria" pitchFamily="34" charset="-120"/>
              </a:rPr>
              <a:t>5,4 KB</a:t>
            </a:r>
            <a:endParaRPr lang="en-US" sz="2800" dirty="0"/>
          </a:p>
        </p:txBody>
      </p:sp>
      <p:sp>
        <p:nvSpPr>
          <p:cNvPr id="49" name="Text 47"/>
          <p:cNvSpPr txBox="1"/>
          <p:nvPr/>
        </p:nvSpPr>
        <p:spPr>
          <a:xfrm>
            <a:off x="8229600" y="3767328"/>
            <a:ext cx="3184855" cy="502920"/>
          </a:xfrm>
          <a:prstGeom prst="rect">
            <a:avLst/>
          </a:prstGeom>
          <a:noFill/>
          <a:ln/>
        </p:spPr>
        <p:txBody>
          <a:bodyPr wrap="square" lIns="0" tIns="0" rIns="0" bIns="0" rtlCol="0" anchor="t"/>
          <a:lstStyle/>
          <a:p>
            <a:pPr indent="0" marL="0">
              <a:buNone/>
            </a:pPr>
            <a:r>
              <a:rPr lang="en-US" sz="1200" b="1" dirty="0">
                <a:solidFill>
                  <a:srgbClr val="1F2430"/>
                </a:solidFill>
                <a:latin typeface="Calibri" pitchFamily="34" charset="0"/>
                <a:ea typeface="Calibri" pitchFamily="34" charset="-122"/>
                <a:cs typeface="Calibri" pitchFamily="34" charset="-120"/>
              </a:rPr>
              <a:t>di-prefetch saat idle</a:t>
            </a:r>
            <a:endParaRPr lang="en-US" sz="1200" dirty="0"/>
          </a:p>
          <a:p>
            <a:pPr indent="0" marL="0">
              <a:buNone/>
            </a:pPr>
            <a:r>
              <a:rPr lang="en-US" sz="1050" dirty="0">
                <a:solidFill>
                  <a:srgbClr val="5E6573"/>
                </a:solidFill>
                <a:latin typeface="Calibri" pitchFamily="34" charset="0"/>
                <a:ea typeface="Calibri" pitchFamily="34" charset="-122"/>
                <a:cs typeface="Calibri" pitchFamily="34" charset="-120"/>
              </a:rPr>
              <a:t>DaftarJudul + DetailBimbingan, ±351 ms</a:t>
            </a:r>
            <a:endParaRPr lang="en-US" sz="1200" dirty="0"/>
          </a:p>
        </p:txBody>
      </p:sp>
      <p:sp>
        <p:nvSpPr>
          <p:cNvPr id="50" name="Shape 48"/>
          <p:cNvSpPr/>
          <p:nvPr/>
        </p:nvSpPr>
        <p:spPr>
          <a:xfrm>
            <a:off x="8001000" y="4480560"/>
            <a:ext cx="3642055" cy="1188720"/>
          </a:xfrm>
          <a:prstGeom prst="roundRect">
            <a:avLst>
              <a:gd name="adj" fmla="val 4615"/>
            </a:avLst>
          </a:prstGeom>
          <a:solidFill>
            <a:srgbClr val="F3F4F7"/>
          </a:solidFill>
          <a:ln/>
        </p:spPr>
      </p:sp>
      <p:sp>
        <p:nvSpPr>
          <p:cNvPr id="51" name="Text 49"/>
          <p:cNvSpPr txBox="1"/>
          <p:nvPr/>
        </p:nvSpPr>
        <p:spPr>
          <a:xfrm>
            <a:off x="8229600" y="4590288"/>
            <a:ext cx="3184855" cy="548640"/>
          </a:xfrm>
          <a:prstGeom prst="rect">
            <a:avLst/>
          </a:prstGeom>
          <a:noFill/>
          <a:ln/>
        </p:spPr>
        <p:txBody>
          <a:bodyPr wrap="square" lIns="0" tIns="0" rIns="0" bIns="0" rtlCol="0" anchor="t"/>
          <a:lstStyle/>
          <a:p>
            <a:pPr indent="0" marL="0">
              <a:buNone/>
            </a:pPr>
            <a:r>
              <a:rPr lang="en-US" sz="2800" b="1" dirty="0">
                <a:solidFill>
                  <a:srgbClr val="8C929E"/>
                </a:solidFill>
                <a:latin typeface="Cambria" pitchFamily="34" charset="0"/>
                <a:ea typeface="Cambria" pitchFamily="34" charset="-122"/>
                <a:cs typeface="Cambria" pitchFamily="34" charset="-120"/>
              </a:rPr>
              <a:t>4,5 KB</a:t>
            </a:r>
            <a:endParaRPr lang="en-US" sz="2800" dirty="0"/>
          </a:p>
        </p:txBody>
      </p:sp>
      <p:sp>
        <p:nvSpPr>
          <p:cNvPr id="52" name="Text 50"/>
          <p:cNvSpPr txBox="1"/>
          <p:nvPr/>
        </p:nvSpPr>
        <p:spPr>
          <a:xfrm>
            <a:off x="8229600" y="5138928"/>
            <a:ext cx="3184855" cy="502920"/>
          </a:xfrm>
          <a:prstGeom prst="rect">
            <a:avLst/>
          </a:prstGeom>
          <a:noFill/>
          <a:ln/>
        </p:spPr>
        <p:txBody>
          <a:bodyPr wrap="square" lIns="0" tIns="0" rIns="0" bIns="0" rtlCol="0" anchor="t"/>
          <a:lstStyle/>
          <a:p>
            <a:pPr indent="0" marL="0">
              <a:buNone/>
            </a:pPr>
            <a:r>
              <a:rPr lang="en-US" sz="1200" b="1" dirty="0">
                <a:solidFill>
                  <a:srgbClr val="1F2430"/>
                </a:solidFill>
                <a:latin typeface="Calibri" pitchFamily="34" charset="0"/>
                <a:ea typeface="Calibri" pitchFamily="34" charset="-122"/>
                <a:cs typeface="Calibri" pitchFamily="34" charset="-120"/>
              </a:rPr>
              <a:t>tidak diunduh</a:t>
            </a:r>
            <a:endParaRPr lang="en-US" sz="1200" dirty="0"/>
          </a:p>
          <a:p>
            <a:pPr indent="0" marL="0">
              <a:buNone/>
            </a:pPr>
            <a:r>
              <a:rPr lang="en-US" sz="1050" dirty="0">
                <a:solidFill>
                  <a:srgbClr val="5E6573"/>
                </a:solidFill>
                <a:latin typeface="Calibri" pitchFamily="34" charset="0"/>
                <a:ea typeface="Calibri" pitchFamily="34" charset="-122"/>
                <a:cs typeface="Calibri" pitchFamily="34" charset="-120"/>
              </a:rPr>
              <a:t>baru dimuat bila menunya diklik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TRANSPARANSI REVISI</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Tiga temuan pada pipeline pengukuran, lalu diukur ulang</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Lampiran 2   15</a:t>
            </a:r>
            <a:endParaRPr lang="en-US" sz="900" dirty="0"/>
          </a:p>
        </p:txBody>
      </p:sp>
      <p:sp>
        <p:nvSpPr>
          <p:cNvPr id="6" name="Shape 4"/>
          <p:cNvSpPr/>
          <p:nvPr/>
        </p:nvSpPr>
        <p:spPr>
          <a:xfrm>
            <a:off x="548640" y="1645920"/>
            <a:ext cx="4023360" cy="1115568"/>
          </a:xfrm>
          <a:prstGeom prst="roundRect">
            <a:avLst>
              <a:gd name="adj" fmla="val 4918"/>
            </a:avLst>
          </a:prstGeom>
          <a:solidFill>
            <a:srgbClr val="F3F4F7"/>
          </a:solidFill>
          <a:ln/>
        </p:spPr>
      </p:sp>
      <p:sp>
        <p:nvSpPr>
          <p:cNvPr id="7" name="Shape 5"/>
          <p:cNvSpPr/>
          <p:nvPr/>
        </p:nvSpPr>
        <p:spPr>
          <a:xfrm>
            <a:off x="731520" y="1828800"/>
            <a:ext cx="329184" cy="329184"/>
          </a:xfrm>
          <a:prstGeom prst="ellipse">
            <a:avLst/>
          </a:prstGeom>
          <a:solidFill>
            <a:srgbClr val="9B1B30"/>
          </a:solidFill>
          <a:ln/>
        </p:spPr>
      </p:sp>
      <p:sp>
        <p:nvSpPr>
          <p:cNvPr id="8" name="Text 6"/>
          <p:cNvSpPr txBox="1"/>
          <p:nvPr/>
        </p:nvSpPr>
        <p:spPr>
          <a:xfrm>
            <a:off x="731520" y="1828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88720" y="1801368"/>
            <a:ext cx="3200400" cy="365760"/>
          </a:xfrm>
          <a:prstGeom prst="rect">
            <a:avLst/>
          </a:prstGeom>
          <a:noFill/>
          <a:ln/>
        </p:spPr>
        <p:txBody>
          <a:bodyPr wrap="square" lIns="0" tIns="0" rIns="0" bIns="0" rtlCol="0" anchor="t"/>
          <a:lstStyle/>
          <a:p>
            <a:pPr indent="0" marL="0">
              <a:buNone/>
            </a:pPr>
            <a:r>
              <a:rPr lang="en-US" sz="1300" b="1" dirty="0">
                <a:solidFill>
                  <a:srgbClr val="1F2430"/>
                </a:solidFill>
                <a:latin typeface="Calibri" pitchFamily="34" charset="0"/>
                <a:ea typeface="Calibri" pitchFamily="34" charset="-122"/>
                <a:cs typeface="Calibri" pitchFamily="34" charset="-120"/>
              </a:rPr>
              <a:t>Brotli tidak terbentuk</a:t>
            </a:r>
            <a:endParaRPr lang="en-US" sz="1300" dirty="0"/>
          </a:p>
        </p:txBody>
      </p:sp>
      <p:sp>
        <p:nvSpPr>
          <p:cNvPr id="10" name="Text 8"/>
          <p:cNvSpPr txBox="1"/>
          <p:nvPr/>
        </p:nvSpPr>
        <p:spPr>
          <a:xfrm>
            <a:off x="1188720" y="2148840"/>
            <a:ext cx="3200400" cy="566928"/>
          </a:xfrm>
          <a:prstGeom prst="rect">
            <a:avLst/>
          </a:prstGeom>
          <a:noFill/>
          <a:ln/>
        </p:spPr>
        <p:txBody>
          <a:bodyPr wrap="square" lIns="0" tIns="0" rIns="0" bIns="0" rtlCol="0" anchor="t"/>
          <a:lstStyle/>
          <a:p>
            <a:pPr indent="0" marL="0">
              <a:buNone/>
            </a:pPr>
            <a:r>
              <a:rPr lang="en-US" sz="1050" dirty="0">
                <a:solidFill>
                  <a:srgbClr val="1F2430"/>
                </a:solidFill>
                <a:latin typeface="Calibri" pitchFamily="34" charset="0"/>
                <a:ea typeface="Calibri" pitchFamily="34" charset="-122"/>
                <a:cs typeface="Calibri" pitchFamily="34" charset="-120"/>
              </a:rPr>
              <a:t>vite-plugin-compression dipanggil dua kali dan berbagi cache. Diganti plugin compressAssets.</a:t>
            </a:r>
            <a:endParaRPr lang="en-US" sz="1050" dirty="0"/>
          </a:p>
        </p:txBody>
      </p:sp>
      <p:sp>
        <p:nvSpPr>
          <p:cNvPr id="11" name="Shape 9"/>
          <p:cNvSpPr/>
          <p:nvPr/>
        </p:nvSpPr>
        <p:spPr>
          <a:xfrm>
            <a:off x="548640" y="2907792"/>
            <a:ext cx="4023360" cy="1115568"/>
          </a:xfrm>
          <a:prstGeom prst="roundRect">
            <a:avLst>
              <a:gd name="adj" fmla="val 4918"/>
            </a:avLst>
          </a:prstGeom>
          <a:solidFill>
            <a:srgbClr val="F3F4F7"/>
          </a:solidFill>
          <a:ln/>
        </p:spPr>
      </p:sp>
      <p:sp>
        <p:nvSpPr>
          <p:cNvPr id="12" name="Shape 10"/>
          <p:cNvSpPr/>
          <p:nvPr/>
        </p:nvSpPr>
        <p:spPr>
          <a:xfrm>
            <a:off x="731520" y="3090672"/>
            <a:ext cx="329184" cy="329184"/>
          </a:xfrm>
          <a:prstGeom prst="ellipse">
            <a:avLst/>
          </a:prstGeom>
          <a:solidFill>
            <a:srgbClr val="9B1B30"/>
          </a:solidFill>
          <a:ln/>
        </p:spPr>
      </p:sp>
      <p:sp>
        <p:nvSpPr>
          <p:cNvPr id="13" name="Text 11"/>
          <p:cNvSpPr txBox="1"/>
          <p:nvPr/>
        </p:nvSpPr>
        <p:spPr>
          <a:xfrm>
            <a:off x="731520" y="30906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188720" y="3063240"/>
            <a:ext cx="3200400" cy="365760"/>
          </a:xfrm>
          <a:prstGeom prst="rect">
            <a:avLst/>
          </a:prstGeom>
          <a:noFill/>
          <a:ln/>
        </p:spPr>
        <p:txBody>
          <a:bodyPr wrap="square" lIns="0" tIns="0" rIns="0" bIns="0" rtlCol="0" anchor="t"/>
          <a:lstStyle/>
          <a:p>
            <a:pPr indent="0" marL="0">
              <a:buNone/>
            </a:pPr>
            <a:r>
              <a:rPr lang="en-US" sz="1300" b="1" dirty="0">
                <a:solidFill>
                  <a:srgbClr val="1F2430"/>
                </a:solidFill>
                <a:latin typeface="Calibri" pitchFamily="34" charset="0"/>
                <a:ea typeface="Calibri" pitchFamily="34" charset="-122"/>
                <a:cs typeface="Calibri" pitchFamily="34" charset="-120"/>
              </a:rPr>
              <a:t>Server tidak menyajikan berkas terkompresi</a:t>
            </a:r>
            <a:endParaRPr lang="en-US" sz="1300" dirty="0"/>
          </a:p>
        </p:txBody>
      </p:sp>
      <p:sp>
        <p:nvSpPr>
          <p:cNvPr id="15" name="Text 13"/>
          <p:cNvSpPr txBox="1"/>
          <p:nvPr/>
        </p:nvSpPr>
        <p:spPr>
          <a:xfrm>
            <a:off x="1188720" y="3410712"/>
            <a:ext cx="3200400" cy="566928"/>
          </a:xfrm>
          <a:prstGeom prst="rect">
            <a:avLst/>
          </a:prstGeom>
          <a:noFill/>
          <a:ln/>
        </p:spPr>
        <p:txBody>
          <a:bodyPr wrap="square" lIns="0" tIns="0" rIns="0" bIns="0" rtlCol="0" anchor="t"/>
          <a:lstStyle/>
          <a:p>
            <a:pPr indent="0" marL="0">
              <a:buNone/>
            </a:pPr>
            <a:r>
              <a:rPr lang="en-US" sz="1050" dirty="0">
                <a:solidFill>
                  <a:srgbClr val="1F2430"/>
                </a:solidFill>
                <a:latin typeface="Calibri" pitchFamily="34" charset="0"/>
                <a:ea typeface="Calibri" pitchFamily="34" charset="-122"/>
                <a:cs typeface="Calibri" pitchFamily="34" charset="-120"/>
              </a:rPr>
              <a:t>http-server berjalan tanpa flag -g -b. Flag ditambahkan pada semua skrip.</a:t>
            </a:r>
            <a:endParaRPr lang="en-US" sz="1050" dirty="0"/>
          </a:p>
        </p:txBody>
      </p:sp>
      <p:sp>
        <p:nvSpPr>
          <p:cNvPr id="16" name="Shape 14"/>
          <p:cNvSpPr/>
          <p:nvPr/>
        </p:nvSpPr>
        <p:spPr>
          <a:xfrm>
            <a:off x="548640" y="4169664"/>
            <a:ext cx="4023360" cy="1115568"/>
          </a:xfrm>
          <a:prstGeom prst="roundRect">
            <a:avLst>
              <a:gd name="adj" fmla="val 4918"/>
            </a:avLst>
          </a:prstGeom>
          <a:solidFill>
            <a:srgbClr val="F3F4F7"/>
          </a:solidFill>
          <a:ln/>
        </p:spPr>
      </p:sp>
      <p:sp>
        <p:nvSpPr>
          <p:cNvPr id="17" name="Shape 15"/>
          <p:cNvSpPr/>
          <p:nvPr/>
        </p:nvSpPr>
        <p:spPr>
          <a:xfrm>
            <a:off x="731520" y="4352544"/>
            <a:ext cx="329184" cy="329184"/>
          </a:xfrm>
          <a:prstGeom prst="ellipse">
            <a:avLst/>
          </a:prstGeom>
          <a:solidFill>
            <a:srgbClr val="9B1B30"/>
          </a:solidFill>
          <a:ln/>
        </p:spPr>
      </p:sp>
      <p:sp>
        <p:nvSpPr>
          <p:cNvPr id="18" name="Text 16"/>
          <p:cNvSpPr txBox="1"/>
          <p:nvPr/>
        </p:nvSpPr>
        <p:spPr>
          <a:xfrm>
            <a:off x="731520" y="435254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188720" y="4325112"/>
            <a:ext cx="3200400" cy="365760"/>
          </a:xfrm>
          <a:prstGeom prst="rect">
            <a:avLst/>
          </a:prstGeom>
          <a:noFill/>
          <a:ln/>
        </p:spPr>
        <p:txBody>
          <a:bodyPr wrap="square" lIns="0" tIns="0" rIns="0" bIns="0" rtlCol="0" anchor="t"/>
          <a:lstStyle/>
          <a:p>
            <a:pPr indent="0" marL="0">
              <a:buNone/>
            </a:pPr>
            <a:r>
              <a:rPr lang="en-US" sz="1300" b="1" dirty="0">
                <a:solidFill>
                  <a:srgbClr val="1F2430"/>
                </a:solidFill>
                <a:latin typeface="Calibri" pitchFamily="34" charset="0"/>
                <a:ea typeface="Calibri" pitchFamily="34" charset="-122"/>
                <a:cs typeface="Calibri" pitchFamily="34" charset="-120"/>
              </a:rPr>
              <a:t>Lighthouse memakai Chrome sistem</a:t>
            </a:r>
            <a:endParaRPr lang="en-US" sz="1300" dirty="0"/>
          </a:p>
        </p:txBody>
      </p:sp>
      <p:sp>
        <p:nvSpPr>
          <p:cNvPr id="20" name="Text 18"/>
          <p:cNvSpPr txBox="1"/>
          <p:nvPr/>
        </p:nvSpPr>
        <p:spPr>
          <a:xfrm>
            <a:off x="1188720" y="4672584"/>
            <a:ext cx="3200400" cy="566928"/>
          </a:xfrm>
          <a:prstGeom prst="rect">
            <a:avLst/>
          </a:prstGeom>
          <a:noFill/>
          <a:ln/>
        </p:spPr>
        <p:txBody>
          <a:bodyPr wrap="square" lIns="0" tIns="0" rIns="0" bIns="0" rtlCol="0" anchor="t"/>
          <a:lstStyle/>
          <a:p>
            <a:pPr indent="0" marL="0">
              <a:buNone/>
            </a:pPr>
            <a:r>
              <a:rPr lang="en-US" sz="1050" dirty="0">
                <a:solidFill>
                  <a:srgbClr val="1F2430"/>
                </a:solidFill>
                <a:latin typeface="Calibri" pitchFamily="34" charset="0"/>
                <a:ea typeface="Calibri" pitchFamily="34" charset="-122"/>
                <a:cs typeface="Calibri" pitchFamily="34" charset="-120"/>
              </a:rPr>
              <a:t>Audit gagal karena interstitial. CHROME_PATH diarahkan ke Chrome Puppeteer.</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892040" y="1645920"/>
          <a:ext cx="6751015" cy="914400"/>
        </p:xfrm>
        <a:graphic>
          <a:graphicData uri="http://schemas.openxmlformats.org/drawingml/2006/table">
            <a:tbl>
              <a:tblPr/>
              <a:tblGrid>
                <a:gridCol w="2286000"/>
                <a:gridCol w="2194560"/>
                <a:gridCol w="2267712"/>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Metrik SIMTA</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Naskah ujian</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Naskah perbaikan</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61B26"/>
                    </a:solidFill>
                  </a:tcPr>
                </a:tc>
              </a:tr>
              <a:tr h="54864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Skor Lighthouse</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050" dirty="0">
                          <a:solidFill>
                            <a:srgbClr val="9B1B30"/>
                          </a:solidFill>
                          <a:latin typeface="Calibri" pitchFamily="34" charset="0"/>
                          <a:ea typeface="Calibri" pitchFamily="34" charset="-122"/>
                          <a:cs typeface="Calibri" pitchFamily="34" charset="-120"/>
                        </a:rPr>
                        <a:t>66,2 → 64,0 (turun)</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050" b="1" dirty="0">
                          <a:solidFill>
                            <a:srgbClr val="1A9C74"/>
                          </a:solidFill>
                          <a:latin typeface="Calibri" pitchFamily="34" charset="0"/>
                          <a:ea typeface="Calibri" pitchFamily="34" charset="-122"/>
                          <a:cs typeface="Calibri" pitchFamily="34" charset="-120"/>
                        </a:rPr>
                        <a:t>56,8 → 75,0 (+32,0%)</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4864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FCP Lighthouse</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050" dirty="0">
                          <a:solidFill>
                            <a:srgbClr val="9B1B30"/>
                          </a:solidFill>
                          <a:latin typeface="Calibri" pitchFamily="34" charset="0"/>
                          <a:ea typeface="Calibri" pitchFamily="34" charset="-122"/>
                          <a:cs typeface="Calibri" pitchFamily="34" charset="-120"/>
                        </a:rPr>
                        <a:t>5093 → 5435 ms (lebih lambat)</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050" b="1" dirty="0">
                          <a:solidFill>
                            <a:srgbClr val="1A9C74"/>
                          </a:solidFill>
                          <a:latin typeface="Calibri" pitchFamily="34" charset="0"/>
                          <a:ea typeface="Calibri" pitchFamily="34" charset="-122"/>
                          <a:cs typeface="Calibri" pitchFamily="34" charset="-120"/>
                        </a:rPr>
                        <a:t>4960 → 3250 ms (−34,5%)</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4864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LCP Lighthouse</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050" dirty="0">
                          <a:solidFill>
                            <a:srgbClr val="9B1B30"/>
                          </a:solidFill>
                          <a:latin typeface="Calibri" pitchFamily="34" charset="0"/>
                          <a:ea typeface="Calibri" pitchFamily="34" charset="-122"/>
                          <a:cs typeface="Calibri" pitchFamily="34" charset="-120"/>
                        </a:rPr>
                        <a:t>5198 → 5910 ms (lebih lambat)</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050" b="1" dirty="0">
                          <a:solidFill>
                            <a:srgbClr val="1A9C74"/>
                          </a:solidFill>
                          <a:latin typeface="Calibri" pitchFamily="34" charset="0"/>
                          <a:ea typeface="Calibri" pitchFamily="34" charset="-122"/>
                          <a:cs typeface="Calibri" pitchFamily="34" charset="-120"/>
                        </a:rPr>
                        <a:t>5228 → 3791 ms (−27,5%)</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4864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TBT, CPU 4× (PO)</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1023 → 791 ms (−22,7%)</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050" b="1" dirty="0">
                          <a:solidFill>
                            <a:srgbClr val="1A9C74"/>
                          </a:solidFill>
                          <a:latin typeface="Calibri" pitchFamily="34" charset="0"/>
                          <a:ea typeface="Calibri" pitchFamily="34" charset="-122"/>
                          <a:cs typeface="Calibri" pitchFamily="34" charset="-120"/>
                        </a:rPr>
                        <a:t>710 → 579 ms (−18,5%)</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4864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FCP Company Profile, CPU 4× (PO)</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050" dirty="0">
                          <a:solidFill>
                            <a:srgbClr val="9B1B30"/>
                          </a:solidFill>
                          <a:latin typeface="Calibri" pitchFamily="34" charset="0"/>
                          <a:ea typeface="Calibri" pitchFamily="34" charset="-122"/>
                          <a:cs typeface="Calibri" pitchFamily="34" charset="-120"/>
                        </a:rPr>
                        <a:t>memburuk 30,2%</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selisih 0,8 ms (tidak reproducible)</a:t>
                      </a:r>
                      <a:endParaRPr lang="en-US" sz="1050" dirty="0">
                        <a:latin typeface="Calibri" charset="0"/>
                        <a:ea typeface="Calibri" charset="0"/>
                        <a:cs typeface="Calibri" charset="0"/>
                      </a:endParaRPr>
                    </a:p>
                  </a:txBody>
                  <a:tcPr marL="88900" marR="88900" marT="38100" marB="381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22" name="Text 19"/>
          <p:cNvSpPr txBox="1"/>
          <p:nvPr/>
        </p:nvSpPr>
        <p:spPr>
          <a:xfrm>
            <a:off x="4892040" y="5074920"/>
            <a:ext cx="6751015" cy="548640"/>
          </a:xfrm>
          <a:prstGeom prst="rect">
            <a:avLst/>
          </a:prstGeom>
          <a:noFill/>
          <a:ln/>
        </p:spPr>
        <p:txBody>
          <a:bodyPr wrap="square" lIns="0" tIns="0" rIns="0" bIns="0" rtlCol="0" anchor="t"/>
          <a:lstStyle/>
          <a:p>
            <a:pPr indent="0" marL="0">
              <a:buNone/>
            </a:pPr>
            <a:r>
              <a:rPr lang="en-US" sz="1200" i="1" dirty="0">
                <a:solidFill>
                  <a:srgbClr val="5E6573"/>
                </a:solidFill>
                <a:latin typeface="Calibri" pitchFamily="34" charset="0"/>
                <a:ea typeface="Calibri" pitchFamily="34" charset="-122"/>
                <a:cs typeface="Calibri" pitchFamily="34" charset="-120"/>
              </a:rPr>
              <a:t>PO = PerformanceObserver. Rancangan, variabel, dan pertanyaan penelitian tidak berubah; seluruh bagian naskah yang berubah ditandai kuning.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HASIL · APLIKASI KOMPLEKS</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SIMTA: seluruh metrik membaik setelah optimasi</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Tabel 3.4, 3.6   16</a:t>
            </a:r>
            <a:endParaRPr lang="en-US" sz="900" dirty="0"/>
          </a:p>
        </p:txBody>
      </p:sp>
      <p:graphicFrame>
        <p:nvGraphicFramePr>
          <p:cNvPr id="6" name="Chart 0" descr=""/>
          <p:cNvGraphicFramePr/>
          <p:nvPr/>
        </p:nvGraphicFramePr>
        <p:xfrm>
          <a:off x="548640" y="160020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35240" y="1645920"/>
            <a:ext cx="4007815" cy="978408"/>
          </a:xfrm>
          <a:prstGeom prst="roundRect">
            <a:avLst>
              <a:gd name="adj" fmla="val 5607"/>
            </a:avLst>
          </a:prstGeom>
          <a:solidFill>
            <a:srgbClr val="F3F4F7"/>
          </a:solidFill>
          <a:ln/>
        </p:spPr>
      </p:sp>
      <p:sp>
        <p:nvSpPr>
          <p:cNvPr id="8" name="Text 5"/>
          <p:cNvSpPr txBox="1"/>
          <p:nvPr/>
        </p:nvSpPr>
        <p:spPr>
          <a:xfrm>
            <a:off x="7863840" y="1764792"/>
            <a:ext cx="2636215" cy="457200"/>
          </a:xfrm>
          <a:prstGeom prst="rect">
            <a:avLst/>
          </a:prstGeom>
          <a:noFill/>
          <a:ln/>
        </p:spPr>
        <p:txBody>
          <a:bodyPr wrap="square" lIns="0" tIns="0" rIns="0" bIns="0" rtlCol="0" anchor="t"/>
          <a:lstStyle/>
          <a:p>
            <a:pPr indent="0" marL="0">
              <a:buNone/>
            </a:pPr>
            <a:r>
              <a:rPr lang="en-US" sz="2000" b="1" dirty="0">
                <a:solidFill>
                  <a:srgbClr val="1F2430"/>
                </a:solidFill>
                <a:latin typeface="Cambria" pitchFamily="34" charset="0"/>
                <a:ea typeface="Cambria" pitchFamily="34" charset="-122"/>
                <a:cs typeface="Cambria" pitchFamily="34" charset="-120"/>
              </a:rPr>
              <a:t>56,8 → 75,0</a:t>
            </a:r>
            <a:endParaRPr lang="en-US" sz="2000" dirty="0"/>
          </a:p>
        </p:txBody>
      </p:sp>
      <p:sp>
        <p:nvSpPr>
          <p:cNvPr id="9" name="Text 6"/>
          <p:cNvSpPr txBox="1"/>
          <p:nvPr/>
        </p:nvSpPr>
        <p:spPr>
          <a:xfrm>
            <a:off x="7863840" y="2221992"/>
            <a:ext cx="3550615" cy="274320"/>
          </a:xfrm>
          <a:prstGeom prst="rect">
            <a:avLst/>
          </a:prstGeom>
          <a:noFill/>
          <a:ln/>
        </p:spPr>
        <p:txBody>
          <a:bodyPr wrap="square" lIns="0" tIns="0" rIns="0" bIns="0" rtlCol="0" anchor="t"/>
          <a:lstStyle/>
          <a:p>
            <a:pPr indent="0" marL="0">
              <a:buNone/>
            </a:pPr>
            <a:r>
              <a:rPr lang="en-US" sz="1100" dirty="0">
                <a:solidFill>
                  <a:srgbClr val="5E6573"/>
                </a:solidFill>
                <a:latin typeface="Calibri" pitchFamily="34" charset="0"/>
                <a:ea typeface="Calibri" pitchFamily="34" charset="-122"/>
                <a:cs typeface="Calibri" pitchFamily="34" charset="-120"/>
              </a:rPr>
              <a:t>Skor Lighthouse</a:t>
            </a:r>
            <a:endParaRPr lang="en-US" sz="1100" dirty="0"/>
          </a:p>
        </p:txBody>
      </p:sp>
      <p:sp>
        <p:nvSpPr>
          <p:cNvPr id="10" name="Text 7"/>
          <p:cNvSpPr txBox="1"/>
          <p:nvPr/>
        </p:nvSpPr>
        <p:spPr>
          <a:xfrm>
            <a:off x="10454335" y="1764792"/>
            <a:ext cx="1005840" cy="457200"/>
          </a:xfrm>
          <a:prstGeom prst="rect">
            <a:avLst/>
          </a:prstGeom>
          <a:noFill/>
          <a:ln/>
        </p:spPr>
        <p:txBody>
          <a:bodyPr wrap="square" lIns="0" tIns="0" rIns="0" bIns="0" rtlCol="0" anchor="t"/>
          <a:lstStyle/>
          <a:p>
            <a:pPr algn="r" indent="0" marL="0">
              <a:buNone/>
            </a:pPr>
            <a:r>
              <a:rPr lang="en-US" sz="1700" b="1" dirty="0">
                <a:solidFill>
                  <a:srgbClr val="1A9C74"/>
                </a:solidFill>
                <a:latin typeface="Calibri" pitchFamily="34" charset="0"/>
                <a:ea typeface="Calibri" pitchFamily="34" charset="-122"/>
                <a:cs typeface="Calibri" pitchFamily="34" charset="-120"/>
              </a:rPr>
              <a:t>+32,0%</a:t>
            </a:r>
            <a:endParaRPr lang="en-US" sz="1700" dirty="0"/>
          </a:p>
        </p:txBody>
      </p:sp>
      <p:sp>
        <p:nvSpPr>
          <p:cNvPr id="11" name="Shape 8"/>
          <p:cNvSpPr/>
          <p:nvPr/>
        </p:nvSpPr>
        <p:spPr>
          <a:xfrm>
            <a:off x="7635240" y="2761488"/>
            <a:ext cx="4007815" cy="978408"/>
          </a:xfrm>
          <a:prstGeom prst="roundRect">
            <a:avLst>
              <a:gd name="adj" fmla="val 5607"/>
            </a:avLst>
          </a:prstGeom>
          <a:solidFill>
            <a:srgbClr val="F3F4F7"/>
          </a:solidFill>
          <a:ln/>
        </p:spPr>
      </p:sp>
      <p:sp>
        <p:nvSpPr>
          <p:cNvPr id="12" name="Text 9"/>
          <p:cNvSpPr txBox="1"/>
          <p:nvPr/>
        </p:nvSpPr>
        <p:spPr>
          <a:xfrm>
            <a:off x="7863840" y="2880360"/>
            <a:ext cx="2636215" cy="457200"/>
          </a:xfrm>
          <a:prstGeom prst="rect">
            <a:avLst/>
          </a:prstGeom>
          <a:noFill/>
          <a:ln/>
        </p:spPr>
        <p:txBody>
          <a:bodyPr wrap="square" lIns="0" tIns="0" rIns="0" bIns="0" rtlCol="0" anchor="t"/>
          <a:lstStyle/>
          <a:p>
            <a:pPr indent="0" marL="0">
              <a:buNone/>
            </a:pPr>
            <a:r>
              <a:rPr lang="en-US" sz="2000" b="1" dirty="0">
                <a:solidFill>
                  <a:srgbClr val="1F2430"/>
                </a:solidFill>
                <a:latin typeface="Cambria" pitchFamily="34" charset="0"/>
                <a:ea typeface="Cambria" pitchFamily="34" charset="-122"/>
                <a:cs typeface="Cambria" pitchFamily="34" charset="-120"/>
              </a:rPr>
              <a:t>454,8 → 315,4 ms</a:t>
            </a:r>
            <a:endParaRPr lang="en-US" sz="2000" dirty="0"/>
          </a:p>
        </p:txBody>
      </p:sp>
      <p:sp>
        <p:nvSpPr>
          <p:cNvPr id="13" name="Text 10"/>
          <p:cNvSpPr txBox="1"/>
          <p:nvPr/>
        </p:nvSpPr>
        <p:spPr>
          <a:xfrm>
            <a:off x="7863840" y="3337560"/>
            <a:ext cx="3550615" cy="274320"/>
          </a:xfrm>
          <a:prstGeom prst="rect">
            <a:avLst/>
          </a:prstGeom>
          <a:noFill/>
          <a:ln/>
        </p:spPr>
        <p:txBody>
          <a:bodyPr wrap="square" lIns="0" tIns="0" rIns="0" bIns="0" rtlCol="0" anchor="t"/>
          <a:lstStyle/>
          <a:p>
            <a:pPr indent="0" marL="0">
              <a:buNone/>
            </a:pPr>
            <a:r>
              <a:rPr lang="en-US" sz="1100" dirty="0">
                <a:solidFill>
                  <a:srgbClr val="5E6573"/>
                </a:solidFill>
                <a:latin typeface="Calibri" pitchFamily="34" charset="0"/>
                <a:ea typeface="Calibri" pitchFamily="34" charset="-122"/>
                <a:cs typeface="Calibri" pitchFamily="34" charset="-120"/>
              </a:rPr>
              <a:t>TBT Lighthouse</a:t>
            </a:r>
            <a:endParaRPr lang="en-US" sz="1100" dirty="0"/>
          </a:p>
        </p:txBody>
      </p:sp>
      <p:sp>
        <p:nvSpPr>
          <p:cNvPr id="14" name="Text 11"/>
          <p:cNvSpPr txBox="1"/>
          <p:nvPr/>
        </p:nvSpPr>
        <p:spPr>
          <a:xfrm>
            <a:off x="10454335" y="2880360"/>
            <a:ext cx="1005840" cy="457200"/>
          </a:xfrm>
          <a:prstGeom prst="rect">
            <a:avLst/>
          </a:prstGeom>
          <a:noFill/>
          <a:ln/>
        </p:spPr>
        <p:txBody>
          <a:bodyPr wrap="square" lIns="0" tIns="0" rIns="0" bIns="0" rtlCol="0" anchor="t"/>
          <a:lstStyle/>
          <a:p>
            <a:pPr algn="r" indent="0" marL="0">
              <a:buNone/>
            </a:pPr>
            <a:r>
              <a:rPr lang="en-US" sz="1700" b="1" dirty="0">
                <a:solidFill>
                  <a:srgbClr val="1A9C74"/>
                </a:solidFill>
                <a:latin typeface="Calibri" pitchFamily="34" charset="0"/>
                <a:ea typeface="Calibri" pitchFamily="34" charset="-122"/>
                <a:cs typeface="Calibri" pitchFamily="34" charset="-120"/>
              </a:rPr>
              <a:t>−30,6%</a:t>
            </a:r>
            <a:endParaRPr lang="en-US" sz="1700" dirty="0"/>
          </a:p>
        </p:txBody>
      </p:sp>
      <p:sp>
        <p:nvSpPr>
          <p:cNvPr id="15" name="Shape 12"/>
          <p:cNvSpPr/>
          <p:nvPr/>
        </p:nvSpPr>
        <p:spPr>
          <a:xfrm>
            <a:off x="7635240" y="3877056"/>
            <a:ext cx="4007815" cy="978408"/>
          </a:xfrm>
          <a:prstGeom prst="roundRect">
            <a:avLst>
              <a:gd name="adj" fmla="val 5607"/>
            </a:avLst>
          </a:prstGeom>
          <a:solidFill>
            <a:srgbClr val="F3F4F7"/>
          </a:solidFill>
          <a:ln/>
        </p:spPr>
      </p:sp>
      <p:sp>
        <p:nvSpPr>
          <p:cNvPr id="16" name="Text 13"/>
          <p:cNvSpPr txBox="1"/>
          <p:nvPr/>
        </p:nvSpPr>
        <p:spPr>
          <a:xfrm>
            <a:off x="7863840" y="3995928"/>
            <a:ext cx="2636215" cy="457200"/>
          </a:xfrm>
          <a:prstGeom prst="rect">
            <a:avLst/>
          </a:prstGeom>
          <a:noFill/>
          <a:ln/>
        </p:spPr>
        <p:txBody>
          <a:bodyPr wrap="square" lIns="0" tIns="0" rIns="0" bIns="0" rtlCol="0" anchor="t"/>
          <a:lstStyle/>
          <a:p>
            <a:pPr indent="0" marL="0">
              <a:buNone/>
            </a:pPr>
            <a:r>
              <a:rPr lang="en-US" sz="2000" b="1" dirty="0">
                <a:solidFill>
                  <a:srgbClr val="1F2430"/>
                </a:solidFill>
                <a:latin typeface="Cambria" pitchFamily="34" charset="0"/>
                <a:ea typeface="Cambria" pitchFamily="34" charset="-122"/>
                <a:cs typeface="Cambria" pitchFamily="34" charset="-120"/>
              </a:rPr>
              <a:t>710,4 → 579,0 ms</a:t>
            </a:r>
            <a:endParaRPr lang="en-US" sz="2000" dirty="0"/>
          </a:p>
        </p:txBody>
      </p:sp>
      <p:sp>
        <p:nvSpPr>
          <p:cNvPr id="17" name="Text 14"/>
          <p:cNvSpPr txBox="1"/>
          <p:nvPr/>
        </p:nvSpPr>
        <p:spPr>
          <a:xfrm>
            <a:off x="7863840" y="4453128"/>
            <a:ext cx="3550615" cy="274320"/>
          </a:xfrm>
          <a:prstGeom prst="rect">
            <a:avLst/>
          </a:prstGeom>
          <a:noFill/>
          <a:ln/>
        </p:spPr>
        <p:txBody>
          <a:bodyPr wrap="square" lIns="0" tIns="0" rIns="0" bIns="0" rtlCol="0" anchor="t"/>
          <a:lstStyle/>
          <a:p>
            <a:pPr indent="0" marL="0">
              <a:buNone/>
            </a:pPr>
            <a:r>
              <a:rPr lang="en-US" sz="1100" dirty="0">
                <a:solidFill>
                  <a:srgbClr val="5E6573"/>
                </a:solidFill>
                <a:latin typeface="Calibri" pitchFamily="34" charset="0"/>
                <a:ea typeface="Calibri" pitchFamily="34" charset="-122"/>
                <a:cs typeface="Calibri" pitchFamily="34" charset="-120"/>
              </a:rPr>
              <a:t>TBT PerformanceObserver, CPU 4×</a:t>
            </a:r>
            <a:endParaRPr lang="en-US" sz="1100" dirty="0"/>
          </a:p>
        </p:txBody>
      </p:sp>
      <p:sp>
        <p:nvSpPr>
          <p:cNvPr id="18" name="Text 15"/>
          <p:cNvSpPr txBox="1"/>
          <p:nvPr/>
        </p:nvSpPr>
        <p:spPr>
          <a:xfrm>
            <a:off x="10454335" y="3995928"/>
            <a:ext cx="1005840" cy="457200"/>
          </a:xfrm>
          <a:prstGeom prst="rect">
            <a:avLst/>
          </a:prstGeom>
          <a:noFill/>
          <a:ln/>
        </p:spPr>
        <p:txBody>
          <a:bodyPr wrap="square" lIns="0" tIns="0" rIns="0" bIns="0" rtlCol="0" anchor="t"/>
          <a:lstStyle/>
          <a:p>
            <a:pPr algn="r" indent="0" marL="0">
              <a:buNone/>
            </a:pPr>
            <a:r>
              <a:rPr lang="en-US" sz="1700" b="1" dirty="0">
                <a:solidFill>
                  <a:srgbClr val="1A9C74"/>
                </a:solidFill>
                <a:latin typeface="Calibri" pitchFamily="34" charset="0"/>
                <a:ea typeface="Calibri" pitchFamily="34" charset="-122"/>
                <a:cs typeface="Calibri" pitchFamily="34" charset="-120"/>
              </a:rPr>
              <a:t>−18,5%</a:t>
            </a:r>
            <a:endParaRPr lang="en-US" sz="1700" dirty="0"/>
          </a:p>
        </p:txBody>
      </p:sp>
      <p:sp>
        <p:nvSpPr>
          <p:cNvPr id="19" name="Shape 16"/>
          <p:cNvSpPr/>
          <p:nvPr/>
        </p:nvSpPr>
        <p:spPr>
          <a:xfrm>
            <a:off x="7635240" y="4992624"/>
            <a:ext cx="4007815" cy="978408"/>
          </a:xfrm>
          <a:prstGeom prst="roundRect">
            <a:avLst>
              <a:gd name="adj" fmla="val 5607"/>
            </a:avLst>
          </a:prstGeom>
          <a:solidFill>
            <a:srgbClr val="FFFFFF"/>
          </a:solidFill>
          <a:ln w="12700">
            <a:solidFill>
              <a:srgbClr val="D9DCE3"/>
            </a:solidFill>
            <a:prstDash val="solid"/>
          </a:ln>
        </p:spPr>
      </p:sp>
      <p:sp>
        <p:nvSpPr>
          <p:cNvPr id="20" name="Text 17"/>
          <p:cNvSpPr txBox="1"/>
          <p:nvPr/>
        </p:nvSpPr>
        <p:spPr>
          <a:xfrm>
            <a:off x="7863840" y="5111496"/>
            <a:ext cx="2636215" cy="457200"/>
          </a:xfrm>
          <a:prstGeom prst="rect">
            <a:avLst/>
          </a:prstGeom>
          <a:noFill/>
          <a:ln/>
        </p:spPr>
        <p:txBody>
          <a:bodyPr wrap="square" lIns="0" tIns="0" rIns="0" bIns="0" rtlCol="0" anchor="t"/>
          <a:lstStyle/>
          <a:p>
            <a:pPr indent="0" marL="0">
              <a:buNone/>
            </a:pPr>
            <a:r>
              <a:rPr lang="en-US" sz="2000" b="1" dirty="0">
                <a:solidFill>
                  <a:srgbClr val="1F2430"/>
                </a:solidFill>
                <a:latin typeface="Cambria" pitchFamily="34" charset="0"/>
                <a:ea typeface="Cambria" pitchFamily="34" charset="-122"/>
                <a:cs typeface="Cambria" pitchFamily="34" charset="-120"/>
              </a:rPr>
              <a:t>+0,31 MB</a:t>
            </a:r>
            <a:endParaRPr lang="en-US" sz="2000" dirty="0"/>
          </a:p>
        </p:txBody>
      </p:sp>
      <p:sp>
        <p:nvSpPr>
          <p:cNvPr id="21" name="Text 18"/>
          <p:cNvSpPr txBox="1"/>
          <p:nvPr/>
        </p:nvSpPr>
        <p:spPr>
          <a:xfrm>
            <a:off x="7863840" y="5568696"/>
            <a:ext cx="3550615" cy="274320"/>
          </a:xfrm>
          <a:prstGeom prst="rect">
            <a:avLst/>
          </a:prstGeom>
          <a:noFill/>
          <a:ln/>
        </p:spPr>
        <p:txBody>
          <a:bodyPr wrap="square" lIns="0" tIns="0" rIns="0" bIns="0" rtlCol="0" anchor="t"/>
          <a:lstStyle/>
          <a:p>
            <a:pPr indent="0" marL="0">
              <a:buNone/>
            </a:pPr>
            <a:r>
              <a:rPr lang="en-US" sz="1100" dirty="0">
                <a:solidFill>
                  <a:srgbClr val="5E6573"/>
                </a:solidFill>
                <a:latin typeface="Calibri" pitchFamily="34" charset="0"/>
                <a:ea typeface="Calibri" pitchFamily="34" charset="-122"/>
                <a:cs typeface="Calibri" pitchFamily="34" charset="-120"/>
              </a:rPr>
              <a:t>Tambahan JS Heap (overhead kecil)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HASIL · PENGARUH KOMPLEKSITAS</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Teknik yang sama, arah hasil berlawanan</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Sub-bab 3.8, Tabel 3.6–3.8   17</a:t>
            </a:r>
            <a:endParaRPr lang="en-US" sz="900" dirty="0"/>
          </a:p>
        </p:txBody>
      </p:sp>
      <p:graphicFrame>
        <p:nvGraphicFramePr>
          <p:cNvPr id="6" name="Chart 0" descr=""/>
          <p:cNvGraphicFramePr/>
          <p:nvPr/>
        </p:nvGraphicFramePr>
        <p:xfrm>
          <a:off x="548640" y="160020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35240" y="1645920"/>
            <a:ext cx="4007815" cy="2011680"/>
          </a:xfrm>
          <a:prstGeom prst="roundRect">
            <a:avLst>
              <a:gd name="adj" fmla="val 2727"/>
            </a:avLst>
          </a:prstGeom>
          <a:solidFill>
            <a:srgbClr val="F6E7EA"/>
          </a:solidFill>
          <a:ln/>
        </p:spPr>
      </p:sp>
      <p:sp>
        <p:nvSpPr>
          <p:cNvPr id="8" name="Text 5"/>
          <p:cNvSpPr txBox="1"/>
          <p:nvPr/>
        </p:nvSpPr>
        <p:spPr>
          <a:xfrm>
            <a:off x="7863840" y="1828800"/>
            <a:ext cx="3550615" cy="365760"/>
          </a:xfrm>
          <a:prstGeom prst="rect">
            <a:avLst/>
          </a:prstGeom>
          <a:noFill/>
          <a:ln/>
        </p:spPr>
        <p:txBody>
          <a:bodyPr wrap="square" lIns="0" tIns="0" rIns="0" bIns="0" rtlCol="0" anchor="t"/>
          <a:lstStyle/>
          <a:p>
            <a:pPr indent="0" marL="0">
              <a:buNone/>
            </a:pPr>
            <a:r>
              <a:rPr lang="en-US" sz="1600" b="1" dirty="0">
                <a:solidFill>
                  <a:srgbClr val="9B1B30"/>
                </a:solidFill>
                <a:latin typeface="Calibri" pitchFamily="34" charset="0"/>
                <a:ea typeface="Calibri" pitchFamily="34" charset="-122"/>
                <a:cs typeface="Calibri" pitchFamily="34" charset="-120"/>
              </a:rPr>
              <a:t>SIMTA</a:t>
            </a:r>
            <a:endParaRPr lang="en-US" sz="1600" dirty="0"/>
          </a:p>
        </p:txBody>
      </p:sp>
      <p:sp>
        <p:nvSpPr>
          <p:cNvPr id="9" name="Text 6"/>
          <p:cNvSpPr txBox="1"/>
          <p:nvPr/>
        </p:nvSpPr>
        <p:spPr>
          <a:xfrm>
            <a:off x="7863840" y="2194560"/>
            <a:ext cx="3550615" cy="274320"/>
          </a:xfrm>
          <a:prstGeom prst="rect">
            <a:avLst/>
          </a:prstGeom>
          <a:noFill/>
          <a:ln/>
        </p:spPr>
        <p:txBody>
          <a:bodyPr wrap="square" lIns="0" tIns="0" rIns="0" bIns="0" rtlCol="0" anchor="t"/>
          <a:lstStyle/>
          <a:p>
            <a:pPr indent="0" marL="0">
              <a:buNone/>
            </a:pPr>
            <a:r>
              <a:rPr lang="en-US" sz="1100" dirty="0">
                <a:solidFill>
                  <a:srgbClr val="5E6573"/>
                </a:solidFill>
                <a:latin typeface="Calibri" pitchFamily="34" charset="0"/>
                <a:ea typeface="Calibri" pitchFamily="34" charset="-122"/>
                <a:cs typeface="Calibri" pitchFamily="34" charset="-120"/>
              </a:rPr>
              <a:t>Bundle 346 KB, Chart.js + Pinia</a:t>
            </a:r>
            <a:endParaRPr lang="en-US" sz="1100" dirty="0"/>
          </a:p>
        </p:txBody>
      </p:sp>
      <p:sp>
        <p:nvSpPr>
          <p:cNvPr id="10" name="Text 7"/>
          <p:cNvSpPr txBox="1"/>
          <p:nvPr/>
        </p:nvSpPr>
        <p:spPr>
          <a:xfrm>
            <a:off x="7863840" y="2514600"/>
            <a:ext cx="3550615" cy="105156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Beban parse yang dihemat jauh lebih besar dari biaya request tambahan. Skor Lighthouse +32,0%.</a:t>
            </a:r>
            <a:endParaRPr lang="en-US" sz="1200" dirty="0"/>
          </a:p>
        </p:txBody>
      </p:sp>
      <p:sp>
        <p:nvSpPr>
          <p:cNvPr id="11" name="Shape 8"/>
          <p:cNvSpPr/>
          <p:nvPr/>
        </p:nvSpPr>
        <p:spPr>
          <a:xfrm>
            <a:off x="7635240" y="3840480"/>
            <a:ext cx="4007815" cy="2011680"/>
          </a:xfrm>
          <a:prstGeom prst="roundRect">
            <a:avLst>
              <a:gd name="adj" fmla="val 2727"/>
            </a:avLst>
          </a:prstGeom>
          <a:solidFill>
            <a:srgbClr val="F3F4F7"/>
          </a:solidFill>
          <a:ln/>
        </p:spPr>
      </p:sp>
      <p:sp>
        <p:nvSpPr>
          <p:cNvPr id="12" name="Text 9"/>
          <p:cNvSpPr txBox="1"/>
          <p:nvPr/>
        </p:nvSpPr>
        <p:spPr>
          <a:xfrm>
            <a:off x="7863840" y="4023360"/>
            <a:ext cx="3550615" cy="365760"/>
          </a:xfrm>
          <a:prstGeom prst="rect">
            <a:avLst/>
          </a:prstGeom>
          <a:noFill/>
          <a:ln/>
        </p:spPr>
        <p:txBody>
          <a:bodyPr wrap="square" lIns="0" tIns="0" rIns="0" bIns="0" rtlCol="0" anchor="t"/>
          <a:lstStyle/>
          <a:p>
            <a:pPr indent="0" marL="0">
              <a:buNone/>
            </a:pPr>
            <a:r>
              <a:rPr lang="en-US" sz="1600" b="1" dirty="0">
                <a:solidFill>
                  <a:srgbClr val="59606E"/>
                </a:solidFill>
                <a:latin typeface="Calibri" pitchFamily="34" charset="0"/>
                <a:ea typeface="Calibri" pitchFamily="34" charset="-122"/>
                <a:cs typeface="Calibri" pitchFamily="34" charset="-120"/>
              </a:rPr>
              <a:t>Company Profile</a:t>
            </a:r>
            <a:endParaRPr lang="en-US" sz="1600" dirty="0"/>
          </a:p>
        </p:txBody>
      </p:sp>
      <p:sp>
        <p:nvSpPr>
          <p:cNvPr id="13" name="Text 10"/>
          <p:cNvSpPr txBox="1"/>
          <p:nvPr/>
        </p:nvSpPr>
        <p:spPr>
          <a:xfrm>
            <a:off x="7863840" y="4389120"/>
            <a:ext cx="3550615" cy="274320"/>
          </a:xfrm>
          <a:prstGeom prst="rect">
            <a:avLst/>
          </a:prstGeom>
          <a:noFill/>
          <a:ln/>
        </p:spPr>
        <p:txBody>
          <a:bodyPr wrap="square" lIns="0" tIns="0" rIns="0" bIns="0" rtlCol="0" anchor="t"/>
          <a:lstStyle/>
          <a:p>
            <a:pPr indent="0" marL="0">
              <a:buNone/>
            </a:pPr>
            <a:r>
              <a:rPr lang="en-US" sz="1100" dirty="0">
                <a:solidFill>
                  <a:srgbClr val="5E6573"/>
                </a:solidFill>
                <a:latin typeface="Calibri" pitchFamily="34" charset="0"/>
                <a:ea typeface="Calibri" pitchFamily="34" charset="-122"/>
                <a:cs typeface="Calibri" pitchFamily="34" charset="-120"/>
              </a:rPr>
              <a:t>Bundle kecil, tanpa pustaka berat</a:t>
            </a:r>
            <a:endParaRPr lang="en-US" sz="1100" dirty="0"/>
          </a:p>
        </p:txBody>
      </p:sp>
      <p:sp>
        <p:nvSpPr>
          <p:cNvPr id="14" name="Text 11"/>
          <p:cNvSpPr txBox="1"/>
          <p:nvPr/>
        </p:nvSpPr>
        <p:spPr>
          <a:xfrm>
            <a:off x="7863840" y="4709160"/>
            <a:ext cx="3550615" cy="105156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Tidak ada yang bisa dihemat, tetapi tiap chunk menambah request HTTP. Skor 100 → 99, FCP/LCP melambat.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9B1B30"/>
                </a:solidFill>
                <a:latin typeface="Calibri" pitchFamily="34" charset="0"/>
                <a:ea typeface="Calibri" pitchFamily="34" charset="-122"/>
                <a:cs typeface="Calibri" pitchFamily="34" charset="-120"/>
              </a:rPr>
              <a:t>PENUTUP</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1F2430"/>
                </a:solidFill>
                <a:latin typeface="Cambria" pitchFamily="34" charset="0"/>
                <a:ea typeface="Cambria" pitchFamily="34" charset="-122"/>
                <a:cs typeface="Cambria" pitchFamily="34" charset="-120"/>
              </a:rPr>
              <a:t>Kesimpulan dan rekomendasi</a:t>
            </a:r>
            <a:endParaRPr lang="en-US" sz="2800" dirty="0"/>
          </a:p>
        </p:txBody>
      </p:sp>
      <p:sp>
        <p:nvSpPr>
          <p:cNvPr id="4" name="Text 2"/>
          <p:cNvSpPr txBox="1"/>
          <p:nvPr/>
        </p:nvSpPr>
        <p:spPr>
          <a:xfrm>
            <a:off x="548640" y="6419088"/>
            <a:ext cx="6400800" cy="228600"/>
          </a:xfrm>
          <a:prstGeom prst="rect">
            <a:avLst/>
          </a:prstGeom>
          <a:noFill/>
          <a:ln/>
        </p:spPr>
        <p:txBody>
          <a:bodyPr wrap="square" lIns="0" tIns="0" rIns="0" bIns="0" rtlCol="0" anchor="t"/>
          <a:lstStyle/>
          <a:p>
            <a:pPr indent="0" marL="0">
              <a:buNone/>
            </a:pPr>
            <a:r>
              <a:rPr lang="en-US" sz="900" dirty="0">
                <a:solidFill>
                  <a:srgbClr val="5E6573"/>
                </a:solidFill>
                <a:latin typeface="Calibri" pitchFamily="34" charset="0"/>
                <a:ea typeface="Calibri" pitchFamily="34" charset="-122"/>
                <a:cs typeface="Calibri" pitchFamily="34" charset="-120"/>
              </a:rPr>
              <a:t>Mustari Muhiddin  ·  Ujian Tutup Tesis  ·  Magister Teknik Informatika Unhas</a:t>
            </a:r>
            <a:endParaRPr lang="en-US" sz="900" dirty="0"/>
          </a:p>
        </p:txBody>
      </p:sp>
      <p:sp>
        <p:nvSpPr>
          <p:cNvPr id="5" name="Text 3"/>
          <p:cNvSpPr txBox="1"/>
          <p:nvPr/>
        </p:nvSpPr>
        <p:spPr>
          <a:xfrm>
            <a:off x="7071055" y="6419088"/>
            <a:ext cx="4572000" cy="228600"/>
          </a:xfrm>
          <a:prstGeom prst="rect">
            <a:avLst/>
          </a:prstGeom>
          <a:noFill/>
          <a:ln/>
        </p:spPr>
        <p:txBody>
          <a:bodyPr wrap="square" lIns="0" tIns="0" rIns="0" bIns="0" rtlCol="0" anchor="t"/>
          <a:lstStyle/>
          <a:p>
            <a:pPr algn="r" indent="0" marL="0">
              <a:buNone/>
            </a:pPr>
            <a:r>
              <a:rPr lang="en-US" sz="900" dirty="0">
                <a:solidFill>
                  <a:srgbClr val="5E6573"/>
                </a:solidFill>
                <a:latin typeface="Calibri" pitchFamily="34" charset="0"/>
                <a:ea typeface="Calibri" pitchFamily="34" charset="-122"/>
                <a:cs typeface="Calibri" pitchFamily="34" charset="-120"/>
              </a:rPr>
              <a:t>Naskah: Bab IV   18</a:t>
            </a:r>
            <a:endParaRPr lang="en-US" sz="900" dirty="0"/>
          </a:p>
        </p:txBody>
      </p:sp>
      <p:sp>
        <p:nvSpPr>
          <p:cNvPr id="6" name="Shape 4"/>
          <p:cNvSpPr/>
          <p:nvPr/>
        </p:nvSpPr>
        <p:spPr>
          <a:xfrm>
            <a:off x="548640" y="1691640"/>
            <a:ext cx="365760" cy="365760"/>
          </a:xfrm>
          <a:prstGeom prst="ellipse">
            <a:avLst/>
          </a:prstGeom>
          <a:solidFill>
            <a:srgbClr val="9B1B30"/>
          </a:solidFill>
          <a:ln/>
        </p:spPr>
      </p:sp>
      <p:sp>
        <p:nvSpPr>
          <p:cNvPr id="7" name="Text 5"/>
          <p:cNvSpPr txBox="1"/>
          <p:nvPr/>
        </p:nvSpPr>
        <p:spPr>
          <a:xfrm>
            <a:off x="548640"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97280" y="1645920"/>
            <a:ext cx="6217920" cy="804672"/>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Code splitting + kompresi</a:t>
            </a:r>
            <a:endParaRPr lang="en-US" sz="1400" dirty="0"/>
          </a:p>
          <a:p>
            <a:pPr indent="0" marL="0">
              <a:buNone/>
            </a:pPr>
            <a:r>
              <a:rPr lang="en-US" sz="1200" dirty="0">
                <a:solidFill>
                  <a:srgbClr val="1F2430"/>
                </a:solidFill>
                <a:latin typeface="Calibri" pitchFamily="34" charset="0"/>
                <a:ea typeface="Calibri" pitchFamily="34" charset="-122"/>
                <a:cs typeface="Calibri" pitchFamily="34" charset="-120"/>
              </a:rPr>
              <a:t>memecah bundle 346 KB SIMTA; manfaat dari unduhan paralel, cache vendor terpisah, dan transfer lebih kecil.</a:t>
            </a:r>
            <a:endParaRPr lang="en-US" sz="1400" dirty="0"/>
          </a:p>
        </p:txBody>
      </p:sp>
      <p:sp>
        <p:nvSpPr>
          <p:cNvPr id="9" name="Shape 7"/>
          <p:cNvSpPr/>
          <p:nvPr/>
        </p:nvSpPr>
        <p:spPr>
          <a:xfrm>
            <a:off x="548640" y="2569464"/>
            <a:ext cx="365760" cy="365760"/>
          </a:xfrm>
          <a:prstGeom prst="ellipse">
            <a:avLst/>
          </a:prstGeom>
          <a:solidFill>
            <a:srgbClr val="9B1B30"/>
          </a:solidFill>
          <a:ln/>
        </p:spPr>
      </p:sp>
      <p:sp>
        <p:nvSpPr>
          <p:cNvPr id="10" name="Text 8"/>
          <p:cNvSpPr txBox="1"/>
          <p:nvPr/>
        </p:nvSpPr>
        <p:spPr>
          <a:xfrm>
            <a:off x="548640" y="25694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97280" y="2523744"/>
            <a:ext cx="6217920" cy="804672"/>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Seluruh metrik SIMTA membaik</a:t>
            </a:r>
            <a:endParaRPr lang="en-US" sz="1400" dirty="0"/>
          </a:p>
          <a:p>
            <a:pPr indent="0" marL="0">
              <a:buNone/>
            </a:pPr>
            <a:r>
              <a:rPr lang="en-US" sz="1200" dirty="0">
                <a:solidFill>
                  <a:srgbClr val="1F2430"/>
                </a:solidFill>
                <a:latin typeface="Calibri" pitchFamily="34" charset="0"/>
                <a:ea typeface="Calibri" pitchFamily="34" charset="-122"/>
                <a:cs typeface="Calibri" pitchFamily="34" charset="-120"/>
              </a:rPr>
              <a:t>skor Lighthouse +32,0%, FCP −34,5%, LCP −27,5%, TBT −30,6%.</a:t>
            </a:r>
            <a:endParaRPr lang="en-US" sz="1400" dirty="0"/>
          </a:p>
        </p:txBody>
      </p:sp>
      <p:sp>
        <p:nvSpPr>
          <p:cNvPr id="12" name="Shape 10"/>
          <p:cNvSpPr/>
          <p:nvPr/>
        </p:nvSpPr>
        <p:spPr>
          <a:xfrm>
            <a:off x="548640" y="3447288"/>
            <a:ext cx="365760" cy="365760"/>
          </a:xfrm>
          <a:prstGeom prst="ellipse">
            <a:avLst/>
          </a:prstGeom>
          <a:solidFill>
            <a:srgbClr val="9B1B30"/>
          </a:solidFill>
          <a:ln/>
        </p:spPr>
      </p:sp>
      <p:sp>
        <p:nvSpPr>
          <p:cNvPr id="13" name="Text 11"/>
          <p:cNvSpPr txBox="1"/>
          <p:nvPr/>
        </p:nvSpPr>
        <p:spPr>
          <a:xfrm>
            <a:off x="548640" y="34472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97280" y="3401568"/>
            <a:ext cx="6217920" cy="804672"/>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Manfaat terbesar di perangkat lemah</a:t>
            </a:r>
            <a:endParaRPr lang="en-US" sz="1400" dirty="0"/>
          </a:p>
          <a:p>
            <a:pPr indent="0" marL="0">
              <a:buNone/>
            </a:pPr>
            <a:r>
              <a:rPr lang="en-US" sz="1200" dirty="0">
                <a:solidFill>
                  <a:srgbClr val="1F2430"/>
                </a:solidFill>
                <a:latin typeface="Calibri" pitchFamily="34" charset="0"/>
                <a:ea typeface="Calibri" pitchFamily="34" charset="-122"/>
                <a:cs typeface="Calibri" pitchFamily="34" charset="-120"/>
              </a:rPr>
              <a:t>TBT CPU 4× turun dari 710,4 ke 579,0 ms (−18,5%).</a:t>
            </a:r>
            <a:endParaRPr lang="en-US" sz="1400" dirty="0"/>
          </a:p>
        </p:txBody>
      </p:sp>
      <p:sp>
        <p:nvSpPr>
          <p:cNvPr id="15" name="Shape 13"/>
          <p:cNvSpPr/>
          <p:nvPr/>
        </p:nvSpPr>
        <p:spPr>
          <a:xfrm>
            <a:off x="548640" y="4325112"/>
            <a:ext cx="365760" cy="365760"/>
          </a:xfrm>
          <a:prstGeom prst="ellipse">
            <a:avLst/>
          </a:prstGeom>
          <a:solidFill>
            <a:srgbClr val="9B1B30"/>
          </a:solidFill>
          <a:ln/>
        </p:spPr>
      </p:sp>
      <p:sp>
        <p:nvSpPr>
          <p:cNvPr id="16" name="Text 14"/>
          <p:cNvSpPr txBox="1"/>
          <p:nvPr/>
        </p:nvSpPr>
        <p:spPr>
          <a:xfrm>
            <a:off x="548640" y="4325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097280" y="4279392"/>
            <a:ext cx="6217920" cy="804672"/>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Prefetching diperlukan</a:t>
            </a:r>
            <a:endParaRPr lang="en-US" sz="1400" dirty="0"/>
          </a:p>
          <a:p>
            <a:pPr indent="0" marL="0">
              <a:buNone/>
            </a:pPr>
            <a:r>
              <a:rPr lang="en-US" sz="1200" dirty="0">
                <a:solidFill>
                  <a:srgbClr val="1F2430"/>
                </a:solidFill>
                <a:latin typeface="Calibri" pitchFamily="34" charset="0"/>
                <a:ea typeface="Calibri" pitchFamily="34" charset="-122"/>
                <a:cs typeface="Calibri" pitchFamily="34" charset="-120"/>
              </a:rPr>
              <a:t>untuk menutup jeda navigasi bawaan lazy loading, dengan biaya 5,4 KB.</a:t>
            </a:r>
            <a:endParaRPr lang="en-US" sz="1400" dirty="0"/>
          </a:p>
        </p:txBody>
      </p:sp>
      <p:sp>
        <p:nvSpPr>
          <p:cNvPr id="18" name="Shape 16"/>
          <p:cNvSpPr/>
          <p:nvPr/>
        </p:nvSpPr>
        <p:spPr>
          <a:xfrm>
            <a:off x="548640" y="5202936"/>
            <a:ext cx="365760" cy="365760"/>
          </a:xfrm>
          <a:prstGeom prst="ellipse">
            <a:avLst/>
          </a:prstGeom>
          <a:solidFill>
            <a:srgbClr val="9B1B30"/>
          </a:solidFill>
          <a:ln/>
        </p:spPr>
      </p:sp>
      <p:sp>
        <p:nvSpPr>
          <p:cNvPr id="19" name="Text 17"/>
          <p:cNvSpPr txBox="1"/>
          <p:nvPr/>
        </p:nvSpPr>
        <p:spPr>
          <a:xfrm>
            <a:off x="548640" y="52029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097280" y="5157216"/>
            <a:ext cx="6217920" cy="804672"/>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Tidak cocok untuk semua aplikasi</a:t>
            </a:r>
            <a:endParaRPr lang="en-US" sz="1400" dirty="0"/>
          </a:p>
          <a:p>
            <a:pPr indent="0" marL="0">
              <a:buNone/>
            </a:pPr>
            <a:r>
              <a:rPr lang="en-US" sz="1200" dirty="0">
                <a:solidFill>
                  <a:srgbClr val="1F2430"/>
                </a:solidFill>
                <a:latin typeface="Calibri" pitchFamily="34" charset="0"/>
                <a:ea typeface="Calibri" pitchFamily="34" charset="-122"/>
                <a:cs typeface="Calibri" pitchFamily="34" charset="-120"/>
              </a:rPr>
              <a:t>pada Company Profile FCP/LCP melambat sekitar 16% dan 18%.</a:t>
            </a:r>
            <a:endParaRPr lang="en-US" sz="1400" dirty="0"/>
          </a:p>
        </p:txBody>
      </p:sp>
      <p:sp>
        <p:nvSpPr>
          <p:cNvPr id="21" name="Shape 19"/>
          <p:cNvSpPr/>
          <p:nvPr/>
        </p:nvSpPr>
        <p:spPr>
          <a:xfrm>
            <a:off x="7635240" y="1645920"/>
            <a:ext cx="4007815" cy="4434840"/>
          </a:xfrm>
          <a:prstGeom prst="roundRect">
            <a:avLst>
              <a:gd name="adj" fmla="val 1369"/>
            </a:avLst>
          </a:prstGeom>
          <a:solidFill>
            <a:srgbClr val="161B26"/>
          </a:solidFill>
          <a:ln/>
        </p:spPr>
      </p:sp>
      <p:sp>
        <p:nvSpPr>
          <p:cNvPr id="22" name="Text 20"/>
          <p:cNvSpPr txBox="1"/>
          <p:nvPr/>
        </p:nvSpPr>
        <p:spPr>
          <a:xfrm>
            <a:off x="7909560" y="1874520"/>
            <a:ext cx="3459175" cy="228600"/>
          </a:xfrm>
          <a:prstGeom prst="rect">
            <a:avLst/>
          </a:prstGeom>
          <a:noFill/>
          <a:ln/>
        </p:spPr>
        <p:txBody>
          <a:bodyPr wrap="square" lIns="0" tIns="0" rIns="0" bIns="0" rtlCol="0" anchor="t"/>
          <a:lstStyle/>
          <a:p>
            <a:pPr indent="0" marL="0">
              <a:buNone/>
            </a:pPr>
            <a:r>
              <a:rPr lang="en-US" sz="1050" b="1" spc="150" kern="0" dirty="0">
                <a:solidFill>
                  <a:srgbClr val="E9B949"/>
                </a:solidFill>
                <a:latin typeface="Calibri" pitchFamily="34" charset="0"/>
                <a:ea typeface="Calibri" pitchFamily="34" charset="-122"/>
                <a:cs typeface="Calibri" pitchFamily="34" charset="-120"/>
              </a:rPr>
              <a:t>REKOMENDASI PENERAPAN</a:t>
            </a:r>
            <a:endParaRPr lang="en-US" sz="1050" dirty="0"/>
          </a:p>
        </p:txBody>
      </p:sp>
      <p:sp>
        <p:nvSpPr>
          <p:cNvPr id="23" name="Text 21"/>
          <p:cNvSpPr txBox="1"/>
          <p:nvPr/>
        </p:nvSpPr>
        <p:spPr>
          <a:xfrm>
            <a:off x="7909560" y="2240280"/>
            <a:ext cx="3459175"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Pecah bundle bila:</a:t>
            </a:r>
            <a:endParaRPr lang="en-US" sz="1500" dirty="0"/>
          </a:p>
        </p:txBody>
      </p:sp>
      <p:sp>
        <p:nvSpPr>
          <p:cNvPr id="24" name="Text 22"/>
          <p:cNvSpPr txBox="1"/>
          <p:nvPr/>
        </p:nvSpPr>
        <p:spPr>
          <a:xfrm>
            <a:off x="7909560" y="2606040"/>
            <a:ext cx="3459175" cy="1005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E6E8EE"/>
                </a:solidFill>
                <a:latin typeface="Calibri" pitchFamily="34" charset="0"/>
                <a:ea typeface="Calibri" pitchFamily="34" charset="-122"/>
                <a:cs typeface="Calibri" pitchFamily="34" charset="-120"/>
              </a:rPr>
              <a:t>bundle awal &gt; 200 KB terkompresi</a:t>
            </a:r>
            <a:endParaRPr lang="en-US" sz="1300" dirty="0"/>
          </a:p>
          <a:p>
            <a:pPr marL="342900" indent="-342900">
              <a:spcAft>
                <a:spcPts val="400"/>
              </a:spcAft>
              <a:buSzPct val="100000"/>
              <a:buChar char="•"/>
            </a:pPr>
            <a:r>
              <a:rPr lang="en-US" sz="1300" dirty="0">
                <a:solidFill>
                  <a:srgbClr val="E6E8EE"/>
                </a:solidFill>
                <a:latin typeface="Calibri" pitchFamily="34" charset="0"/>
                <a:ea typeface="Calibri" pitchFamily="34" charset="-122"/>
                <a:cs typeface="Calibri" pitchFamily="34" charset="-120"/>
              </a:rPr>
              <a:t>ada pustaka berat yang tidak dipakai di halaman pertama</a:t>
            </a:r>
            <a:endParaRPr lang="en-US" sz="1300" dirty="0"/>
          </a:p>
        </p:txBody>
      </p:sp>
      <p:sp>
        <p:nvSpPr>
          <p:cNvPr id="25" name="Text 23"/>
          <p:cNvSpPr txBox="1"/>
          <p:nvPr/>
        </p:nvSpPr>
        <p:spPr>
          <a:xfrm>
            <a:off x="7909560" y="3703320"/>
            <a:ext cx="3459175"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Lengkapi dengan:</a:t>
            </a:r>
            <a:endParaRPr lang="en-US" sz="1500" dirty="0"/>
          </a:p>
        </p:txBody>
      </p:sp>
      <p:sp>
        <p:nvSpPr>
          <p:cNvPr id="26" name="Text 24"/>
          <p:cNvSpPr txBox="1"/>
          <p:nvPr/>
        </p:nvSpPr>
        <p:spPr>
          <a:xfrm>
            <a:off x="7909560" y="4041648"/>
            <a:ext cx="3459175" cy="548640"/>
          </a:xfrm>
          <a:prstGeom prst="rect">
            <a:avLst/>
          </a:prstGeom>
          <a:noFill/>
          <a:ln/>
        </p:spPr>
        <p:txBody>
          <a:bodyPr wrap="square" lIns="0" tIns="0" rIns="0" bIns="0" rtlCol="0" anchor="t"/>
          <a:lstStyle/>
          <a:p>
            <a:pPr indent="0" marL="0">
              <a:buNone/>
            </a:pPr>
            <a:r>
              <a:rPr lang="en-US" sz="1300" dirty="0">
                <a:solidFill>
                  <a:srgbClr val="E6E8EE"/>
                </a:solidFill>
                <a:latin typeface="Calibri" pitchFamily="34" charset="0"/>
                <a:ea typeface="Calibri" pitchFamily="34" charset="-122"/>
                <a:cs typeface="Calibri" pitchFamily="34" charset="-120"/>
              </a:rPr>
              <a:t>prefetch selektif untuk rute yang paling sering dituju.</a:t>
            </a:r>
            <a:endParaRPr lang="en-US" sz="1300" dirty="0"/>
          </a:p>
        </p:txBody>
      </p:sp>
      <p:sp>
        <p:nvSpPr>
          <p:cNvPr id="27" name="Text 25"/>
          <p:cNvSpPr txBox="1"/>
          <p:nvPr/>
        </p:nvSpPr>
        <p:spPr>
          <a:xfrm>
            <a:off x="7909560" y="4709160"/>
            <a:ext cx="3459175"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Aplikasi sederhana:</a:t>
            </a:r>
            <a:endParaRPr lang="en-US" sz="1500" dirty="0"/>
          </a:p>
        </p:txBody>
      </p:sp>
      <p:sp>
        <p:nvSpPr>
          <p:cNvPr id="28" name="Text 26"/>
          <p:cNvSpPr txBox="1"/>
          <p:nvPr/>
        </p:nvSpPr>
        <p:spPr>
          <a:xfrm>
            <a:off x="7909560" y="5047488"/>
            <a:ext cx="3459175" cy="548640"/>
          </a:xfrm>
          <a:prstGeom prst="rect">
            <a:avLst/>
          </a:prstGeom>
          <a:noFill/>
          <a:ln/>
        </p:spPr>
        <p:txBody>
          <a:bodyPr wrap="square" lIns="0" tIns="0" rIns="0" bIns="0" rtlCol="0" anchor="t"/>
          <a:lstStyle/>
          <a:p>
            <a:pPr indent="0" marL="0">
              <a:buNone/>
            </a:pPr>
            <a:r>
              <a:rPr lang="en-US" sz="1300" dirty="0">
                <a:solidFill>
                  <a:srgbClr val="E6E8EE"/>
                </a:solidFill>
                <a:latin typeface="Calibri" pitchFamily="34" charset="0"/>
                <a:ea typeface="Calibri" pitchFamily="34" charset="-122"/>
                <a:cs typeface="Calibri" pitchFamily="34" charset="-120"/>
              </a:rPr>
              <a:t>cukup satu bundle; pemecahan justru menambah request.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548640" y="2011680"/>
            <a:ext cx="8229600" cy="100584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Terima kasih</a:t>
            </a:r>
            <a:endParaRPr lang="en-US" sz="4800" dirty="0"/>
          </a:p>
        </p:txBody>
      </p:sp>
      <p:sp>
        <p:nvSpPr>
          <p:cNvPr id="3" name="Text 1"/>
          <p:cNvSpPr txBox="1"/>
          <p:nvPr/>
        </p:nvSpPr>
        <p:spPr>
          <a:xfrm>
            <a:off x="548640" y="3154680"/>
            <a:ext cx="7498080" cy="914400"/>
          </a:xfrm>
          <a:prstGeom prst="rect">
            <a:avLst/>
          </a:prstGeom>
          <a:noFill/>
          <a:ln/>
        </p:spPr>
        <p:txBody>
          <a:bodyPr wrap="square" lIns="0" tIns="0" rIns="0" bIns="0" rtlCol="0" anchor="t"/>
          <a:lstStyle/>
          <a:p>
            <a:pPr indent="0" marL="0">
              <a:buNone/>
            </a:pPr>
            <a:r>
              <a:rPr lang="en-US" sz="1600" dirty="0">
                <a:solidFill>
                  <a:srgbClr val="C9CED8"/>
                </a:solidFill>
                <a:latin typeface="Calibri" pitchFamily="34" charset="0"/>
                <a:ea typeface="Calibri" pitchFamily="34" charset="-122"/>
                <a:cs typeface="Calibri" pitchFamily="34" charset="-120"/>
              </a:rPr>
              <a:t>Seluruh catatan dewan penguji telah ditindaklanjuti dalam naskah perbaikan. Bagian yang berubah ditandai kuning dan dirangkum pada Lampiran 2.</a:t>
            </a:r>
            <a:endParaRPr lang="en-US" sz="1600" dirty="0"/>
          </a:p>
        </p:txBody>
      </p:sp>
      <p:sp>
        <p:nvSpPr>
          <p:cNvPr id="4" name="Text 2"/>
          <p:cNvSpPr txBox="1"/>
          <p:nvPr/>
        </p:nvSpPr>
        <p:spPr>
          <a:xfrm>
            <a:off x="548640" y="5120640"/>
            <a:ext cx="8229600" cy="6400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Mustari Muhiddin</a:t>
            </a:r>
            <a:endParaRPr lang="en-US" sz="1300" dirty="0"/>
          </a:p>
          <a:p>
            <a:pPr indent="0" marL="0">
              <a:buNone/>
            </a:pPr>
            <a:r>
              <a:rPr lang="en-US" sz="1300" dirty="0">
                <a:solidFill>
                  <a:srgbClr val="A7AEBB"/>
                </a:solidFill>
                <a:latin typeface="Calibri" pitchFamily="34" charset="0"/>
                <a:ea typeface="Calibri" pitchFamily="34" charset="-122"/>
                <a:cs typeface="Calibri" pitchFamily="34" charset="-120"/>
              </a:rPr>
              <a:t>NIM D082241013 · Magister Teknik Informatika · Universitas Hasanuddin</a:t>
            </a:r>
            <a:endParaRPr lang="en-US" sz="1300" dirty="0"/>
          </a:p>
        </p:txBody>
      </p:sp>
      <p:sp>
        <p:nvSpPr>
          <p:cNvPr id="5" name="Shape 3"/>
          <p:cNvSpPr/>
          <p:nvPr/>
        </p:nvSpPr>
        <p:spPr>
          <a:xfrm>
            <a:off x="9509760" y="2103120"/>
            <a:ext cx="1463040" cy="914400"/>
          </a:xfrm>
          <a:prstGeom prst="roundRect">
            <a:avLst>
              <a:gd name="adj" fmla="val 4000"/>
            </a:avLst>
          </a:prstGeom>
          <a:solidFill>
            <a:srgbClr val="D9622B"/>
          </a:solidFill>
          <a:ln/>
        </p:spPr>
      </p:sp>
      <p:sp>
        <p:nvSpPr>
          <p:cNvPr id="6" name="Shape 4"/>
          <p:cNvSpPr/>
          <p:nvPr/>
        </p:nvSpPr>
        <p:spPr>
          <a:xfrm>
            <a:off x="9509760" y="3108960"/>
            <a:ext cx="1463040" cy="548640"/>
          </a:xfrm>
          <a:prstGeom prst="roundRect">
            <a:avLst>
              <a:gd name="adj" fmla="val 6667"/>
            </a:avLst>
          </a:prstGeom>
          <a:solidFill>
            <a:srgbClr val="D9622B"/>
          </a:solidFill>
          <a:ln/>
        </p:spPr>
      </p:sp>
      <p:sp>
        <p:nvSpPr>
          <p:cNvPr id="7" name="Shape 5"/>
          <p:cNvSpPr/>
          <p:nvPr/>
        </p:nvSpPr>
        <p:spPr>
          <a:xfrm>
            <a:off x="9509760" y="3749040"/>
            <a:ext cx="1463040" cy="228600"/>
          </a:xfrm>
          <a:prstGeom prst="roundRect">
            <a:avLst>
              <a:gd name="adj" fmla="val 16000"/>
            </a:avLst>
          </a:prstGeom>
          <a:solidFill>
            <a:srgbClr val="1A9C74"/>
          </a:solidFill>
          <a:ln/>
        </p:spPr>
      </p:sp>
      <p:sp>
        <p:nvSpPr>
          <p:cNvPr id="8" name="Shape 6"/>
          <p:cNvSpPr/>
          <p:nvPr/>
        </p:nvSpPr>
        <p:spPr>
          <a:xfrm>
            <a:off x="9509760" y="4069080"/>
            <a:ext cx="1463040" cy="228600"/>
          </a:xfrm>
          <a:prstGeom prst="roundRect">
            <a:avLst>
              <a:gd name="adj" fmla="val 16000"/>
            </a:avLst>
          </a:prstGeom>
          <a:solidFill>
            <a:srgbClr val="1A9C74"/>
          </a:solidFill>
          <a:ln/>
        </p:spPr>
      </p:sp>
      <p:sp>
        <p:nvSpPr>
          <p:cNvPr id="9" name="Shape 7"/>
          <p:cNvSpPr/>
          <p:nvPr/>
        </p:nvSpPr>
        <p:spPr>
          <a:xfrm>
            <a:off x="9509760" y="4389120"/>
            <a:ext cx="1463040" cy="228600"/>
          </a:xfrm>
          <a:prstGeom prst="roundRect">
            <a:avLst>
              <a:gd name="adj" fmla="val 16000"/>
            </a:avLst>
          </a:prstGeom>
          <a:solidFill>
            <a:srgbClr val="59606E"/>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Ujian Tutup Tesis - Mustari Muhiddin</dc:title>
  <dc:subject>PptxGenJS Presentation</dc:subject>
  <dc:creator>Mustari Muhiddin</dc:creator>
  <cp:lastModifiedBy>Mustari Muhiddin</cp:lastModifiedBy>
  <cp:revision>1</cp:revision>
  <dcterms:created xsi:type="dcterms:W3CDTF">2026-09-26T08:59:11Z</dcterms:created>
  <dcterms:modified xsi:type="dcterms:W3CDTF">2026-09-26T08:59:11Z</dcterms:modified>
</cp:coreProperties>
</file>